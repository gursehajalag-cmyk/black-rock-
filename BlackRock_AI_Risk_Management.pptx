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6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1498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project team. State the project title, the company under study (BlackRock), and the core business question: how AI/ML can enhance portfolio risk management and investment decision support while maintaining accuracy, transparency and human oversight. Briefly preview the structure of the presentation (company overview, business problem, proposed AI/ML solution, impact, risks and responsible AI, and reflection). Key points: (1) topic and company, (2) the core business question, (3) presentation roadmap. Transition: hand off to the next presenter for the company and industry overview.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BlackRock is: the world's largest asset manager, its client base, and why technology and data underpin its investment and risk process. Describe the asset-management industry context — growing portfolio complexity and the need for continuous risk monitoring. Introduce Aladdin as BlackRock's documented investment and risk platform, emphasizing only publicly confirmed capabilities. Key points: (1) who BlackRock is and who it serves, (2) why the industry needs strong analytics, (3) Aladdin's documented role. Transition: hand off to the next presenter to introduce the business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core business problem as an opportunity, not a criticism of BlackRock's existing systems. Walk through why portfolio complexity, data volume and interconnected risk factors make faster risk intelligence valuable. Emphasize the key message: Aladdin already provides strong analytics, and this project explores a proposed enhancement layer. Key points: (1) the business problem statement, (2) contributing factors, (3) the framing as an opportunity, not a flaw. Transition: hand off to the next presenter to cover the data required for the proposed solution.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categories of data the proposed solution would require: portfolio, market, risk, macroeconomic, unstructured and historical data. Emphasize the data-quality chain — accuracy, completeness, timeliness, consistency, security and lineage — and note that sensitive client and portfolio data demands strong governance and access controls. Key points: (1) the six data categories, (2) the data-quality requirements, (3) governance and security considerations. Transition: hand off to the next presenter to introduce the proposed AI/ML solution.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proposed AI-enhanced portfolio risk intelligence system, clearly labeled as an academic proposal rather than a confirmed BlackRock system. Walk through the four components — machine learning, NLP/generative AI, the existing analytics layer, and human expertise — then trace the proposed architecture from data ingestion through to a human-reviewed investment or risk decision. Key points: (1) it is clearly labeled as proposed, (2) the four AI/ML components, (3) the end-to-end proposed architecture. Transition: hand off to the next presenter to walk through how the solution works step by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eight-step flow: data collection, data processing, feature and risk engineering, ML analysis, scenario analysis, AI explanation, human review, and finally the decision. Emphasize that every step feeds the next and that a human always reviews the AI output before any action is taken. Key points: (1) the eight-step pipeline, (2) where ML and generative AI add value, (3) the core principle that AI supports rather than replaces the decision-maker. Transition: hand off to the next presenter to cover the expected business impact.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expected benefits across four dimensions: operational, risk-management, decision-support, and client/business benefits. Stress that these are expected or proposed outcomes, not documented BlackRock results, and that no invented percentages or dollar figures are used. Key points: (1) the four benefit categories, (2) the capability-to-benefit logic chain, (3) the explicit labeling as expected/proposed. Transition: hand off to the next presenter to cover risks, ethics and responsible AI.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risk-impact-mitigation matrix: data privacy, model bias, AI hallucination, explainability, overreliance on AI, and cybersecurity, each with its mitigation approach. Close by highlighting the five responsible-AI principles the project commits to: privacy, fairness, transparency, accountability and human oversight. Key points: (1) the six risk areas, (2) representative mitigations for each, (3) the five responsible-AI principles. Transition: hand off to the next presenter to explain how AI tools were used in building this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honestly, which AI tools the team actually used across research, prompt engineering, content generation, fact verification and presentation design. Walk through the three example prompts used for research, the AI/ML solution design, and the responsible-AI risk analysis. Key points: (1) the categories of AI tool use, (2) example prompts and their purpose, (3) that only genuinely-used tools are listed. Transition: hand off to the next presenter to show how the prompts were improved and evaluated.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basic starting prompt and its weaknesses, then the improved prompt and what was added: role, context, constraints, source requirements and output structure. Walk through the before/after comparison table. Close with the key learning: better prompt engineering produced more focused, better-sourced output, but AI-generated content still required human verification. Key points: (1) the basic vs improved prompt, (2) the six-point comparison, (3) the verification learning. Transition: hand off to the final presenter for recommendations, conclusion and the learning reflection.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five recommendations: AI as decision support rather than autonomous decision-maker, human-in-the-loop review, strict data governance, continuous model monitoring, and explainable AI outputs. Deliver the conclusion, tying together BlackRock's data-intensive environment, the Aladdin foundation, and the proposed enhancement. Close with the final message that AI is meant to help professionals, not replace them. Key points: (1) the five recommendations, (2) the conclusion summary, (3) the final takeaway message. Transition: hand off to the final presenter for the learning reflection, references and GitHub repositories.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with three parts. First, share the team's learning reflection: how AI/ML connects to real financial problems, why governance and human oversight matter, and how prompt engineering improved the research — including one real example of an AI claim the team verified against an official source. Second, present the key references used, prioritizing BlackRock's own website, Aladdin materials and annual reports. Third, share each team member's GitHub repository, noting the 11-vs-10 roster discrepancy to be resolved before final submission. Key points: (1) the three key learnings, (2) top references, (3) GitHub repositories and the roster flag.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hyperlink" Target="https://github.com/athravchauhan33-blip" TargetMode="External"/><Relationship Id="rId13" Type="http://schemas.openxmlformats.org/officeDocument/2006/relationships/hyperlink" Target="https://github.com/aroraakshay190-del" TargetMode="External"/><Relationship Id="rId3" Type="http://schemas.openxmlformats.org/officeDocument/2006/relationships/hyperlink" Target="https://github.com/chanpreetsingh097" TargetMode="External"/><Relationship Id="rId7" Type="http://schemas.openxmlformats.org/officeDocument/2006/relationships/hyperlink" Target="https://github.com/abhay2505bbafai25-cpu" TargetMode="External"/><Relationship Id="rId12" Type="http://schemas.openxmlformats.org/officeDocument/2006/relationships/hyperlink" Target="https://github.com/Husanbir13"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github.com/gursehajalag-cmyk" TargetMode="External"/><Relationship Id="rId11" Type="http://schemas.openxmlformats.org/officeDocument/2006/relationships/hyperlink" Target="https://github.com/harshits7118-dot" TargetMode="External"/><Relationship Id="rId5" Type="http://schemas.openxmlformats.org/officeDocument/2006/relationships/hyperlink" Target="https://github.com/Devansh5203" TargetMode="External"/><Relationship Id="rId10" Type="http://schemas.openxmlformats.org/officeDocument/2006/relationships/hyperlink" Target="https://github.com/sudo2233-hub" TargetMode="External"/><Relationship Id="rId4" Type="http://schemas.openxmlformats.org/officeDocument/2006/relationships/hyperlink" Target="https://github.com/akshit2522bbafai25-stack" TargetMode="External"/><Relationship Id="rId9" Type="http://schemas.openxmlformats.org/officeDocument/2006/relationships/hyperlink" Target="https://github.com/dushantwadhwa084-bee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33"/>
        </a:solidFill>
        <a:effectLst/>
      </p:bgPr>
    </p:bg>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ln w="15875">
            <a:solidFill>
              <a:srgbClr val="C9A24B"/>
            </a:solidFill>
            <a:prstDash val="solid"/>
          </a:ln>
        </p:spPr>
      </p:sp>
      <p:sp>
        <p:nvSpPr>
          <p:cNvPr id="3" name="Shape 1"/>
          <p:cNvSpPr/>
          <p:nvPr/>
        </p:nvSpPr>
        <p:spPr>
          <a:xfrm>
            <a:off x="10561320" y="-868680"/>
            <a:ext cx="2651760" cy="2651760"/>
          </a:xfrm>
          <a:prstGeom prst="ellipse">
            <a:avLst/>
          </a:prstGeom>
          <a:ln w="12700">
            <a:solidFill>
              <a:srgbClr val="3B4470"/>
            </a:solidFill>
            <a:prstDash val="solid"/>
          </a:ln>
        </p:spPr>
      </p:sp>
      <p:sp>
        <p:nvSpPr>
          <p:cNvPr id="4" name="Shape 2"/>
          <p:cNvSpPr/>
          <p:nvPr/>
        </p:nvSpPr>
        <p:spPr>
          <a:xfrm>
            <a:off x="-1280160" y="4846320"/>
            <a:ext cx="3108960" cy="3108960"/>
          </a:xfrm>
          <a:prstGeom prst="ellipse">
            <a:avLst/>
          </a:prstGeom>
          <a:ln w="12700">
            <a:solidFill>
              <a:srgbClr val="3B4470"/>
            </a:solidFill>
            <a:prstDash val="solid"/>
          </a:ln>
        </p:spPr>
      </p:sp>
      <p:sp>
        <p:nvSpPr>
          <p:cNvPr id="5" name="Text 3"/>
          <p:cNvSpPr txBox="1"/>
          <p:nvPr/>
        </p:nvSpPr>
        <p:spPr>
          <a:xfrm>
            <a:off x="0" y="1234440"/>
            <a:ext cx="12188952" cy="320040"/>
          </a:xfrm>
          <a:prstGeom prst="rect">
            <a:avLst/>
          </a:prstGeom>
          <a:noFill/>
          <a:ln/>
        </p:spPr>
        <p:txBody>
          <a:bodyPr wrap="square" lIns="0" tIns="0" rIns="0" bIns="0" rtlCol="0" anchor="ctr"/>
          <a:lstStyle/>
          <a:p>
            <a:pPr marL="0" indent="0" algn="ctr">
              <a:buNone/>
            </a:pPr>
            <a:r>
              <a:rPr lang="en-US" sz="1200" b="1" kern="0" spc="300" dirty="0">
                <a:solidFill>
                  <a:srgbClr val="C9A24B"/>
                </a:solidFill>
                <a:latin typeface="Calibri" pitchFamily="34" charset="0"/>
                <a:ea typeface="Calibri" pitchFamily="34" charset="-122"/>
                <a:cs typeface="Calibri" pitchFamily="34" charset="-120"/>
              </a:rPr>
              <a:t>AI / ML  •  ASSET MANAGEMENT  •  RISK INTELLIGENCE</a:t>
            </a:r>
            <a:endParaRPr lang="en-US" sz="1200" dirty="0"/>
          </a:p>
        </p:txBody>
      </p:sp>
      <p:sp>
        <p:nvSpPr>
          <p:cNvPr id="6" name="Text 4"/>
          <p:cNvSpPr txBox="1"/>
          <p:nvPr/>
        </p:nvSpPr>
        <p:spPr>
          <a:xfrm>
            <a:off x="731520" y="1691640"/>
            <a:ext cx="10725912" cy="1554480"/>
          </a:xfrm>
          <a:prstGeom prst="rect">
            <a:avLst/>
          </a:prstGeom>
          <a:noFill/>
          <a:ln/>
        </p:spPr>
        <p:txBody>
          <a:bodyPr wrap="square" lIns="0" tIns="0" rIns="0" bIns="0" rtlCol="0" anchor="ctr"/>
          <a:lstStyle/>
          <a:p>
            <a:pPr marL="0" indent="0" algn="ctr">
              <a:lnSpc>
                <a:spcPct val="102000"/>
              </a:lnSpc>
              <a:buNone/>
            </a:pPr>
            <a:r>
              <a:rPr lang="en-US" sz="4000" b="1" dirty="0">
                <a:solidFill>
                  <a:srgbClr val="FFFFFF"/>
                </a:solidFill>
                <a:latin typeface="Cambria" pitchFamily="34" charset="0"/>
                <a:ea typeface="Cambria" pitchFamily="34" charset="-122"/>
                <a:cs typeface="Cambria" pitchFamily="34" charset="-120"/>
              </a:rPr>
              <a:t>AI-Powered Portfolio Risk</a:t>
            </a:r>
            <a:endParaRPr lang="en-US" sz="4000" dirty="0"/>
          </a:p>
          <a:p>
            <a:pPr marL="0" indent="0" algn="ctr">
              <a:lnSpc>
                <a:spcPct val="102000"/>
              </a:lnSpc>
              <a:buNone/>
            </a:pPr>
            <a:r>
              <a:rPr lang="en-US" sz="4000" b="1" dirty="0">
                <a:solidFill>
                  <a:srgbClr val="FFFFFF"/>
                </a:solidFill>
                <a:latin typeface="Cambria" pitchFamily="34" charset="0"/>
                <a:ea typeface="Cambria" pitchFamily="34" charset="-122"/>
                <a:cs typeface="Cambria" pitchFamily="34" charset="-120"/>
              </a:rPr>
              <a:t>Management at BlackRock</a:t>
            </a:r>
            <a:endParaRPr lang="en-US" sz="4000" dirty="0"/>
          </a:p>
        </p:txBody>
      </p:sp>
      <p:sp>
        <p:nvSpPr>
          <p:cNvPr id="7" name="Text 5"/>
          <p:cNvSpPr txBox="1"/>
          <p:nvPr/>
        </p:nvSpPr>
        <p:spPr>
          <a:xfrm>
            <a:off x="1371600" y="3246120"/>
            <a:ext cx="9445752" cy="457200"/>
          </a:xfrm>
          <a:prstGeom prst="rect">
            <a:avLst/>
          </a:prstGeom>
          <a:noFill/>
          <a:ln/>
        </p:spPr>
        <p:txBody>
          <a:bodyPr wrap="square" lIns="0" tIns="0" rIns="0" bIns="0" rtlCol="0" anchor="ctr"/>
          <a:lstStyle/>
          <a:p>
            <a:pPr marL="0" indent="0" algn="ctr">
              <a:buNone/>
            </a:pPr>
            <a:r>
              <a:rPr lang="en-US" sz="1500" i="1" dirty="0">
                <a:solidFill>
                  <a:srgbClr val="CADCFC"/>
                </a:solidFill>
                <a:latin typeface="Calibri" pitchFamily="34" charset="0"/>
                <a:ea typeface="Calibri" pitchFamily="34" charset="-122"/>
                <a:cs typeface="Calibri" pitchFamily="34" charset="-120"/>
              </a:rPr>
              <a:t>Using AI/ML and Aladdin to Enhance Investment Risk Analysis and Decision Support</a:t>
            </a:r>
            <a:endParaRPr lang="en-US" sz="1500" dirty="0"/>
          </a:p>
        </p:txBody>
      </p:sp>
      <p:sp>
        <p:nvSpPr>
          <p:cNvPr id="8" name="Text 6"/>
          <p:cNvSpPr txBox="1"/>
          <p:nvPr/>
        </p:nvSpPr>
        <p:spPr>
          <a:xfrm>
            <a:off x="1371600" y="3767328"/>
            <a:ext cx="9445752"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BBA FinTech  |  Chitkara Business School</a:t>
            </a:r>
            <a:endParaRPr lang="en-US" sz="1250" dirty="0"/>
          </a:p>
        </p:txBody>
      </p:sp>
      <p:sp>
        <p:nvSpPr>
          <p:cNvPr id="9" name="Text 7"/>
          <p:cNvSpPr txBox="1"/>
          <p:nvPr/>
        </p:nvSpPr>
        <p:spPr>
          <a:xfrm>
            <a:off x="1371600" y="4078224"/>
            <a:ext cx="9445752" cy="274320"/>
          </a:xfrm>
          <a:prstGeom prst="rect">
            <a:avLst/>
          </a:prstGeom>
          <a:noFill/>
          <a:ln/>
        </p:spPr>
        <p:txBody>
          <a:bodyPr wrap="square" lIns="0" tIns="0" rIns="0" bIns="0" rtlCol="0" anchor="ctr"/>
          <a:lstStyle/>
          <a:p>
            <a:pPr marL="0" indent="0" algn="ctr">
              <a:buNone/>
            </a:pPr>
            <a:r>
              <a:rPr lang="en-US" sz="1050" dirty="0">
                <a:solidFill>
                  <a:srgbClr val="9AA3C0"/>
                </a:solidFill>
                <a:latin typeface="Calibri" pitchFamily="34" charset="0"/>
                <a:ea typeface="Calibri" pitchFamily="34" charset="-122"/>
                <a:cs typeface="Calibri" pitchFamily="34" charset="-120"/>
              </a:rPr>
              <a:t>Course / Section: [ TO BE ADDED ]     •     Faculty / Instructor: [ TO BE ADDED ]     •     Date: [ TO BE ADDED ]</a:t>
            </a:r>
            <a:endParaRPr lang="en-US" sz="1050" dirty="0"/>
          </a:p>
        </p:txBody>
      </p:sp>
      <p:sp>
        <p:nvSpPr>
          <p:cNvPr id="10" name="Text 8"/>
          <p:cNvSpPr txBox="1"/>
          <p:nvPr/>
        </p:nvSpPr>
        <p:spPr>
          <a:xfrm>
            <a:off x="1371600" y="4526280"/>
            <a:ext cx="9445752" cy="256032"/>
          </a:xfrm>
          <a:prstGeom prst="rect">
            <a:avLst/>
          </a:prstGeom>
          <a:noFill/>
          <a:ln/>
        </p:spPr>
        <p:txBody>
          <a:bodyPr wrap="square" lIns="0" tIns="0" rIns="0" bIns="0" rtlCol="0" anchor="ctr"/>
          <a:lstStyle/>
          <a:p>
            <a:pPr marL="0" indent="0" algn="ctr">
              <a:buNone/>
            </a:pPr>
            <a:r>
              <a:rPr lang="en-US" sz="1050" b="1" kern="0" spc="200" dirty="0">
                <a:solidFill>
                  <a:srgbClr val="C9A24B"/>
                </a:solidFill>
                <a:latin typeface="Calibri" pitchFamily="34" charset="0"/>
                <a:ea typeface="Calibri" pitchFamily="34" charset="-122"/>
                <a:cs typeface="Calibri" pitchFamily="34" charset="-120"/>
              </a:rPr>
              <a:t>GROUP MEMBERS</a:t>
            </a:r>
            <a:endParaRPr lang="en-US" sz="1050" dirty="0"/>
          </a:p>
        </p:txBody>
      </p:sp>
      <p:sp>
        <p:nvSpPr>
          <p:cNvPr id="11" name="Text 9"/>
          <p:cNvSpPr txBox="1"/>
          <p:nvPr/>
        </p:nvSpPr>
        <p:spPr>
          <a:xfrm>
            <a:off x="1737360" y="486460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Chanpreet</a:t>
            </a:r>
            <a:endParaRPr lang="en-US" sz="1150" dirty="0"/>
          </a:p>
        </p:txBody>
      </p:sp>
      <p:sp>
        <p:nvSpPr>
          <p:cNvPr id="12" name="Text 10"/>
          <p:cNvSpPr txBox="1"/>
          <p:nvPr/>
        </p:nvSpPr>
        <p:spPr>
          <a:xfrm>
            <a:off x="1737360" y="513892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Akshit</a:t>
            </a:r>
            <a:endParaRPr lang="en-US" sz="1150" dirty="0"/>
          </a:p>
        </p:txBody>
      </p:sp>
      <p:sp>
        <p:nvSpPr>
          <p:cNvPr id="13" name="Text 11"/>
          <p:cNvSpPr txBox="1"/>
          <p:nvPr/>
        </p:nvSpPr>
        <p:spPr>
          <a:xfrm>
            <a:off x="1737360" y="541324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Devansh</a:t>
            </a:r>
            <a:endParaRPr lang="en-US" sz="1150" dirty="0"/>
          </a:p>
        </p:txBody>
      </p:sp>
      <p:sp>
        <p:nvSpPr>
          <p:cNvPr id="14" name="Text 12"/>
          <p:cNvSpPr txBox="1"/>
          <p:nvPr/>
        </p:nvSpPr>
        <p:spPr>
          <a:xfrm>
            <a:off x="1737360" y="568756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Gursehaj</a:t>
            </a:r>
            <a:endParaRPr lang="en-US" sz="1150" dirty="0"/>
          </a:p>
        </p:txBody>
      </p:sp>
      <p:sp>
        <p:nvSpPr>
          <p:cNvPr id="15" name="Text 13"/>
          <p:cNvSpPr txBox="1"/>
          <p:nvPr/>
        </p:nvSpPr>
        <p:spPr>
          <a:xfrm>
            <a:off x="1737360" y="596188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Abhay Sharma</a:t>
            </a:r>
            <a:endParaRPr lang="en-US" sz="1150" dirty="0"/>
          </a:p>
        </p:txBody>
      </p:sp>
      <p:sp>
        <p:nvSpPr>
          <p:cNvPr id="16" name="Text 14"/>
          <p:cNvSpPr txBox="1"/>
          <p:nvPr/>
        </p:nvSpPr>
        <p:spPr>
          <a:xfrm>
            <a:off x="1737360" y="623620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Athrav Chauhan</a:t>
            </a:r>
            <a:endParaRPr lang="en-US" sz="1150" dirty="0"/>
          </a:p>
        </p:txBody>
      </p:sp>
      <p:sp>
        <p:nvSpPr>
          <p:cNvPr id="17" name="Text 15"/>
          <p:cNvSpPr txBox="1"/>
          <p:nvPr/>
        </p:nvSpPr>
        <p:spPr>
          <a:xfrm>
            <a:off x="4800600" y="486460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Dushant Wadhwa</a:t>
            </a:r>
            <a:endParaRPr lang="en-US" sz="1150" dirty="0"/>
          </a:p>
        </p:txBody>
      </p:sp>
      <p:sp>
        <p:nvSpPr>
          <p:cNvPr id="18" name="Text 16"/>
          <p:cNvSpPr txBox="1"/>
          <p:nvPr/>
        </p:nvSpPr>
        <p:spPr>
          <a:xfrm>
            <a:off x="4800600" y="513892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Emon Sethi</a:t>
            </a:r>
            <a:endParaRPr lang="en-US" sz="1150" dirty="0"/>
          </a:p>
        </p:txBody>
      </p:sp>
      <p:sp>
        <p:nvSpPr>
          <p:cNvPr id="19" name="Text 17"/>
          <p:cNvSpPr txBox="1"/>
          <p:nvPr/>
        </p:nvSpPr>
        <p:spPr>
          <a:xfrm>
            <a:off x="4800600" y="541324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Harshit Saini</a:t>
            </a:r>
            <a:endParaRPr lang="en-US" sz="1150" dirty="0"/>
          </a:p>
        </p:txBody>
      </p:sp>
      <p:sp>
        <p:nvSpPr>
          <p:cNvPr id="20" name="Text 18"/>
          <p:cNvSpPr txBox="1"/>
          <p:nvPr/>
        </p:nvSpPr>
        <p:spPr>
          <a:xfrm>
            <a:off x="4800600" y="568756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Husanbir Singh Ahluwalia</a:t>
            </a:r>
            <a:endParaRPr lang="en-US" sz="1150" dirty="0"/>
          </a:p>
        </p:txBody>
      </p:sp>
      <p:sp>
        <p:nvSpPr>
          <p:cNvPr id="21" name="Text 19"/>
          <p:cNvSpPr txBox="1"/>
          <p:nvPr/>
        </p:nvSpPr>
        <p:spPr>
          <a:xfrm>
            <a:off x="4800600" y="5961888"/>
            <a:ext cx="2880360" cy="27432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Akshay</a:t>
            </a:r>
            <a:endParaRPr lang="en-US" sz="1150" dirty="0"/>
          </a:p>
        </p:txBody>
      </p:sp>
      <p:sp>
        <p:nvSpPr>
          <p:cNvPr id="22" name="Text 20"/>
          <p:cNvSpPr txBox="1"/>
          <p:nvPr/>
        </p:nvSpPr>
        <p:spPr>
          <a:xfrm>
            <a:off x="1371600" y="6473952"/>
            <a:ext cx="9445752" cy="274320"/>
          </a:xfrm>
          <a:prstGeom prst="rect">
            <a:avLst/>
          </a:prstGeom>
          <a:noFill/>
          <a:ln/>
        </p:spPr>
        <p:txBody>
          <a:bodyPr wrap="square" lIns="0" tIns="0" rIns="0" bIns="0" rtlCol="0" anchor="ctr"/>
          <a:lstStyle/>
          <a:p>
            <a:pPr marL="0" indent="0" algn="ctr">
              <a:buNone/>
            </a:pPr>
            <a:r>
              <a:rPr lang="en-US" sz="900" i="1" dirty="0">
                <a:solidFill>
                  <a:srgbClr val="8A93B0"/>
                </a:solidFill>
                <a:latin typeface="Calibri" pitchFamily="34" charset="0"/>
                <a:ea typeface="Calibri" pitchFamily="34" charset="-122"/>
                <a:cs typeface="Calibri" pitchFamily="34" charset="-120"/>
              </a:rPr>
              <a:t>Note: 11 names were supplied for a group described as 10 members — please confirm the roster and remove the extra entry before final submission.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CONTEXT</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Company &amp; Industry Overview</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02 / 12</a:t>
            </a:r>
            <a:endParaRPr lang="en-US" sz="1050" dirty="0"/>
          </a:p>
        </p:txBody>
      </p:sp>
      <p:sp>
        <p:nvSpPr>
          <p:cNvPr id="6" name="Shape 4"/>
          <p:cNvSpPr/>
          <p:nvPr/>
        </p:nvSpPr>
        <p:spPr>
          <a:xfrm>
            <a:off x="502920" y="1280160"/>
            <a:ext cx="5440680" cy="2331720"/>
          </a:xfrm>
          <a:prstGeom prst="roundRect">
            <a:avLst>
              <a:gd name="adj" fmla="val 3137"/>
            </a:avLst>
          </a:prstGeom>
          <a:solidFill>
            <a:srgbClr val="EEEFF3"/>
          </a:solidFill>
          <a:ln/>
          <a:effectLst>
            <a:outerShdw blurRad="76200" dist="25400" dir="5400000" algn="bl" rotWithShape="0">
              <a:srgbClr val="9AA0B0">
                <a:alpha val="25000"/>
              </a:srgbClr>
            </a:outerShdw>
          </a:effectLst>
        </p:spPr>
      </p:sp>
      <p:sp>
        <p:nvSpPr>
          <p:cNvPr id="7" name="Text 5"/>
          <p:cNvSpPr txBox="1"/>
          <p:nvPr/>
        </p:nvSpPr>
        <p:spPr>
          <a:xfrm>
            <a:off x="713232" y="1417320"/>
            <a:ext cx="5029200" cy="292608"/>
          </a:xfrm>
          <a:prstGeom prst="rect">
            <a:avLst/>
          </a:prstGeom>
          <a:noFill/>
          <a:ln/>
        </p:spPr>
        <p:txBody>
          <a:bodyPr wrap="square" lIns="0" tIns="0" rIns="0" bIns="0" rtlCol="0" anchor="ctr"/>
          <a:lstStyle/>
          <a:p>
            <a:pPr marL="0" indent="0">
              <a:buNone/>
            </a:pPr>
            <a:r>
              <a:rPr lang="en-US" sz="1500" b="1" dirty="0">
                <a:solidFill>
                  <a:srgbClr val="121A33"/>
                </a:solidFill>
                <a:latin typeface="Cambria" pitchFamily="34" charset="0"/>
                <a:ea typeface="Cambria" pitchFamily="34" charset="-122"/>
                <a:cs typeface="Cambria" pitchFamily="34" charset="-120"/>
              </a:rPr>
              <a:t>BlackRock, Inc.</a:t>
            </a:r>
            <a:endParaRPr lang="en-US" sz="1500" dirty="0"/>
          </a:p>
        </p:txBody>
      </p:sp>
      <p:sp>
        <p:nvSpPr>
          <p:cNvPr id="8" name="Text 6"/>
          <p:cNvSpPr txBox="1"/>
          <p:nvPr/>
        </p:nvSpPr>
        <p:spPr>
          <a:xfrm>
            <a:off x="713232" y="1783080"/>
            <a:ext cx="5029200" cy="17830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World's largest asset manager, investing on behalf of institutional and individual clients</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Manages multi-asset portfolios across equities, fixed income, and alternatives</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Serves pension funds, governments, corporations, financial advisors and individual investors</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Technology and data are core to its investment and risk-management process</a:t>
            </a:r>
            <a:endParaRPr lang="en-US" sz="1100" dirty="0"/>
          </a:p>
        </p:txBody>
      </p:sp>
      <p:sp>
        <p:nvSpPr>
          <p:cNvPr id="9" name="Shape 7"/>
          <p:cNvSpPr/>
          <p:nvPr/>
        </p:nvSpPr>
        <p:spPr>
          <a:xfrm>
            <a:off x="6245352" y="1280160"/>
            <a:ext cx="5440680" cy="2331720"/>
          </a:xfrm>
          <a:prstGeom prst="roundRect">
            <a:avLst>
              <a:gd name="adj" fmla="val 3137"/>
            </a:avLst>
          </a:prstGeom>
          <a:solidFill>
            <a:srgbClr val="EEEFF3"/>
          </a:solidFill>
          <a:ln/>
          <a:effectLst>
            <a:outerShdw blurRad="76200" dist="25400" dir="5400000" algn="bl" rotWithShape="0">
              <a:srgbClr val="9AA0B0">
                <a:alpha val="25000"/>
              </a:srgbClr>
            </a:outerShdw>
          </a:effectLst>
        </p:spPr>
      </p:sp>
      <p:sp>
        <p:nvSpPr>
          <p:cNvPr id="10" name="Text 8"/>
          <p:cNvSpPr txBox="1"/>
          <p:nvPr/>
        </p:nvSpPr>
        <p:spPr>
          <a:xfrm>
            <a:off x="6455664" y="1417320"/>
            <a:ext cx="5029200" cy="292608"/>
          </a:xfrm>
          <a:prstGeom prst="rect">
            <a:avLst/>
          </a:prstGeom>
          <a:noFill/>
          <a:ln/>
        </p:spPr>
        <p:txBody>
          <a:bodyPr wrap="square" lIns="0" tIns="0" rIns="0" bIns="0" rtlCol="0" anchor="ctr"/>
          <a:lstStyle/>
          <a:p>
            <a:pPr marL="0" indent="0">
              <a:buNone/>
            </a:pPr>
            <a:r>
              <a:rPr lang="en-US" sz="1500" b="1" dirty="0">
                <a:solidFill>
                  <a:srgbClr val="121A33"/>
                </a:solidFill>
                <a:latin typeface="Cambria" pitchFamily="34" charset="0"/>
                <a:ea typeface="Cambria" pitchFamily="34" charset="-122"/>
                <a:cs typeface="Cambria" pitchFamily="34" charset="-120"/>
              </a:rPr>
              <a:t>The Asset-Management Industry</a:t>
            </a:r>
            <a:endParaRPr lang="en-US" sz="1500" dirty="0"/>
          </a:p>
        </p:txBody>
      </p:sp>
      <p:sp>
        <p:nvSpPr>
          <p:cNvPr id="11" name="Text 9"/>
          <p:cNvSpPr txBox="1"/>
          <p:nvPr/>
        </p:nvSpPr>
        <p:spPr>
          <a:xfrm>
            <a:off x="6455664" y="1783080"/>
            <a:ext cx="5029200" cy="17830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Portfolios are increasingly complex, multi-asset and globally diversified</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Continuous risk management and market-data analysis are required</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Portfolio complexity is rising faster than manual analysis can scale</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Analytics and technology platforms are now central to competitiveness</a:t>
            </a:r>
            <a:endParaRPr lang="en-US" sz="1100" dirty="0"/>
          </a:p>
        </p:txBody>
      </p:sp>
      <p:sp>
        <p:nvSpPr>
          <p:cNvPr id="12" name="Shape 10"/>
          <p:cNvSpPr/>
          <p:nvPr/>
        </p:nvSpPr>
        <p:spPr>
          <a:xfrm>
            <a:off x="502920" y="3749040"/>
            <a:ext cx="11183112" cy="1417320"/>
          </a:xfrm>
          <a:prstGeom prst="roundRect">
            <a:avLst>
              <a:gd name="adj" fmla="val 5161"/>
            </a:avLst>
          </a:prstGeom>
          <a:solidFill>
            <a:srgbClr val="121A33"/>
          </a:solidFill>
          <a:ln/>
          <a:effectLst>
            <a:outerShdw blurRad="76200" dist="25400" dir="5400000" algn="bl" rotWithShape="0">
              <a:srgbClr val="9AA0B0">
                <a:alpha val="25000"/>
              </a:srgbClr>
            </a:outerShdw>
          </a:effectLst>
        </p:spPr>
      </p:sp>
      <p:sp>
        <p:nvSpPr>
          <p:cNvPr id="13" name="Text 11"/>
          <p:cNvSpPr txBox="1"/>
          <p:nvPr/>
        </p:nvSpPr>
        <p:spPr>
          <a:xfrm>
            <a:off x="731520" y="3877056"/>
            <a:ext cx="7315200" cy="274320"/>
          </a:xfrm>
          <a:prstGeom prst="rect">
            <a:avLst/>
          </a:prstGeom>
          <a:noFill/>
          <a:ln/>
        </p:spPr>
        <p:txBody>
          <a:bodyPr wrap="square" lIns="0" tIns="0" rIns="0" bIns="0" rtlCol="0" anchor="ctr"/>
          <a:lstStyle/>
          <a:p>
            <a:pPr marL="0" indent="0">
              <a:buNone/>
            </a:pPr>
            <a:r>
              <a:rPr lang="en-US" sz="1400" b="1" dirty="0">
                <a:solidFill>
                  <a:srgbClr val="C9A24B"/>
                </a:solidFill>
                <a:latin typeface="Cambria" pitchFamily="34" charset="0"/>
                <a:ea typeface="Cambria" pitchFamily="34" charset="-122"/>
                <a:cs typeface="Cambria" pitchFamily="34" charset="-120"/>
              </a:rPr>
              <a:t>Aladdin — BlackRock's Investment &amp; Risk Platform</a:t>
            </a:r>
            <a:endParaRPr lang="en-US" sz="1400" dirty="0"/>
          </a:p>
        </p:txBody>
      </p:sp>
      <p:sp>
        <p:nvSpPr>
          <p:cNvPr id="14" name="Text 12"/>
          <p:cNvSpPr txBox="1"/>
          <p:nvPr/>
        </p:nvSpPr>
        <p:spPr>
          <a:xfrm>
            <a:off x="731520" y="4187952"/>
            <a:ext cx="10789920" cy="91440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050" dirty="0">
                <a:solidFill>
                  <a:srgbClr val="E5E8F2"/>
                </a:solidFill>
                <a:latin typeface="Calibri" pitchFamily="34" charset="0"/>
                <a:ea typeface="Calibri" pitchFamily="34" charset="-122"/>
                <a:cs typeface="Calibri" pitchFamily="34" charset="-120"/>
              </a:rPr>
              <a:t>Publicly documented role across investment management, portfolio analytics and risk management</a:t>
            </a:r>
            <a:endParaRPr lang="en-US" sz="1050" dirty="0"/>
          </a:p>
          <a:p>
            <a:pPr marL="177800" indent="-177800">
              <a:lnSpc>
                <a:spcPct val="105000"/>
              </a:lnSpc>
              <a:spcAft>
                <a:spcPts val="300"/>
              </a:spcAft>
              <a:buSzPct val="100000"/>
              <a:buChar char="▪"/>
            </a:pPr>
            <a:r>
              <a:rPr lang="en-US" sz="1050" dirty="0">
                <a:solidFill>
                  <a:srgbClr val="E5E8F2"/>
                </a:solidFill>
                <a:latin typeface="Calibri" pitchFamily="34" charset="0"/>
                <a:ea typeface="Calibri" pitchFamily="34" charset="-122"/>
                <a:cs typeface="Calibri" pitchFamily="34" charset="-120"/>
              </a:rPr>
              <a:t>Supports data integration, scenario analysis and stress testing across asset classes</a:t>
            </a:r>
            <a:endParaRPr lang="en-US" sz="1050" dirty="0"/>
          </a:p>
          <a:p>
            <a:pPr marL="177800" indent="-177800">
              <a:lnSpc>
                <a:spcPct val="105000"/>
              </a:lnSpc>
              <a:spcAft>
                <a:spcPts val="300"/>
              </a:spcAft>
              <a:buSzPct val="100000"/>
              <a:buChar char="▪"/>
            </a:pPr>
            <a:r>
              <a:rPr lang="en-US" sz="1050" dirty="0">
                <a:solidFill>
                  <a:srgbClr val="E5E8F2"/>
                </a:solidFill>
                <a:latin typeface="Calibri" pitchFamily="34" charset="0"/>
                <a:ea typeface="Calibri" pitchFamily="34" charset="-122"/>
                <a:cs typeface="Calibri" pitchFamily="34" charset="-120"/>
              </a:rPr>
              <a:t>Only documented, publicly-confirmed AI-enabled capabilities are referenced in this project</a:t>
            </a:r>
            <a:endParaRPr lang="en-US" sz="1050" dirty="0"/>
          </a:p>
        </p:txBody>
      </p:sp>
      <p:sp>
        <p:nvSpPr>
          <p:cNvPr id="15" name="Shape 13"/>
          <p:cNvSpPr/>
          <p:nvPr/>
        </p:nvSpPr>
        <p:spPr>
          <a:xfrm>
            <a:off x="502920" y="5486400"/>
            <a:ext cx="1965960" cy="868680"/>
          </a:xfrm>
          <a:prstGeom prst="roundRect">
            <a:avLst>
              <a:gd name="adj" fmla="val 8421"/>
            </a:avLst>
          </a:prstGeom>
          <a:solidFill>
            <a:srgbClr val="EEEFF3"/>
          </a:solidFill>
          <a:ln/>
        </p:spPr>
      </p:sp>
      <p:sp>
        <p:nvSpPr>
          <p:cNvPr id="16" name="Text 14"/>
          <p:cNvSpPr txBox="1"/>
          <p:nvPr/>
        </p:nvSpPr>
        <p:spPr>
          <a:xfrm>
            <a:off x="576072" y="5486400"/>
            <a:ext cx="1819656" cy="868680"/>
          </a:xfrm>
          <a:prstGeom prst="rect">
            <a:avLst/>
          </a:prstGeom>
          <a:noFill/>
          <a:ln/>
        </p:spPr>
        <p:txBody>
          <a:bodyPr wrap="square" lIns="0" tIns="0" rIns="0" bIns="0" rtlCol="0" anchor="ctr"/>
          <a:lstStyle/>
          <a:p>
            <a:pPr marL="0" indent="0" algn="ctr">
              <a:lnSpc>
                <a:spcPct val="100000"/>
              </a:lnSpc>
              <a:buNone/>
            </a:pPr>
            <a:r>
              <a:rPr lang="en-US" sz="1050" b="1" dirty="0">
                <a:solidFill>
                  <a:srgbClr val="121A33"/>
                </a:solidFill>
                <a:latin typeface="Calibri" pitchFamily="34" charset="0"/>
                <a:ea typeface="Calibri" pitchFamily="34" charset="-122"/>
                <a:cs typeface="Calibri" pitchFamily="34" charset="-120"/>
              </a:rPr>
              <a:t>BlackRock</a:t>
            </a:r>
            <a:endParaRPr lang="en-US" sz="1050" dirty="0"/>
          </a:p>
        </p:txBody>
      </p:sp>
      <p:sp>
        <p:nvSpPr>
          <p:cNvPr id="17" name="Shape 15"/>
          <p:cNvSpPr/>
          <p:nvPr/>
        </p:nvSpPr>
        <p:spPr>
          <a:xfrm>
            <a:off x="2496312" y="5856732"/>
            <a:ext cx="201168" cy="128016"/>
          </a:xfrm>
          <a:prstGeom prst="rightArrow">
            <a:avLst/>
          </a:prstGeom>
          <a:solidFill>
            <a:srgbClr val="C9A24B"/>
          </a:solidFill>
          <a:ln/>
        </p:spPr>
      </p:sp>
      <p:sp>
        <p:nvSpPr>
          <p:cNvPr id="18" name="Shape 16"/>
          <p:cNvSpPr/>
          <p:nvPr/>
        </p:nvSpPr>
        <p:spPr>
          <a:xfrm>
            <a:off x="2724912" y="5486400"/>
            <a:ext cx="1965960" cy="868680"/>
          </a:xfrm>
          <a:prstGeom prst="roundRect">
            <a:avLst>
              <a:gd name="adj" fmla="val 8421"/>
            </a:avLst>
          </a:prstGeom>
          <a:solidFill>
            <a:srgbClr val="EEEFF3"/>
          </a:solidFill>
          <a:ln/>
        </p:spPr>
      </p:sp>
      <p:sp>
        <p:nvSpPr>
          <p:cNvPr id="19" name="Text 17"/>
          <p:cNvSpPr txBox="1"/>
          <p:nvPr/>
        </p:nvSpPr>
        <p:spPr>
          <a:xfrm>
            <a:off x="2798064" y="5486400"/>
            <a:ext cx="1819656" cy="868680"/>
          </a:xfrm>
          <a:prstGeom prst="rect">
            <a:avLst/>
          </a:prstGeom>
          <a:noFill/>
          <a:ln/>
        </p:spPr>
        <p:txBody>
          <a:bodyPr wrap="square" lIns="0" tIns="0" rIns="0" bIns="0" rtlCol="0" anchor="ctr"/>
          <a:lstStyle/>
          <a:p>
            <a:pPr marL="0" indent="0" algn="ctr">
              <a:lnSpc>
                <a:spcPct val="100000"/>
              </a:lnSpc>
              <a:buNone/>
            </a:pPr>
            <a:r>
              <a:rPr lang="en-US" sz="1050" b="1" dirty="0">
                <a:solidFill>
                  <a:srgbClr val="121A33"/>
                </a:solidFill>
                <a:latin typeface="Calibri" pitchFamily="34" charset="0"/>
                <a:ea typeface="Calibri" pitchFamily="34" charset="-122"/>
                <a:cs typeface="Calibri" pitchFamily="34" charset="-120"/>
              </a:rPr>
              <a:t>Asset</a:t>
            </a:r>
            <a:endParaRPr lang="en-US" sz="1050" dirty="0"/>
          </a:p>
          <a:p>
            <a:pPr marL="0" indent="0" algn="ctr">
              <a:lnSpc>
                <a:spcPct val="100000"/>
              </a:lnSpc>
              <a:buNone/>
            </a:pPr>
            <a:r>
              <a:rPr lang="en-US" sz="1050" b="1" dirty="0">
                <a:solidFill>
                  <a:srgbClr val="121A33"/>
                </a:solidFill>
                <a:latin typeface="Calibri" pitchFamily="34" charset="0"/>
                <a:ea typeface="Calibri" pitchFamily="34" charset="-122"/>
                <a:cs typeface="Calibri" pitchFamily="34" charset="-120"/>
              </a:rPr>
              <a:t>Management</a:t>
            </a:r>
            <a:endParaRPr lang="en-US" sz="1050" dirty="0"/>
          </a:p>
        </p:txBody>
      </p:sp>
      <p:sp>
        <p:nvSpPr>
          <p:cNvPr id="20" name="Shape 18"/>
          <p:cNvSpPr/>
          <p:nvPr/>
        </p:nvSpPr>
        <p:spPr>
          <a:xfrm>
            <a:off x="4718304" y="5856732"/>
            <a:ext cx="201168" cy="128016"/>
          </a:xfrm>
          <a:prstGeom prst="rightArrow">
            <a:avLst/>
          </a:prstGeom>
          <a:solidFill>
            <a:srgbClr val="C9A24B"/>
          </a:solidFill>
          <a:ln/>
        </p:spPr>
      </p:sp>
      <p:sp>
        <p:nvSpPr>
          <p:cNvPr id="21" name="Shape 19"/>
          <p:cNvSpPr/>
          <p:nvPr/>
        </p:nvSpPr>
        <p:spPr>
          <a:xfrm>
            <a:off x="4946904" y="5486400"/>
            <a:ext cx="1965960" cy="868680"/>
          </a:xfrm>
          <a:prstGeom prst="roundRect">
            <a:avLst>
              <a:gd name="adj" fmla="val 8421"/>
            </a:avLst>
          </a:prstGeom>
          <a:solidFill>
            <a:srgbClr val="EEEFF3"/>
          </a:solidFill>
          <a:ln/>
        </p:spPr>
      </p:sp>
      <p:sp>
        <p:nvSpPr>
          <p:cNvPr id="22" name="Text 20"/>
          <p:cNvSpPr txBox="1"/>
          <p:nvPr/>
        </p:nvSpPr>
        <p:spPr>
          <a:xfrm>
            <a:off x="5020056" y="5486400"/>
            <a:ext cx="1819656" cy="868680"/>
          </a:xfrm>
          <a:prstGeom prst="rect">
            <a:avLst/>
          </a:prstGeom>
          <a:noFill/>
          <a:ln/>
        </p:spPr>
        <p:txBody>
          <a:bodyPr wrap="square" lIns="0" tIns="0" rIns="0" bIns="0" rtlCol="0" anchor="ctr"/>
          <a:lstStyle/>
          <a:p>
            <a:pPr marL="0" indent="0" algn="ctr">
              <a:lnSpc>
                <a:spcPct val="100000"/>
              </a:lnSpc>
              <a:buNone/>
            </a:pPr>
            <a:r>
              <a:rPr lang="en-US" sz="1050" b="1" dirty="0">
                <a:solidFill>
                  <a:srgbClr val="121A33"/>
                </a:solidFill>
                <a:latin typeface="Calibri" pitchFamily="34" charset="0"/>
                <a:ea typeface="Calibri" pitchFamily="34" charset="-122"/>
                <a:cs typeface="Calibri" pitchFamily="34" charset="-120"/>
              </a:rPr>
              <a:t>Portfolio &amp;</a:t>
            </a:r>
            <a:endParaRPr lang="en-US" sz="1050" dirty="0"/>
          </a:p>
          <a:p>
            <a:pPr marL="0" indent="0" algn="ctr">
              <a:lnSpc>
                <a:spcPct val="100000"/>
              </a:lnSpc>
              <a:buNone/>
            </a:pPr>
            <a:r>
              <a:rPr lang="en-US" sz="1050" b="1" dirty="0">
                <a:solidFill>
                  <a:srgbClr val="121A33"/>
                </a:solidFill>
                <a:latin typeface="Calibri" pitchFamily="34" charset="0"/>
                <a:ea typeface="Calibri" pitchFamily="34" charset="-122"/>
                <a:cs typeface="Calibri" pitchFamily="34" charset="-120"/>
              </a:rPr>
              <a:t>Risk Mgmt</a:t>
            </a:r>
            <a:endParaRPr lang="en-US" sz="1050" dirty="0"/>
          </a:p>
        </p:txBody>
      </p:sp>
      <p:sp>
        <p:nvSpPr>
          <p:cNvPr id="23" name="Shape 21"/>
          <p:cNvSpPr/>
          <p:nvPr/>
        </p:nvSpPr>
        <p:spPr>
          <a:xfrm>
            <a:off x="6940296" y="5856732"/>
            <a:ext cx="201168" cy="128016"/>
          </a:xfrm>
          <a:prstGeom prst="rightArrow">
            <a:avLst/>
          </a:prstGeom>
          <a:solidFill>
            <a:srgbClr val="C9A24B"/>
          </a:solidFill>
          <a:ln/>
        </p:spPr>
      </p:sp>
      <p:sp>
        <p:nvSpPr>
          <p:cNvPr id="24" name="Shape 22"/>
          <p:cNvSpPr/>
          <p:nvPr/>
        </p:nvSpPr>
        <p:spPr>
          <a:xfrm>
            <a:off x="7168896" y="5486400"/>
            <a:ext cx="1965960" cy="868680"/>
          </a:xfrm>
          <a:prstGeom prst="roundRect">
            <a:avLst>
              <a:gd name="adj" fmla="val 8421"/>
            </a:avLst>
          </a:prstGeom>
          <a:solidFill>
            <a:srgbClr val="EEEFF3"/>
          </a:solidFill>
          <a:ln/>
        </p:spPr>
      </p:sp>
      <p:sp>
        <p:nvSpPr>
          <p:cNvPr id="25" name="Text 23"/>
          <p:cNvSpPr txBox="1"/>
          <p:nvPr/>
        </p:nvSpPr>
        <p:spPr>
          <a:xfrm>
            <a:off x="7242048" y="5486400"/>
            <a:ext cx="1819656" cy="868680"/>
          </a:xfrm>
          <a:prstGeom prst="rect">
            <a:avLst/>
          </a:prstGeom>
          <a:noFill/>
          <a:ln/>
        </p:spPr>
        <p:txBody>
          <a:bodyPr wrap="square" lIns="0" tIns="0" rIns="0" bIns="0" rtlCol="0" anchor="ctr"/>
          <a:lstStyle/>
          <a:p>
            <a:pPr marL="0" indent="0" algn="ctr">
              <a:lnSpc>
                <a:spcPct val="100000"/>
              </a:lnSpc>
              <a:buNone/>
            </a:pPr>
            <a:r>
              <a:rPr lang="en-US" sz="1050" b="1" dirty="0">
                <a:solidFill>
                  <a:srgbClr val="121A33"/>
                </a:solidFill>
                <a:latin typeface="Calibri" pitchFamily="34" charset="0"/>
                <a:ea typeface="Calibri" pitchFamily="34" charset="-122"/>
                <a:cs typeface="Calibri" pitchFamily="34" charset="-120"/>
              </a:rPr>
              <a:t>Aladdin</a:t>
            </a:r>
            <a:endParaRPr lang="en-US" sz="1050" dirty="0"/>
          </a:p>
        </p:txBody>
      </p:sp>
      <p:sp>
        <p:nvSpPr>
          <p:cNvPr id="26" name="Shape 24"/>
          <p:cNvSpPr/>
          <p:nvPr/>
        </p:nvSpPr>
        <p:spPr>
          <a:xfrm>
            <a:off x="9162288" y="5856732"/>
            <a:ext cx="201168" cy="128016"/>
          </a:xfrm>
          <a:prstGeom prst="rightArrow">
            <a:avLst/>
          </a:prstGeom>
          <a:solidFill>
            <a:srgbClr val="C9A24B"/>
          </a:solidFill>
          <a:ln/>
        </p:spPr>
      </p:sp>
      <p:sp>
        <p:nvSpPr>
          <p:cNvPr id="27" name="Shape 25"/>
          <p:cNvSpPr/>
          <p:nvPr/>
        </p:nvSpPr>
        <p:spPr>
          <a:xfrm>
            <a:off x="9390888" y="5486400"/>
            <a:ext cx="1965960" cy="868680"/>
          </a:xfrm>
          <a:prstGeom prst="roundRect">
            <a:avLst>
              <a:gd name="adj" fmla="val 8421"/>
            </a:avLst>
          </a:prstGeom>
          <a:solidFill>
            <a:srgbClr val="121A33"/>
          </a:solidFill>
          <a:ln/>
        </p:spPr>
      </p:sp>
      <p:sp>
        <p:nvSpPr>
          <p:cNvPr id="28" name="Text 26"/>
          <p:cNvSpPr txBox="1"/>
          <p:nvPr/>
        </p:nvSpPr>
        <p:spPr>
          <a:xfrm>
            <a:off x="9464040" y="5486400"/>
            <a:ext cx="1819656" cy="868680"/>
          </a:xfrm>
          <a:prstGeom prst="rect">
            <a:avLst/>
          </a:prstGeom>
          <a:noFill/>
          <a:ln/>
        </p:spPr>
        <p:txBody>
          <a:bodyPr wrap="square" lIns="0" tIns="0" rIns="0" bIns="0"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Data, Analytics &amp;</a:t>
            </a:r>
            <a:endParaRPr lang="en-US" sz="1050" dirty="0"/>
          </a:p>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AI Workflows</a:t>
            </a:r>
            <a:endParaRPr lang="en-US" sz="1050" dirty="0"/>
          </a:p>
        </p:txBody>
      </p:sp>
      <p:sp>
        <p:nvSpPr>
          <p:cNvPr id="29" name="Text 27"/>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30" name="Text 28"/>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THE OPPORTUNITY</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Business Problem</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03 / 12</a:t>
            </a:r>
            <a:endParaRPr lang="en-US" sz="1050" dirty="0"/>
          </a:p>
        </p:txBody>
      </p:sp>
      <p:sp>
        <p:nvSpPr>
          <p:cNvPr id="6" name="Shape 4"/>
          <p:cNvSpPr/>
          <p:nvPr/>
        </p:nvSpPr>
        <p:spPr>
          <a:xfrm>
            <a:off x="502920" y="1325880"/>
            <a:ext cx="11183112" cy="1234440"/>
          </a:xfrm>
          <a:prstGeom prst="roundRect">
            <a:avLst>
              <a:gd name="adj" fmla="val 5926"/>
            </a:avLst>
          </a:prstGeom>
          <a:solidFill>
            <a:srgbClr val="121A33"/>
          </a:solidFill>
          <a:ln/>
          <a:effectLst>
            <a:outerShdw blurRad="76200" dist="25400" dir="5400000" algn="bl" rotWithShape="0">
              <a:srgbClr val="9AA0B0">
                <a:alpha val="25000"/>
              </a:srgbClr>
            </a:outerShdw>
          </a:effectLst>
        </p:spPr>
      </p:sp>
      <p:sp>
        <p:nvSpPr>
          <p:cNvPr id="7" name="Text 5"/>
          <p:cNvSpPr txBox="1"/>
          <p:nvPr/>
        </p:nvSpPr>
        <p:spPr>
          <a:xfrm>
            <a:off x="822960" y="1463040"/>
            <a:ext cx="10561320" cy="960120"/>
          </a:xfrm>
          <a:prstGeom prst="rect">
            <a:avLst/>
          </a:prstGeom>
          <a:noFill/>
          <a:ln/>
        </p:spPr>
        <p:txBody>
          <a:bodyPr wrap="square" lIns="0" tIns="0" rIns="0" bIns="0" rtlCol="0" anchor="ctr"/>
          <a:lstStyle/>
          <a:p>
            <a:pPr marL="0" indent="0" algn="l">
              <a:buNone/>
            </a:pPr>
            <a:r>
              <a:rPr lang="en-US" sz="1550" i="1" dirty="0">
                <a:solidFill>
                  <a:srgbClr val="FFFFFF"/>
                </a:solidFill>
                <a:latin typeface="Cambria" pitchFamily="34" charset="0"/>
                <a:ea typeface="Cambria" pitchFamily="34" charset="-122"/>
                <a:cs typeface="Cambria" pitchFamily="34" charset="-120"/>
              </a:rPr>
              <a:t>How can BlackRock identify and prioritize emerging portfolio risks faster when investment portfolios generate large volumes of complex, multi-asset and market data?</a:t>
            </a:r>
            <a:endParaRPr lang="en-US" sz="1550" dirty="0"/>
          </a:p>
        </p:txBody>
      </p:sp>
      <p:sp>
        <p:nvSpPr>
          <p:cNvPr id="8" name="Text 6"/>
          <p:cNvSpPr txBox="1"/>
          <p:nvPr/>
        </p:nvSpPr>
        <p:spPr>
          <a:xfrm>
            <a:off x="502920" y="2743200"/>
            <a:ext cx="5486400" cy="274320"/>
          </a:xfrm>
          <a:prstGeom prst="rect">
            <a:avLst/>
          </a:prstGeom>
          <a:noFill/>
          <a:ln/>
        </p:spPr>
        <p:txBody>
          <a:bodyPr wrap="square" lIns="0" tIns="0" rIns="0" bIns="0" rtlCol="0" anchor="ctr"/>
          <a:lstStyle/>
          <a:p>
            <a:pPr marL="0" indent="0">
              <a:buNone/>
            </a:pPr>
            <a:r>
              <a:rPr lang="en-US" sz="1400" b="1" dirty="0">
                <a:solidFill>
                  <a:srgbClr val="121A33"/>
                </a:solidFill>
                <a:latin typeface="Cambria" pitchFamily="34" charset="0"/>
                <a:ea typeface="Cambria" pitchFamily="34" charset="-122"/>
                <a:cs typeface="Cambria" pitchFamily="34" charset="-120"/>
              </a:rPr>
              <a:t>Why This Matters</a:t>
            </a:r>
            <a:endParaRPr lang="en-US" sz="1400" dirty="0"/>
          </a:p>
        </p:txBody>
      </p:sp>
      <p:sp>
        <p:nvSpPr>
          <p:cNvPr id="9" name="Text 7"/>
          <p:cNvSpPr txBox="1"/>
          <p:nvPr/>
        </p:nvSpPr>
        <p:spPr>
          <a:xfrm>
            <a:off x="502920" y="3063240"/>
            <a:ext cx="5440680" cy="15544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Large, complex investment portfolios across many asset classes</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High volume of fast-moving market data</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Rapidly changing market conditions</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Interconnected, hard-to-trace risk factors</a:t>
            </a:r>
            <a:endParaRPr lang="en-US" sz="1150" dirty="0"/>
          </a:p>
        </p:txBody>
      </p:sp>
      <p:sp>
        <p:nvSpPr>
          <p:cNvPr id="10" name="Text 8"/>
          <p:cNvSpPr txBox="1"/>
          <p:nvPr/>
        </p:nvSpPr>
        <p:spPr>
          <a:xfrm>
            <a:off x="6245352" y="3063240"/>
            <a:ext cx="5440680" cy="15544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Need for continuous, real-time monitoring</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Need for robust scenario and stress analysis</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Difficulty manually examining every risk relationship</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Opportunity for AI/ML to support (not replace) analysts</a:t>
            </a:r>
            <a:endParaRPr lang="en-US" sz="1150" dirty="0"/>
          </a:p>
        </p:txBody>
      </p:sp>
      <p:sp>
        <p:nvSpPr>
          <p:cNvPr id="11" name="Shape 9"/>
          <p:cNvSpPr/>
          <p:nvPr/>
        </p:nvSpPr>
        <p:spPr>
          <a:xfrm>
            <a:off x="502920" y="4709160"/>
            <a:ext cx="11183112" cy="868680"/>
          </a:xfrm>
          <a:prstGeom prst="roundRect">
            <a:avLst>
              <a:gd name="adj" fmla="val 8421"/>
            </a:avLst>
          </a:prstGeom>
          <a:solidFill>
            <a:srgbClr val="FBF6E9"/>
          </a:solidFill>
          <a:ln/>
          <a:effectLst>
            <a:outerShdw blurRad="76200" dist="25400" dir="5400000" algn="bl" rotWithShape="0">
              <a:srgbClr val="9AA0B0">
                <a:alpha val="25000"/>
              </a:srgbClr>
            </a:outerShdw>
          </a:effectLst>
        </p:spPr>
      </p:sp>
      <p:sp>
        <p:nvSpPr>
          <p:cNvPr id="12" name="Text 10"/>
          <p:cNvSpPr txBox="1"/>
          <p:nvPr/>
        </p:nvSpPr>
        <p:spPr>
          <a:xfrm>
            <a:off x="777240" y="4828032"/>
            <a:ext cx="10607040" cy="640080"/>
          </a:xfrm>
          <a:prstGeom prst="rect">
            <a:avLst/>
          </a:prstGeom>
          <a:noFill/>
          <a:ln/>
        </p:spPr>
        <p:txBody>
          <a:bodyPr wrap="square" lIns="0" tIns="0" rIns="0" bIns="0" rtlCol="0" anchor="ctr"/>
          <a:lstStyle/>
          <a:p>
            <a:pPr marL="0" indent="0">
              <a:buNone/>
            </a:pPr>
            <a:r>
              <a:rPr lang="en-US" sz="1100" i="1" dirty="0">
                <a:solidFill>
                  <a:srgbClr val="6B5A22"/>
                </a:solidFill>
                <a:latin typeface="Calibri" pitchFamily="34" charset="0"/>
                <a:ea typeface="Calibri" pitchFamily="34" charset="-122"/>
                <a:cs typeface="Calibri" pitchFamily="34" charset="-120"/>
              </a:rPr>
              <a:t>Key message: BlackRock already has sophisticated risk analytics through Aladdin. The academic opportunity explored here is how additional AI/ML capabilities could enhance risk identification, prioritization and explanation.</a:t>
            </a:r>
            <a:endParaRPr lang="en-US" sz="1100" dirty="0"/>
          </a:p>
        </p:txBody>
      </p:sp>
      <p:sp>
        <p:nvSpPr>
          <p:cNvPr id="13" name="Shape 11"/>
          <p:cNvSpPr/>
          <p:nvPr/>
        </p:nvSpPr>
        <p:spPr>
          <a:xfrm>
            <a:off x="502920" y="5806440"/>
            <a:ext cx="2606040" cy="658368"/>
          </a:xfrm>
          <a:prstGeom prst="roundRect">
            <a:avLst>
              <a:gd name="adj" fmla="val 11111"/>
            </a:avLst>
          </a:prstGeom>
          <a:solidFill>
            <a:srgbClr val="EEEFF3"/>
          </a:solidFill>
          <a:ln/>
        </p:spPr>
      </p:sp>
      <p:sp>
        <p:nvSpPr>
          <p:cNvPr id="14" name="Text 12"/>
          <p:cNvSpPr txBox="1"/>
          <p:nvPr/>
        </p:nvSpPr>
        <p:spPr>
          <a:xfrm>
            <a:off x="502920" y="5806440"/>
            <a:ext cx="2606040" cy="658368"/>
          </a:xfrm>
          <a:prstGeom prst="rect">
            <a:avLst/>
          </a:prstGeom>
          <a:noFill/>
          <a:ln/>
        </p:spPr>
        <p:txBody>
          <a:bodyPr wrap="square" lIns="0" tIns="0" rIns="0" bIns="0" rtlCol="0" anchor="ctr"/>
          <a:lstStyle/>
          <a:p>
            <a:pPr marL="0" indent="0" algn="ctr">
              <a:lnSpc>
                <a:spcPct val="100000"/>
              </a:lnSpc>
              <a:buNone/>
            </a:pPr>
            <a:r>
              <a:rPr lang="en-US" sz="1100" b="1" dirty="0">
                <a:solidFill>
                  <a:srgbClr val="121A33"/>
                </a:solidFill>
                <a:latin typeface="Calibri" pitchFamily="34" charset="0"/>
                <a:ea typeface="Calibri" pitchFamily="34" charset="-122"/>
                <a:cs typeface="Calibri" pitchFamily="34" charset="-120"/>
              </a:rPr>
              <a:t>Complex</a:t>
            </a:r>
            <a:endParaRPr lang="en-US" sz="1100" dirty="0"/>
          </a:p>
          <a:p>
            <a:pPr marL="0" indent="0" algn="ctr">
              <a:lnSpc>
                <a:spcPct val="100000"/>
              </a:lnSpc>
              <a:buNone/>
            </a:pPr>
            <a:r>
              <a:rPr lang="en-US" sz="1100" b="1" dirty="0">
                <a:solidFill>
                  <a:srgbClr val="121A33"/>
                </a:solidFill>
                <a:latin typeface="Calibri" pitchFamily="34" charset="0"/>
                <a:ea typeface="Calibri" pitchFamily="34" charset="-122"/>
                <a:cs typeface="Calibri" pitchFamily="34" charset="-120"/>
              </a:rPr>
              <a:t>Data</a:t>
            </a:r>
            <a:endParaRPr lang="en-US" sz="1100" dirty="0"/>
          </a:p>
        </p:txBody>
      </p:sp>
      <p:sp>
        <p:nvSpPr>
          <p:cNvPr id="15" name="Shape 13"/>
          <p:cNvSpPr/>
          <p:nvPr/>
        </p:nvSpPr>
        <p:spPr>
          <a:xfrm>
            <a:off x="3154680" y="6071616"/>
            <a:ext cx="228600" cy="128016"/>
          </a:xfrm>
          <a:prstGeom prst="rightArrow">
            <a:avLst/>
          </a:prstGeom>
          <a:solidFill>
            <a:srgbClr val="C9A24B"/>
          </a:solidFill>
          <a:ln/>
        </p:spPr>
      </p:sp>
      <p:sp>
        <p:nvSpPr>
          <p:cNvPr id="16" name="Shape 14"/>
          <p:cNvSpPr/>
          <p:nvPr/>
        </p:nvSpPr>
        <p:spPr>
          <a:xfrm>
            <a:off x="3429000" y="5806440"/>
            <a:ext cx="2606040" cy="658368"/>
          </a:xfrm>
          <a:prstGeom prst="roundRect">
            <a:avLst>
              <a:gd name="adj" fmla="val 11111"/>
            </a:avLst>
          </a:prstGeom>
          <a:solidFill>
            <a:srgbClr val="EEEFF3"/>
          </a:solidFill>
          <a:ln/>
        </p:spPr>
      </p:sp>
      <p:sp>
        <p:nvSpPr>
          <p:cNvPr id="17" name="Text 15"/>
          <p:cNvSpPr txBox="1"/>
          <p:nvPr/>
        </p:nvSpPr>
        <p:spPr>
          <a:xfrm>
            <a:off x="3429000" y="5806440"/>
            <a:ext cx="2606040" cy="658368"/>
          </a:xfrm>
          <a:prstGeom prst="rect">
            <a:avLst/>
          </a:prstGeom>
          <a:noFill/>
          <a:ln/>
        </p:spPr>
        <p:txBody>
          <a:bodyPr wrap="square" lIns="0" tIns="0" rIns="0" bIns="0" rtlCol="0" anchor="ctr"/>
          <a:lstStyle/>
          <a:p>
            <a:pPr marL="0" indent="0" algn="ctr">
              <a:lnSpc>
                <a:spcPct val="100000"/>
              </a:lnSpc>
              <a:buNone/>
            </a:pPr>
            <a:r>
              <a:rPr lang="en-US" sz="1100" b="1" dirty="0">
                <a:solidFill>
                  <a:srgbClr val="121A33"/>
                </a:solidFill>
                <a:latin typeface="Calibri" pitchFamily="34" charset="0"/>
                <a:ea typeface="Calibri" pitchFamily="34" charset="-122"/>
                <a:cs typeface="Calibri" pitchFamily="34" charset="-120"/>
              </a:rPr>
              <a:t>Complex</a:t>
            </a:r>
            <a:endParaRPr lang="en-US" sz="1100" dirty="0"/>
          </a:p>
          <a:p>
            <a:pPr marL="0" indent="0" algn="ctr">
              <a:lnSpc>
                <a:spcPct val="100000"/>
              </a:lnSpc>
              <a:buNone/>
            </a:pPr>
            <a:r>
              <a:rPr lang="en-US" sz="1100" b="1" dirty="0">
                <a:solidFill>
                  <a:srgbClr val="121A33"/>
                </a:solidFill>
                <a:latin typeface="Calibri" pitchFamily="34" charset="0"/>
                <a:ea typeface="Calibri" pitchFamily="34" charset="-122"/>
                <a:cs typeface="Calibri" pitchFamily="34" charset="-120"/>
              </a:rPr>
              <a:t>Risks</a:t>
            </a:r>
            <a:endParaRPr lang="en-US" sz="1100" dirty="0"/>
          </a:p>
        </p:txBody>
      </p:sp>
      <p:sp>
        <p:nvSpPr>
          <p:cNvPr id="18" name="Shape 16"/>
          <p:cNvSpPr/>
          <p:nvPr/>
        </p:nvSpPr>
        <p:spPr>
          <a:xfrm>
            <a:off x="6080760" y="6071616"/>
            <a:ext cx="228600" cy="128016"/>
          </a:xfrm>
          <a:prstGeom prst="rightArrow">
            <a:avLst/>
          </a:prstGeom>
          <a:solidFill>
            <a:srgbClr val="C9A24B"/>
          </a:solidFill>
          <a:ln/>
        </p:spPr>
      </p:sp>
      <p:sp>
        <p:nvSpPr>
          <p:cNvPr id="19" name="Shape 17"/>
          <p:cNvSpPr/>
          <p:nvPr/>
        </p:nvSpPr>
        <p:spPr>
          <a:xfrm>
            <a:off x="6355080" y="5806440"/>
            <a:ext cx="2606040" cy="658368"/>
          </a:xfrm>
          <a:prstGeom prst="roundRect">
            <a:avLst>
              <a:gd name="adj" fmla="val 11111"/>
            </a:avLst>
          </a:prstGeom>
          <a:solidFill>
            <a:srgbClr val="EEEFF3"/>
          </a:solidFill>
          <a:ln/>
        </p:spPr>
      </p:sp>
      <p:sp>
        <p:nvSpPr>
          <p:cNvPr id="20" name="Text 18"/>
          <p:cNvSpPr txBox="1"/>
          <p:nvPr/>
        </p:nvSpPr>
        <p:spPr>
          <a:xfrm>
            <a:off x="6355080" y="5806440"/>
            <a:ext cx="2606040" cy="658368"/>
          </a:xfrm>
          <a:prstGeom prst="rect">
            <a:avLst/>
          </a:prstGeom>
          <a:noFill/>
          <a:ln/>
        </p:spPr>
        <p:txBody>
          <a:bodyPr wrap="square" lIns="0" tIns="0" rIns="0" bIns="0" rtlCol="0" anchor="ctr"/>
          <a:lstStyle/>
          <a:p>
            <a:pPr marL="0" indent="0" algn="ctr">
              <a:lnSpc>
                <a:spcPct val="100000"/>
              </a:lnSpc>
              <a:buNone/>
            </a:pPr>
            <a:r>
              <a:rPr lang="en-US" sz="1100" b="1" dirty="0">
                <a:solidFill>
                  <a:srgbClr val="121A33"/>
                </a:solidFill>
                <a:latin typeface="Calibri" pitchFamily="34" charset="0"/>
                <a:ea typeface="Calibri" pitchFamily="34" charset="-122"/>
                <a:cs typeface="Calibri" pitchFamily="34" charset="-120"/>
              </a:rPr>
              <a:t>Need for Faster</a:t>
            </a:r>
            <a:endParaRPr lang="en-US" sz="1100" dirty="0"/>
          </a:p>
          <a:p>
            <a:pPr marL="0" indent="0" algn="ctr">
              <a:lnSpc>
                <a:spcPct val="100000"/>
              </a:lnSpc>
              <a:buNone/>
            </a:pPr>
            <a:r>
              <a:rPr lang="en-US" sz="1100" b="1" dirty="0">
                <a:solidFill>
                  <a:srgbClr val="121A33"/>
                </a:solidFill>
                <a:latin typeface="Calibri" pitchFamily="34" charset="0"/>
                <a:ea typeface="Calibri" pitchFamily="34" charset="-122"/>
                <a:cs typeface="Calibri" pitchFamily="34" charset="-120"/>
              </a:rPr>
              <a:t>Intelligence</a:t>
            </a:r>
            <a:endParaRPr lang="en-US" sz="1100" dirty="0"/>
          </a:p>
        </p:txBody>
      </p:sp>
      <p:sp>
        <p:nvSpPr>
          <p:cNvPr id="21" name="Shape 19"/>
          <p:cNvSpPr/>
          <p:nvPr/>
        </p:nvSpPr>
        <p:spPr>
          <a:xfrm>
            <a:off x="9006840" y="6071616"/>
            <a:ext cx="228600" cy="128016"/>
          </a:xfrm>
          <a:prstGeom prst="rightArrow">
            <a:avLst/>
          </a:prstGeom>
          <a:solidFill>
            <a:srgbClr val="C9A24B"/>
          </a:solidFill>
          <a:ln/>
        </p:spPr>
      </p:sp>
      <p:sp>
        <p:nvSpPr>
          <p:cNvPr id="22" name="Shape 20"/>
          <p:cNvSpPr/>
          <p:nvPr/>
        </p:nvSpPr>
        <p:spPr>
          <a:xfrm>
            <a:off x="9281160" y="5806440"/>
            <a:ext cx="2606040" cy="658368"/>
          </a:xfrm>
          <a:prstGeom prst="roundRect">
            <a:avLst>
              <a:gd name="adj" fmla="val 11111"/>
            </a:avLst>
          </a:prstGeom>
          <a:solidFill>
            <a:srgbClr val="121A33"/>
          </a:solidFill>
          <a:ln/>
        </p:spPr>
      </p:sp>
      <p:sp>
        <p:nvSpPr>
          <p:cNvPr id="23" name="Text 21"/>
          <p:cNvSpPr txBox="1"/>
          <p:nvPr/>
        </p:nvSpPr>
        <p:spPr>
          <a:xfrm>
            <a:off x="9281160" y="5806440"/>
            <a:ext cx="2606040" cy="658368"/>
          </a:xfrm>
          <a:prstGeom prst="rect">
            <a:avLst/>
          </a:prstGeom>
          <a:noFill/>
          <a:ln/>
        </p:spPr>
        <p:txBody>
          <a:bodyPr wrap="square" lIns="0" tIns="0" rIns="0" bIns="0" rtlCol="0" anchor="ctr"/>
          <a:lstStyle/>
          <a:p>
            <a:pPr marL="0" indent="0" algn="ctr">
              <a:lnSpc>
                <a:spcPct val="100000"/>
              </a:lnSpc>
              <a:buNone/>
            </a:pPr>
            <a:r>
              <a:rPr lang="en-US" sz="1100" b="1" dirty="0">
                <a:solidFill>
                  <a:srgbClr val="C9A24B"/>
                </a:solidFill>
                <a:latin typeface="Calibri" pitchFamily="34" charset="0"/>
                <a:ea typeface="Calibri" pitchFamily="34" charset="-122"/>
                <a:cs typeface="Calibri" pitchFamily="34" charset="-120"/>
              </a:rPr>
              <a:t>AI/ML</a:t>
            </a:r>
            <a:endParaRPr lang="en-US" sz="1100" dirty="0"/>
          </a:p>
          <a:p>
            <a:pPr marL="0" indent="0" algn="ctr">
              <a:lnSpc>
                <a:spcPct val="100000"/>
              </a:lnSpc>
              <a:buNone/>
            </a:pPr>
            <a:r>
              <a:rPr lang="en-US" sz="1100" b="1" dirty="0">
                <a:solidFill>
                  <a:srgbClr val="C9A24B"/>
                </a:solidFill>
                <a:latin typeface="Calibri" pitchFamily="34" charset="0"/>
                <a:ea typeface="Calibri" pitchFamily="34" charset="-122"/>
                <a:cs typeface="Calibri" pitchFamily="34" charset="-120"/>
              </a:rPr>
              <a:t>Opportunity</a:t>
            </a:r>
            <a:endParaRPr lang="en-US" sz="1100" dirty="0"/>
          </a:p>
        </p:txBody>
      </p:sp>
      <p:sp>
        <p:nvSpPr>
          <p:cNvPr id="24" name="Text 22"/>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25" name="Text 23"/>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FOUNDATIONS</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Data Required</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04 / 12</a:t>
            </a:r>
            <a:endParaRPr lang="en-US" sz="1050" dirty="0"/>
          </a:p>
        </p:txBody>
      </p:sp>
      <p:sp>
        <p:nvSpPr>
          <p:cNvPr id="6" name="Shape 4"/>
          <p:cNvSpPr/>
          <p:nvPr/>
        </p:nvSpPr>
        <p:spPr>
          <a:xfrm>
            <a:off x="502920" y="1280160"/>
            <a:ext cx="3639312" cy="1417320"/>
          </a:xfrm>
          <a:prstGeom prst="roundRect">
            <a:avLst>
              <a:gd name="adj" fmla="val 5161"/>
            </a:avLst>
          </a:prstGeom>
          <a:solidFill>
            <a:srgbClr val="EEEFF3"/>
          </a:solidFill>
          <a:ln/>
          <a:effectLst>
            <a:outerShdw blurRad="76200" dist="25400" dir="5400000" algn="bl" rotWithShape="0">
              <a:srgbClr val="9AA0B0">
                <a:alpha val="25000"/>
              </a:srgbClr>
            </a:outerShdw>
          </a:effectLst>
        </p:spPr>
      </p:sp>
      <p:sp>
        <p:nvSpPr>
          <p:cNvPr id="7" name="Text 5"/>
          <p:cNvSpPr txBox="1"/>
          <p:nvPr/>
        </p:nvSpPr>
        <p:spPr>
          <a:xfrm>
            <a:off x="667512" y="1371600"/>
            <a:ext cx="3364992" cy="256032"/>
          </a:xfrm>
          <a:prstGeom prst="rect">
            <a:avLst/>
          </a:prstGeom>
          <a:noFill/>
          <a:ln/>
        </p:spPr>
        <p:txBody>
          <a:bodyPr wrap="square" lIns="0" tIns="0" rIns="0" bIns="0" rtlCol="0" anchor="ctr"/>
          <a:lstStyle/>
          <a:p>
            <a:pPr marL="0" indent="0">
              <a:buNone/>
            </a:pPr>
            <a:r>
              <a:rPr lang="en-US" sz="1200" b="1" dirty="0">
                <a:solidFill>
                  <a:srgbClr val="121A33"/>
                </a:solidFill>
                <a:latin typeface="Cambria" pitchFamily="34" charset="0"/>
                <a:ea typeface="Cambria" pitchFamily="34" charset="-122"/>
                <a:cs typeface="Cambria" pitchFamily="34" charset="-120"/>
              </a:rPr>
              <a:t>1. Portfolio Data</a:t>
            </a:r>
            <a:endParaRPr lang="en-US" sz="1200" dirty="0"/>
          </a:p>
        </p:txBody>
      </p:sp>
      <p:sp>
        <p:nvSpPr>
          <p:cNvPr id="8" name="Text 6"/>
          <p:cNvSpPr txBox="1"/>
          <p:nvPr/>
        </p:nvSpPr>
        <p:spPr>
          <a:xfrm>
            <a:off x="667512" y="1664208"/>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Asset holdings &amp; weights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Security positions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Asset allocation &amp; exposures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Cash positions</a:t>
            </a:r>
            <a:endParaRPr lang="en-US" sz="900" dirty="0"/>
          </a:p>
        </p:txBody>
      </p:sp>
      <p:sp>
        <p:nvSpPr>
          <p:cNvPr id="9" name="Shape 7"/>
          <p:cNvSpPr/>
          <p:nvPr/>
        </p:nvSpPr>
        <p:spPr>
          <a:xfrm>
            <a:off x="4315968" y="1280160"/>
            <a:ext cx="3639312" cy="1417320"/>
          </a:xfrm>
          <a:prstGeom prst="roundRect">
            <a:avLst>
              <a:gd name="adj" fmla="val 5161"/>
            </a:avLst>
          </a:prstGeom>
          <a:solidFill>
            <a:srgbClr val="EEEFF3"/>
          </a:solidFill>
          <a:ln/>
          <a:effectLst>
            <a:outerShdw blurRad="76200" dist="25400" dir="5400000" algn="bl" rotWithShape="0">
              <a:srgbClr val="9AA0B0">
                <a:alpha val="25000"/>
              </a:srgbClr>
            </a:outerShdw>
          </a:effectLst>
        </p:spPr>
      </p:sp>
      <p:sp>
        <p:nvSpPr>
          <p:cNvPr id="10" name="Text 8"/>
          <p:cNvSpPr txBox="1"/>
          <p:nvPr/>
        </p:nvSpPr>
        <p:spPr>
          <a:xfrm>
            <a:off x="4480560" y="1371600"/>
            <a:ext cx="3364992" cy="256032"/>
          </a:xfrm>
          <a:prstGeom prst="rect">
            <a:avLst/>
          </a:prstGeom>
          <a:noFill/>
          <a:ln/>
        </p:spPr>
        <p:txBody>
          <a:bodyPr wrap="square" lIns="0" tIns="0" rIns="0" bIns="0" rtlCol="0" anchor="ctr"/>
          <a:lstStyle/>
          <a:p>
            <a:pPr marL="0" indent="0">
              <a:buNone/>
            </a:pPr>
            <a:r>
              <a:rPr lang="en-US" sz="1200" b="1" dirty="0">
                <a:solidFill>
                  <a:srgbClr val="121A33"/>
                </a:solidFill>
                <a:latin typeface="Cambria" pitchFamily="34" charset="0"/>
                <a:ea typeface="Cambria" pitchFamily="34" charset="-122"/>
                <a:cs typeface="Cambria" pitchFamily="34" charset="-120"/>
              </a:rPr>
              <a:t>2. Market Data</a:t>
            </a:r>
            <a:endParaRPr lang="en-US" sz="1200" dirty="0"/>
          </a:p>
        </p:txBody>
      </p:sp>
      <p:sp>
        <p:nvSpPr>
          <p:cNvPr id="11" name="Text 9"/>
          <p:cNvSpPr txBox="1"/>
          <p:nvPr/>
        </p:nvSpPr>
        <p:spPr>
          <a:xfrm>
            <a:off x="4480560" y="1664208"/>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Equity prices, bond yields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Interest &amp; currency rates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Commodity prices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Volatility &amp; credit spreads</a:t>
            </a:r>
            <a:endParaRPr lang="en-US" sz="900" dirty="0"/>
          </a:p>
        </p:txBody>
      </p:sp>
      <p:sp>
        <p:nvSpPr>
          <p:cNvPr id="12" name="Shape 10"/>
          <p:cNvSpPr/>
          <p:nvPr/>
        </p:nvSpPr>
        <p:spPr>
          <a:xfrm>
            <a:off x="8129016" y="1280160"/>
            <a:ext cx="3639312" cy="1417320"/>
          </a:xfrm>
          <a:prstGeom prst="roundRect">
            <a:avLst>
              <a:gd name="adj" fmla="val 5161"/>
            </a:avLst>
          </a:prstGeom>
          <a:solidFill>
            <a:srgbClr val="EEEFF3"/>
          </a:solidFill>
          <a:ln/>
          <a:effectLst>
            <a:outerShdw blurRad="76200" dist="25400" dir="5400000" algn="bl" rotWithShape="0">
              <a:srgbClr val="9AA0B0">
                <a:alpha val="25000"/>
              </a:srgbClr>
            </a:outerShdw>
          </a:effectLst>
        </p:spPr>
      </p:sp>
      <p:sp>
        <p:nvSpPr>
          <p:cNvPr id="13" name="Text 11"/>
          <p:cNvSpPr txBox="1"/>
          <p:nvPr/>
        </p:nvSpPr>
        <p:spPr>
          <a:xfrm>
            <a:off x="8293608" y="1371600"/>
            <a:ext cx="3364992" cy="256032"/>
          </a:xfrm>
          <a:prstGeom prst="rect">
            <a:avLst/>
          </a:prstGeom>
          <a:noFill/>
          <a:ln/>
        </p:spPr>
        <p:txBody>
          <a:bodyPr wrap="square" lIns="0" tIns="0" rIns="0" bIns="0" rtlCol="0" anchor="ctr"/>
          <a:lstStyle/>
          <a:p>
            <a:pPr marL="0" indent="0">
              <a:buNone/>
            </a:pPr>
            <a:r>
              <a:rPr lang="en-US" sz="1200" b="1" dirty="0">
                <a:solidFill>
                  <a:srgbClr val="121A33"/>
                </a:solidFill>
                <a:latin typeface="Cambria" pitchFamily="34" charset="0"/>
                <a:ea typeface="Cambria" pitchFamily="34" charset="-122"/>
                <a:cs typeface="Cambria" pitchFamily="34" charset="-120"/>
              </a:rPr>
              <a:t>3. Risk Data</a:t>
            </a:r>
            <a:endParaRPr lang="en-US" sz="1200" dirty="0"/>
          </a:p>
        </p:txBody>
      </p:sp>
      <p:sp>
        <p:nvSpPr>
          <p:cNvPr id="14" name="Text 12"/>
          <p:cNvSpPr txBox="1"/>
          <p:nvPr/>
        </p:nvSpPr>
        <p:spPr>
          <a:xfrm>
            <a:off x="8293608" y="1664208"/>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volatility &amp; correlations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Risk factors &amp; exposures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Stress-test &amp; scenario results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drawdowns</a:t>
            </a:r>
            <a:endParaRPr lang="en-US" sz="900" dirty="0"/>
          </a:p>
        </p:txBody>
      </p:sp>
      <p:sp>
        <p:nvSpPr>
          <p:cNvPr id="15" name="Shape 13"/>
          <p:cNvSpPr/>
          <p:nvPr/>
        </p:nvSpPr>
        <p:spPr>
          <a:xfrm>
            <a:off x="502920" y="2862072"/>
            <a:ext cx="3639312" cy="1417320"/>
          </a:xfrm>
          <a:prstGeom prst="roundRect">
            <a:avLst>
              <a:gd name="adj" fmla="val 5161"/>
            </a:avLst>
          </a:prstGeom>
          <a:solidFill>
            <a:srgbClr val="EEEFF3"/>
          </a:solidFill>
          <a:ln/>
          <a:effectLst>
            <a:outerShdw blurRad="76200" dist="25400" dir="5400000" algn="bl" rotWithShape="0">
              <a:srgbClr val="9AA0B0">
                <a:alpha val="25000"/>
              </a:srgbClr>
            </a:outerShdw>
          </a:effectLst>
        </p:spPr>
      </p:sp>
      <p:sp>
        <p:nvSpPr>
          <p:cNvPr id="16" name="Text 14"/>
          <p:cNvSpPr txBox="1"/>
          <p:nvPr/>
        </p:nvSpPr>
        <p:spPr>
          <a:xfrm>
            <a:off x="667512" y="2953512"/>
            <a:ext cx="3364992" cy="256032"/>
          </a:xfrm>
          <a:prstGeom prst="rect">
            <a:avLst/>
          </a:prstGeom>
          <a:noFill/>
          <a:ln/>
        </p:spPr>
        <p:txBody>
          <a:bodyPr wrap="square" lIns="0" tIns="0" rIns="0" bIns="0" rtlCol="0" anchor="ctr"/>
          <a:lstStyle/>
          <a:p>
            <a:pPr marL="0" indent="0">
              <a:buNone/>
            </a:pPr>
            <a:r>
              <a:rPr lang="en-US" sz="1200" b="1" dirty="0">
                <a:solidFill>
                  <a:srgbClr val="121A33"/>
                </a:solidFill>
                <a:latin typeface="Cambria" pitchFamily="34" charset="0"/>
                <a:ea typeface="Cambria" pitchFamily="34" charset="-122"/>
                <a:cs typeface="Cambria" pitchFamily="34" charset="-120"/>
              </a:rPr>
              <a:t>4. Macroeconomic Data</a:t>
            </a:r>
            <a:endParaRPr lang="en-US" sz="1200" dirty="0"/>
          </a:p>
        </p:txBody>
      </p:sp>
      <p:sp>
        <p:nvSpPr>
          <p:cNvPr id="17" name="Text 15"/>
          <p:cNvSpPr txBox="1"/>
          <p:nvPr/>
        </p:nvSpPr>
        <p:spPr>
          <a:xfrm>
            <a:off x="667512" y="3246120"/>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Inflation &amp; GDP indicators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Interest-rate decisions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Employment indicators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Economic growth data</a:t>
            </a:r>
            <a:endParaRPr lang="en-US" sz="900" dirty="0"/>
          </a:p>
        </p:txBody>
      </p:sp>
      <p:sp>
        <p:nvSpPr>
          <p:cNvPr id="18" name="Shape 16"/>
          <p:cNvSpPr/>
          <p:nvPr/>
        </p:nvSpPr>
        <p:spPr>
          <a:xfrm>
            <a:off x="4315968" y="2862072"/>
            <a:ext cx="3639312" cy="1417320"/>
          </a:xfrm>
          <a:prstGeom prst="roundRect">
            <a:avLst>
              <a:gd name="adj" fmla="val 5161"/>
            </a:avLst>
          </a:prstGeom>
          <a:solidFill>
            <a:srgbClr val="EEEFF3"/>
          </a:solidFill>
          <a:ln/>
          <a:effectLst>
            <a:outerShdw blurRad="76200" dist="25400" dir="5400000" algn="bl" rotWithShape="0">
              <a:srgbClr val="9AA0B0">
                <a:alpha val="25000"/>
              </a:srgbClr>
            </a:outerShdw>
          </a:effectLst>
        </p:spPr>
      </p:sp>
      <p:sp>
        <p:nvSpPr>
          <p:cNvPr id="19" name="Text 17"/>
          <p:cNvSpPr txBox="1"/>
          <p:nvPr/>
        </p:nvSpPr>
        <p:spPr>
          <a:xfrm>
            <a:off x="4480560" y="2953512"/>
            <a:ext cx="3364992" cy="256032"/>
          </a:xfrm>
          <a:prstGeom prst="rect">
            <a:avLst/>
          </a:prstGeom>
          <a:noFill/>
          <a:ln/>
        </p:spPr>
        <p:txBody>
          <a:bodyPr wrap="square" lIns="0" tIns="0" rIns="0" bIns="0" rtlCol="0" anchor="ctr"/>
          <a:lstStyle/>
          <a:p>
            <a:pPr marL="0" indent="0">
              <a:buNone/>
            </a:pPr>
            <a:r>
              <a:rPr lang="en-US" sz="1200" b="1" dirty="0">
                <a:solidFill>
                  <a:srgbClr val="121A33"/>
                </a:solidFill>
                <a:latin typeface="Cambria" pitchFamily="34" charset="0"/>
                <a:ea typeface="Cambria" pitchFamily="34" charset="-122"/>
                <a:cs typeface="Cambria" pitchFamily="34" charset="-120"/>
              </a:rPr>
              <a:t>5. Unstructured Data</a:t>
            </a:r>
            <a:endParaRPr lang="en-US" sz="1200" dirty="0"/>
          </a:p>
        </p:txBody>
      </p:sp>
      <p:sp>
        <p:nvSpPr>
          <p:cNvPr id="20" name="Text 18"/>
          <p:cNvSpPr txBox="1"/>
          <p:nvPr/>
        </p:nvSpPr>
        <p:spPr>
          <a:xfrm>
            <a:off x="4480560" y="3246120"/>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Company filings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Economic reports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Central-bank communications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Relevant news &amp; research</a:t>
            </a:r>
            <a:endParaRPr lang="en-US" sz="900" dirty="0"/>
          </a:p>
        </p:txBody>
      </p:sp>
      <p:sp>
        <p:nvSpPr>
          <p:cNvPr id="21" name="Shape 19"/>
          <p:cNvSpPr/>
          <p:nvPr/>
        </p:nvSpPr>
        <p:spPr>
          <a:xfrm>
            <a:off x="8129016" y="2862072"/>
            <a:ext cx="3639312" cy="1417320"/>
          </a:xfrm>
          <a:prstGeom prst="roundRect">
            <a:avLst>
              <a:gd name="adj" fmla="val 5161"/>
            </a:avLst>
          </a:prstGeom>
          <a:solidFill>
            <a:srgbClr val="EEEFF3"/>
          </a:solidFill>
          <a:ln/>
          <a:effectLst>
            <a:outerShdw blurRad="76200" dist="25400" dir="5400000" algn="bl" rotWithShape="0">
              <a:srgbClr val="9AA0B0">
                <a:alpha val="25000"/>
              </a:srgbClr>
            </a:outerShdw>
          </a:effectLst>
        </p:spPr>
      </p:sp>
      <p:sp>
        <p:nvSpPr>
          <p:cNvPr id="22" name="Text 20"/>
          <p:cNvSpPr txBox="1"/>
          <p:nvPr/>
        </p:nvSpPr>
        <p:spPr>
          <a:xfrm>
            <a:off x="8293608" y="2953512"/>
            <a:ext cx="3364992" cy="256032"/>
          </a:xfrm>
          <a:prstGeom prst="rect">
            <a:avLst/>
          </a:prstGeom>
          <a:noFill/>
          <a:ln/>
        </p:spPr>
        <p:txBody>
          <a:bodyPr wrap="square" lIns="0" tIns="0" rIns="0" bIns="0" rtlCol="0" anchor="ctr"/>
          <a:lstStyle/>
          <a:p>
            <a:pPr marL="0" indent="0">
              <a:buNone/>
            </a:pPr>
            <a:r>
              <a:rPr lang="en-US" sz="1200" b="1" dirty="0">
                <a:solidFill>
                  <a:srgbClr val="121A33"/>
                </a:solidFill>
                <a:latin typeface="Cambria" pitchFamily="34" charset="0"/>
                <a:ea typeface="Cambria" pitchFamily="34" charset="-122"/>
                <a:cs typeface="Cambria" pitchFamily="34" charset="-120"/>
              </a:rPr>
              <a:t>6. Historical Data</a:t>
            </a:r>
            <a:endParaRPr lang="en-US" sz="1200" dirty="0"/>
          </a:p>
        </p:txBody>
      </p:sp>
      <p:sp>
        <p:nvSpPr>
          <p:cNvPr id="23" name="Text 21"/>
          <p:cNvSpPr txBox="1"/>
          <p:nvPr/>
        </p:nvSpPr>
        <p:spPr>
          <a:xfrm>
            <a:off x="8293608" y="3246120"/>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market events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Previous portfolio behavior</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Previous stress scenarios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model outputs</a:t>
            </a:r>
            <a:endParaRPr lang="en-US" sz="900" dirty="0"/>
          </a:p>
        </p:txBody>
      </p:sp>
      <p:sp>
        <p:nvSpPr>
          <p:cNvPr id="24" name="Text 22"/>
          <p:cNvSpPr txBox="1"/>
          <p:nvPr/>
        </p:nvSpPr>
        <p:spPr>
          <a:xfrm>
            <a:off x="502920" y="4709160"/>
            <a:ext cx="3657600" cy="256032"/>
          </a:xfrm>
          <a:prstGeom prst="rect">
            <a:avLst/>
          </a:prstGeom>
          <a:noFill/>
          <a:ln/>
        </p:spPr>
        <p:txBody>
          <a:bodyPr wrap="square" lIns="0" tIns="0" rIns="0" bIns="0" rtlCol="0" anchor="ctr"/>
          <a:lstStyle/>
          <a:p>
            <a:pPr marL="0" indent="0">
              <a:buNone/>
            </a:pPr>
            <a:r>
              <a:rPr lang="en-US" sz="1250" b="1" dirty="0">
                <a:solidFill>
                  <a:srgbClr val="121A33"/>
                </a:solidFill>
                <a:latin typeface="Cambria" pitchFamily="34" charset="0"/>
                <a:ea typeface="Cambria" pitchFamily="34" charset="-122"/>
                <a:cs typeface="Cambria" pitchFamily="34" charset="-120"/>
              </a:rPr>
              <a:t>Data Requirements</a:t>
            </a:r>
            <a:endParaRPr lang="en-US" sz="1250" dirty="0"/>
          </a:p>
        </p:txBody>
      </p:sp>
      <p:sp>
        <p:nvSpPr>
          <p:cNvPr id="25" name="Shape 23"/>
          <p:cNvSpPr/>
          <p:nvPr/>
        </p:nvSpPr>
        <p:spPr>
          <a:xfrm>
            <a:off x="502920" y="5029200"/>
            <a:ext cx="1664208" cy="566928"/>
          </a:xfrm>
          <a:prstGeom prst="roundRect">
            <a:avLst>
              <a:gd name="adj" fmla="val 12903"/>
            </a:avLst>
          </a:prstGeom>
          <a:solidFill>
            <a:srgbClr val="121A33"/>
          </a:solidFill>
          <a:ln/>
        </p:spPr>
      </p:sp>
      <p:sp>
        <p:nvSpPr>
          <p:cNvPr id="26" name="Text 24"/>
          <p:cNvSpPr txBox="1"/>
          <p:nvPr/>
        </p:nvSpPr>
        <p:spPr>
          <a:xfrm>
            <a:off x="502920" y="5029200"/>
            <a:ext cx="1664208" cy="566928"/>
          </a:xfrm>
          <a:prstGeom prst="rect">
            <a:avLst/>
          </a:prstGeom>
          <a:noFill/>
          <a:ln/>
        </p:spPr>
        <p:txBody>
          <a:bodyPr wrap="square" lIns="0" tIns="0" rIns="0" bIns="0" rtlCol="0" anchor="ctr"/>
          <a:lstStyle/>
          <a:p>
            <a:pPr marL="0" indent="0" algn="ctr">
              <a:buNone/>
            </a:pPr>
            <a:r>
              <a:rPr lang="en-US" sz="950" b="1" dirty="0">
                <a:solidFill>
                  <a:srgbClr val="C9A24B"/>
                </a:solidFill>
                <a:latin typeface="Calibri" pitchFamily="34" charset="0"/>
                <a:ea typeface="Calibri" pitchFamily="34" charset="-122"/>
                <a:cs typeface="Calibri" pitchFamily="34" charset="-120"/>
              </a:rPr>
              <a:t>Accuracy</a:t>
            </a:r>
            <a:endParaRPr lang="en-US" sz="950" dirty="0"/>
          </a:p>
        </p:txBody>
      </p:sp>
      <p:sp>
        <p:nvSpPr>
          <p:cNvPr id="27" name="Shape 25"/>
          <p:cNvSpPr/>
          <p:nvPr/>
        </p:nvSpPr>
        <p:spPr>
          <a:xfrm>
            <a:off x="2185416" y="5257800"/>
            <a:ext cx="100584" cy="128016"/>
          </a:xfrm>
          <a:prstGeom prst="rightArrow">
            <a:avLst/>
          </a:prstGeom>
          <a:solidFill>
            <a:srgbClr val="C9A24B"/>
          </a:solidFill>
          <a:ln/>
        </p:spPr>
      </p:sp>
      <p:sp>
        <p:nvSpPr>
          <p:cNvPr id="28" name="Shape 26"/>
          <p:cNvSpPr/>
          <p:nvPr/>
        </p:nvSpPr>
        <p:spPr>
          <a:xfrm>
            <a:off x="2304288" y="5029200"/>
            <a:ext cx="1664208" cy="566928"/>
          </a:xfrm>
          <a:prstGeom prst="roundRect">
            <a:avLst>
              <a:gd name="adj" fmla="val 12903"/>
            </a:avLst>
          </a:prstGeom>
          <a:solidFill>
            <a:srgbClr val="121A33"/>
          </a:solidFill>
          <a:ln/>
        </p:spPr>
      </p:sp>
      <p:sp>
        <p:nvSpPr>
          <p:cNvPr id="29" name="Text 27"/>
          <p:cNvSpPr txBox="1"/>
          <p:nvPr/>
        </p:nvSpPr>
        <p:spPr>
          <a:xfrm>
            <a:off x="2304288" y="5029200"/>
            <a:ext cx="1664208" cy="566928"/>
          </a:xfrm>
          <a:prstGeom prst="rect">
            <a:avLst/>
          </a:prstGeom>
          <a:noFill/>
          <a:ln/>
        </p:spPr>
        <p:txBody>
          <a:bodyPr wrap="square" lIns="0" tIns="0" rIns="0" bIns="0" rtlCol="0" anchor="ctr"/>
          <a:lstStyle/>
          <a:p>
            <a:pPr marL="0" indent="0" algn="ctr">
              <a:buNone/>
            </a:pPr>
            <a:r>
              <a:rPr lang="en-US" sz="950" b="1" dirty="0">
                <a:solidFill>
                  <a:srgbClr val="C9A24B"/>
                </a:solidFill>
                <a:latin typeface="Calibri" pitchFamily="34" charset="0"/>
                <a:ea typeface="Calibri" pitchFamily="34" charset="-122"/>
                <a:cs typeface="Calibri" pitchFamily="34" charset="-120"/>
              </a:rPr>
              <a:t>Completeness</a:t>
            </a:r>
            <a:endParaRPr lang="en-US" sz="950" dirty="0"/>
          </a:p>
        </p:txBody>
      </p:sp>
      <p:sp>
        <p:nvSpPr>
          <p:cNvPr id="30" name="Shape 28"/>
          <p:cNvSpPr/>
          <p:nvPr/>
        </p:nvSpPr>
        <p:spPr>
          <a:xfrm>
            <a:off x="3986784" y="5257800"/>
            <a:ext cx="100584" cy="128016"/>
          </a:xfrm>
          <a:prstGeom prst="rightArrow">
            <a:avLst/>
          </a:prstGeom>
          <a:solidFill>
            <a:srgbClr val="C9A24B"/>
          </a:solidFill>
          <a:ln/>
        </p:spPr>
      </p:sp>
      <p:sp>
        <p:nvSpPr>
          <p:cNvPr id="31" name="Shape 29"/>
          <p:cNvSpPr/>
          <p:nvPr/>
        </p:nvSpPr>
        <p:spPr>
          <a:xfrm>
            <a:off x="4105656" y="5029200"/>
            <a:ext cx="1664208" cy="566928"/>
          </a:xfrm>
          <a:prstGeom prst="roundRect">
            <a:avLst>
              <a:gd name="adj" fmla="val 12903"/>
            </a:avLst>
          </a:prstGeom>
          <a:solidFill>
            <a:srgbClr val="121A33"/>
          </a:solidFill>
          <a:ln/>
        </p:spPr>
      </p:sp>
      <p:sp>
        <p:nvSpPr>
          <p:cNvPr id="32" name="Text 30"/>
          <p:cNvSpPr txBox="1"/>
          <p:nvPr/>
        </p:nvSpPr>
        <p:spPr>
          <a:xfrm>
            <a:off x="4105656" y="5029200"/>
            <a:ext cx="1664208" cy="566928"/>
          </a:xfrm>
          <a:prstGeom prst="rect">
            <a:avLst/>
          </a:prstGeom>
          <a:noFill/>
          <a:ln/>
        </p:spPr>
        <p:txBody>
          <a:bodyPr wrap="square" lIns="0" tIns="0" rIns="0" bIns="0" rtlCol="0" anchor="ctr"/>
          <a:lstStyle/>
          <a:p>
            <a:pPr marL="0" indent="0" algn="ctr">
              <a:buNone/>
            </a:pPr>
            <a:r>
              <a:rPr lang="en-US" sz="950" b="1" dirty="0">
                <a:solidFill>
                  <a:srgbClr val="C9A24B"/>
                </a:solidFill>
                <a:latin typeface="Calibri" pitchFamily="34" charset="0"/>
                <a:ea typeface="Calibri" pitchFamily="34" charset="-122"/>
                <a:cs typeface="Calibri" pitchFamily="34" charset="-120"/>
              </a:rPr>
              <a:t>Timeliness</a:t>
            </a:r>
            <a:endParaRPr lang="en-US" sz="950" dirty="0"/>
          </a:p>
        </p:txBody>
      </p:sp>
      <p:sp>
        <p:nvSpPr>
          <p:cNvPr id="33" name="Shape 31"/>
          <p:cNvSpPr/>
          <p:nvPr/>
        </p:nvSpPr>
        <p:spPr>
          <a:xfrm>
            <a:off x="5788152" y="5257800"/>
            <a:ext cx="100584" cy="128016"/>
          </a:xfrm>
          <a:prstGeom prst="rightArrow">
            <a:avLst/>
          </a:prstGeom>
          <a:solidFill>
            <a:srgbClr val="C9A24B"/>
          </a:solidFill>
          <a:ln/>
        </p:spPr>
      </p:sp>
      <p:sp>
        <p:nvSpPr>
          <p:cNvPr id="34" name="Shape 32"/>
          <p:cNvSpPr/>
          <p:nvPr/>
        </p:nvSpPr>
        <p:spPr>
          <a:xfrm>
            <a:off x="5907024" y="5029200"/>
            <a:ext cx="1664208" cy="566928"/>
          </a:xfrm>
          <a:prstGeom prst="roundRect">
            <a:avLst>
              <a:gd name="adj" fmla="val 12903"/>
            </a:avLst>
          </a:prstGeom>
          <a:solidFill>
            <a:srgbClr val="121A33"/>
          </a:solidFill>
          <a:ln/>
        </p:spPr>
      </p:sp>
      <p:sp>
        <p:nvSpPr>
          <p:cNvPr id="35" name="Text 33"/>
          <p:cNvSpPr txBox="1"/>
          <p:nvPr/>
        </p:nvSpPr>
        <p:spPr>
          <a:xfrm>
            <a:off x="5907024" y="5029200"/>
            <a:ext cx="1664208" cy="566928"/>
          </a:xfrm>
          <a:prstGeom prst="rect">
            <a:avLst/>
          </a:prstGeom>
          <a:noFill/>
          <a:ln/>
        </p:spPr>
        <p:txBody>
          <a:bodyPr wrap="square" lIns="0" tIns="0" rIns="0" bIns="0" rtlCol="0" anchor="ctr"/>
          <a:lstStyle/>
          <a:p>
            <a:pPr marL="0" indent="0" algn="ctr">
              <a:buNone/>
            </a:pPr>
            <a:r>
              <a:rPr lang="en-US" sz="950" b="1" dirty="0">
                <a:solidFill>
                  <a:srgbClr val="C9A24B"/>
                </a:solidFill>
                <a:latin typeface="Calibri" pitchFamily="34" charset="0"/>
                <a:ea typeface="Calibri" pitchFamily="34" charset="-122"/>
                <a:cs typeface="Calibri" pitchFamily="34" charset="-120"/>
              </a:rPr>
              <a:t>Consistency</a:t>
            </a:r>
            <a:endParaRPr lang="en-US" sz="950" dirty="0"/>
          </a:p>
        </p:txBody>
      </p:sp>
      <p:sp>
        <p:nvSpPr>
          <p:cNvPr id="36" name="Shape 34"/>
          <p:cNvSpPr/>
          <p:nvPr/>
        </p:nvSpPr>
        <p:spPr>
          <a:xfrm>
            <a:off x="7589520" y="5257800"/>
            <a:ext cx="100584" cy="128016"/>
          </a:xfrm>
          <a:prstGeom prst="rightArrow">
            <a:avLst/>
          </a:prstGeom>
          <a:solidFill>
            <a:srgbClr val="C9A24B"/>
          </a:solidFill>
          <a:ln/>
        </p:spPr>
      </p:sp>
      <p:sp>
        <p:nvSpPr>
          <p:cNvPr id="37" name="Shape 35"/>
          <p:cNvSpPr/>
          <p:nvPr/>
        </p:nvSpPr>
        <p:spPr>
          <a:xfrm>
            <a:off x="7708392" y="5029200"/>
            <a:ext cx="1664208" cy="566928"/>
          </a:xfrm>
          <a:prstGeom prst="roundRect">
            <a:avLst>
              <a:gd name="adj" fmla="val 12903"/>
            </a:avLst>
          </a:prstGeom>
          <a:solidFill>
            <a:srgbClr val="121A33"/>
          </a:solidFill>
          <a:ln/>
        </p:spPr>
      </p:sp>
      <p:sp>
        <p:nvSpPr>
          <p:cNvPr id="38" name="Text 36"/>
          <p:cNvSpPr txBox="1"/>
          <p:nvPr/>
        </p:nvSpPr>
        <p:spPr>
          <a:xfrm>
            <a:off x="7708392" y="5029200"/>
            <a:ext cx="1664208" cy="566928"/>
          </a:xfrm>
          <a:prstGeom prst="rect">
            <a:avLst/>
          </a:prstGeom>
          <a:noFill/>
          <a:ln/>
        </p:spPr>
        <p:txBody>
          <a:bodyPr wrap="square" lIns="0" tIns="0" rIns="0" bIns="0" rtlCol="0" anchor="ctr"/>
          <a:lstStyle/>
          <a:p>
            <a:pPr marL="0" indent="0" algn="ctr">
              <a:buNone/>
            </a:pPr>
            <a:r>
              <a:rPr lang="en-US" sz="950" b="1" dirty="0">
                <a:solidFill>
                  <a:srgbClr val="C9A24B"/>
                </a:solidFill>
                <a:latin typeface="Calibri" pitchFamily="34" charset="0"/>
                <a:ea typeface="Calibri" pitchFamily="34" charset="-122"/>
                <a:cs typeface="Calibri" pitchFamily="34" charset="-120"/>
              </a:rPr>
              <a:t>Security</a:t>
            </a:r>
            <a:endParaRPr lang="en-US" sz="950" dirty="0"/>
          </a:p>
        </p:txBody>
      </p:sp>
      <p:sp>
        <p:nvSpPr>
          <p:cNvPr id="39" name="Shape 37"/>
          <p:cNvSpPr/>
          <p:nvPr/>
        </p:nvSpPr>
        <p:spPr>
          <a:xfrm>
            <a:off x="9390888" y="5257800"/>
            <a:ext cx="100584" cy="128016"/>
          </a:xfrm>
          <a:prstGeom prst="rightArrow">
            <a:avLst/>
          </a:prstGeom>
          <a:solidFill>
            <a:srgbClr val="C9A24B"/>
          </a:solidFill>
          <a:ln/>
        </p:spPr>
      </p:sp>
      <p:sp>
        <p:nvSpPr>
          <p:cNvPr id="40" name="Shape 38"/>
          <p:cNvSpPr/>
          <p:nvPr/>
        </p:nvSpPr>
        <p:spPr>
          <a:xfrm>
            <a:off x="9509760" y="5029200"/>
            <a:ext cx="1664208" cy="566928"/>
          </a:xfrm>
          <a:prstGeom prst="roundRect">
            <a:avLst>
              <a:gd name="adj" fmla="val 12903"/>
            </a:avLst>
          </a:prstGeom>
          <a:solidFill>
            <a:srgbClr val="121A33"/>
          </a:solidFill>
          <a:ln/>
        </p:spPr>
      </p:sp>
      <p:sp>
        <p:nvSpPr>
          <p:cNvPr id="41" name="Text 39"/>
          <p:cNvSpPr txBox="1"/>
          <p:nvPr/>
        </p:nvSpPr>
        <p:spPr>
          <a:xfrm>
            <a:off x="9509760" y="5029200"/>
            <a:ext cx="1664208" cy="566928"/>
          </a:xfrm>
          <a:prstGeom prst="rect">
            <a:avLst/>
          </a:prstGeom>
          <a:noFill/>
          <a:ln/>
        </p:spPr>
        <p:txBody>
          <a:bodyPr wrap="square" lIns="0" tIns="0" rIns="0" bIns="0" rtlCol="0" anchor="ctr"/>
          <a:lstStyle/>
          <a:p>
            <a:pPr marL="0" indent="0" algn="ctr">
              <a:buNone/>
            </a:pPr>
            <a:r>
              <a:rPr lang="en-US" sz="950" b="1" dirty="0">
                <a:solidFill>
                  <a:srgbClr val="C9A24B"/>
                </a:solidFill>
                <a:latin typeface="Calibri" pitchFamily="34" charset="0"/>
                <a:ea typeface="Calibri" pitchFamily="34" charset="-122"/>
                <a:cs typeface="Calibri" pitchFamily="34" charset="-120"/>
              </a:rPr>
              <a:t>Data Lineage</a:t>
            </a:r>
            <a:endParaRPr lang="en-US" sz="950" dirty="0"/>
          </a:p>
        </p:txBody>
      </p:sp>
      <p:sp>
        <p:nvSpPr>
          <p:cNvPr id="42" name="Text 40"/>
          <p:cNvSpPr txBox="1"/>
          <p:nvPr/>
        </p:nvSpPr>
        <p:spPr>
          <a:xfrm>
            <a:off x="502920" y="5779008"/>
            <a:ext cx="11155680" cy="457200"/>
          </a:xfrm>
          <a:prstGeom prst="rect">
            <a:avLst/>
          </a:prstGeom>
          <a:noFill/>
          <a:ln/>
        </p:spPr>
        <p:txBody>
          <a:bodyPr wrap="square" lIns="0" tIns="0" rIns="0" bIns="0" rtlCol="0" anchor="ctr"/>
          <a:lstStyle/>
          <a:p>
            <a:pPr marL="0" indent="0">
              <a:buNone/>
            </a:pPr>
            <a:r>
              <a:rPr lang="en-US" sz="1050" i="1" dirty="0">
                <a:solidFill>
                  <a:srgbClr val="5B6072"/>
                </a:solidFill>
                <a:latin typeface="Calibri" pitchFamily="34" charset="0"/>
                <a:ea typeface="Calibri" pitchFamily="34" charset="-122"/>
                <a:cs typeface="Calibri" pitchFamily="34" charset="-120"/>
              </a:rPr>
              <a:t>Sensitive client and portfolio data requires strong access controls and governance throughout.</a:t>
            </a:r>
            <a:endParaRPr lang="en-US" sz="1050" dirty="0"/>
          </a:p>
        </p:txBody>
      </p:sp>
      <p:sp>
        <p:nvSpPr>
          <p:cNvPr id="43" name="Text 41"/>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4" name="Text 42"/>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PROPOSED DESIGN</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AI/ML Solution</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05 / 12</a:t>
            </a:r>
            <a:endParaRPr lang="en-US" sz="1050" dirty="0"/>
          </a:p>
        </p:txBody>
      </p:sp>
      <p:sp>
        <p:nvSpPr>
          <p:cNvPr id="6" name="Shape 4"/>
          <p:cNvSpPr/>
          <p:nvPr/>
        </p:nvSpPr>
        <p:spPr>
          <a:xfrm>
            <a:off x="8138160" y="365760"/>
            <a:ext cx="3566160" cy="292608"/>
          </a:xfrm>
          <a:prstGeom prst="roundRect">
            <a:avLst>
              <a:gd name="adj" fmla="val 50000"/>
            </a:avLst>
          </a:prstGeom>
          <a:solidFill>
            <a:srgbClr val="C9A24B"/>
          </a:solidFill>
          <a:ln/>
        </p:spPr>
      </p:sp>
      <p:sp>
        <p:nvSpPr>
          <p:cNvPr id="7" name="Text 5"/>
          <p:cNvSpPr txBox="1"/>
          <p:nvPr/>
        </p:nvSpPr>
        <p:spPr>
          <a:xfrm>
            <a:off x="8138160" y="365760"/>
            <a:ext cx="3566160" cy="292608"/>
          </a:xfrm>
          <a:prstGeom prst="rect">
            <a:avLst/>
          </a:prstGeom>
          <a:noFill/>
          <a:ln/>
        </p:spPr>
        <p:txBody>
          <a:bodyPr wrap="square" lIns="0" tIns="0" rIns="0" bIns="0" rtlCol="0" anchor="ctr"/>
          <a:lstStyle/>
          <a:p>
            <a:pPr marL="0" indent="0" algn="ctr">
              <a:buNone/>
            </a:pPr>
            <a:r>
              <a:rPr lang="en-US" sz="900" b="1" kern="0" spc="100" dirty="0">
                <a:solidFill>
                  <a:srgbClr val="121A33"/>
                </a:solidFill>
                <a:latin typeface="Calibri" pitchFamily="34" charset="0"/>
                <a:ea typeface="Calibri" pitchFamily="34" charset="-122"/>
                <a:cs typeface="Calibri" pitchFamily="34" charset="-120"/>
              </a:rPr>
              <a:t>PROPOSED ACADEMIC AI/ML ENHANCEMENT</a:t>
            </a:r>
            <a:endParaRPr lang="en-US" sz="900" dirty="0"/>
          </a:p>
        </p:txBody>
      </p:sp>
      <p:sp>
        <p:nvSpPr>
          <p:cNvPr id="8" name="Text 6"/>
          <p:cNvSpPr txBox="1"/>
          <p:nvPr/>
        </p:nvSpPr>
        <p:spPr>
          <a:xfrm>
            <a:off x="502920" y="1234440"/>
            <a:ext cx="5486400" cy="320040"/>
          </a:xfrm>
          <a:prstGeom prst="rect">
            <a:avLst/>
          </a:prstGeom>
          <a:noFill/>
          <a:ln/>
        </p:spPr>
        <p:txBody>
          <a:bodyPr wrap="square" lIns="0" tIns="0" rIns="0" bIns="0" rtlCol="0" anchor="ctr"/>
          <a:lstStyle/>
          <a:p>
            <a:pPr marL="0" indent="0">
              <a:buNone/>
            </a:pPr>
            <a:r>
              <a:rPr lang="en-US" sz="1400" b="1" dirty="0">
                <a:solidFill>
                  <a:srgbClr val="121A33"/>
                </a:solidFill>
                <a:latin typeface="Cambria" pitchFamily="34" charset="0"/>
                <a:ea typeface="Cambria" pitchFamily="34" charset="-122"/>
                <a:cs typeface="Cambria" pitchFamily="34" charset="-120"/>
              </a:rPr>
              <a:t>AI-Enhanced Portfolio Risk Intelligence — Components</a:t>
            </a:r>
            <a:endParaRPr lang="en-US" sz="1400" dirty="0"/>
          </a:p>
        </p:txBody>
      </p:sp>
      <p:sp>
        <p:nvSpPr>
          <p:cNvPr id="9" name="Shape 7"/>
          <p:cNvSpPr/>
          <p:nvPr/>
        </p:nvSpPr>
        <p:spPr>
          <a:xfrm>
            <a:off x="502920" y="1627632"/>
            <a:ext cx="5440680" cy="841248"/>
          </a:xfrm>
          <a:prstGeom prst="roundRect">
            <a:avLst>
              <a:gd name="adj" fmla="val 8696"/>
            </a:avLst>
          </a:prstGeom>
          <a:solidFill>
            <a:srgbClr val="EEEFF3"/>
          </a:solidFill>
          <a:ln/>
          <a:effectLst>
            <a:outerShdw blurRad="76200" dist="25400" dir="5400000" algn="bl" rotWithShape="0">
              <a:srgbClr val="9AA0B0">
                <a:alpha val="25000"/>
              </a:srgbClr>
            </a:outerShdw>
          </a:effectLst>
        </p:spPr>
      </p:sp>
      <p:sp>
        <p:nvSpPr>
          <p:cNvPr id="10" name="Shape 8"/>
          <p:cNvSpPr/>
          <p:nvPr/>
        </p:nvSpPr>
        <p:spPr>
          <a:xfrm>
            <a:off x="658368" y="1755648"/>
            <a:ext cx="365760" cy="365760"/>
          </a:xfrm>
          <a:prstGeom prst="ellipse">
            <a:avLst/>
          </a:prstGeom>
          <a:solidFill>
            <a:srgbClr val="121A33"/>
          </a:solidFill>
          <a:ln/>
        </p:spPr>
      </p:sp>
      <p:sp>
        <p:nvSpPr>
          <p:cNvPr id="11" name="Text 9"/>
          <p:cNvSpPr txBox="1"/>
          <p:nvPr/>
        </p:nvSpPr>
        <p:spPr>
          <a:xfrm>
            <a:off x="658368" y="1755648"/>
            <a:ext cx="365760" cy="365760"/>
          </a:xfrm>
          <a:prstGeom prst="rect">
            <a:avLst/>
          </a:prstGeom>
          <a:noFill/>
          <a:ln/>
        </p:spPr>
        <p:txBody>
          <a:bodyPr wrap="square" lIns="0" tIns="0" rIns="0" bIns="0" rtlCol="0" anchor="ctr"/>
          <a:lstStyle/>
          <a:p>
            <a:pPr marL="0" indent="0" algn="ctr">
              <a:buNone/>
            </a:pPr>
            <a:r>
              <a:rPr lang="en-US" sz="1300" b="1" dirty="0">
                <a:solidFill>
                  <a:srgbClr val="C9A24B"/>
                </a:solidFill>
              </a:rPr>
              <a:t>1</a:t>
            </a:r>
            <a:endParaRPr lang="en-US" sz="1300" dirty="0"/>
          </a:p>
        </p:txBody>
      </p:sp>
      <p:sp>
        <p:nvSpPr>
          <p:cNvPr id="12" name="Text 10"/>
          <p:cNvSpPr txBox="1"/>
          <p:nvPr/>
        </p:nvSpPr>
        <p:spPr>
          <a:xfrm>
            <a:off x="1170432" y="1700784"/>
            <a:ext cx="4617720" cy="237744"/>
          </a:xfrm>
          <a:prstGeom prst="rect">
            <a:avLst/>
          </a:prstGeom>
          <a:noFill/>
          <a:ln/>
        </p:spPr>
        <p:txBody>
          <a:bodyPr wrap="square" lIns="0" tIns="0" rIns="0" bIns="0" rtlCol="0" anchor="ctr"/>
          <a:lstStyle/>
          <a:p>
            <a:pPr marL="0" indent="0">
              <a:buNone/>
            </a:pPr>
            <a:r>
              <a:rPr lang="en-US" sz="1150" b="1" dirty="0">
                <a:solidFill>
                  <a:srgbClr val="121A33"/>
                </a:solidFill>
                <a:latin typeface="Calibri" pitchFamily="34" charset="0"/>
                <a:ea typeface="Calibri" pitchFamily="34" charset="-122"/>
                <a:cs typeface="Calibri" pitchFamily="34" charset="-120"/>
              </a:rPr>
              <a:t>Machine Learning</a:t>
            </a:r>
            <a:endParaRPr lang="en-US" sz="1150" dirty="0"/>
          </a:p>
        </p:txBody>
      </p:sp>
      <p:sp>
        <p:nvSpPr>
          <p:cNvPr id="13" name="Text 11"/>
          <p:cNvSpPr txBox="1"/>
          <p:nvPr/>
        </p:nvSpPr>
        <p:spPr>
          <a:xfrm>
            <a:off x="1170432" y="1947672"/>
            <a:ext cx="4663440" cy="475488"/>
          </a:xfrm>
          <a:prstGeom prst="rect">
            <a:avLst/>
          </a:prstGeom>
          <a:noFill/>
          <a:ln/>
        </p:spPr>
        <p:txBody>
          <a:bodyPr wrap="square" lIns="0" tIns="0" rIns="0" bIns="0" rtlCol="0" anchor="ctr"/>
          <a:lstStyle/>
          <a:p>
            <a:pPr marL="0" indent="0">
              <a:lnSpc>
                <a:spcPct val="100000"/>
              </a:lnSpc>
              <a:buNone/>
            </a:pPr>
            <a:r>
              <a:rPr lang="en-US" sz="900" dirty="0">
                <a:solidFill>
                  <a:srgbClr val="5B6072"/>
                </a:solidFill>
                <a:latin typeface="Calibri" pitchFamily="34" charset="0"/>
                <a:ea typeface="Calibri" pitchFamily="34" charset="-122"/>
                <a:cs typeface="Calibri" pitchFamily="34" charset="-120"/>
              </a:rPr>
              <a:t>Anomaly detection, risk-pattern identification, risk classification, predictive analytics, portfolio behavior analysis</a:t>
            </a:r>
            <a:endParaRPr lang="en-US" sz="900" dirty="0"/>
          </a:p>
        </p:txBody>
      </p:sp>
      <p:sp>
        <p:nvSpPr>
          <p:cNvPr id="14" name="Shape 12"/>
          <p:cNvSpPr/>
          <p:nvPr/>
        </p:nvSpPr>
        <p:spPr>
          <a:xfrm>
            <a:off x="502920" y="2587752"/>
            <a:ext cx="5440680" cy="841248"/>
          </a:xfrm>
          <a:prstGeom prst="roundRect">
            <a:avLst>
              <a:gd name="adj" fmla="val 8696"/>
            </a:avLst>
          </a:prstGeom>
          <a:solidFill>
            <a:srgbClr val="EEEFF3"/>
          </a:solidFill>
          <a:ln/>
          <a:effectLst>
            <a:outerShdw blurRad="76200" dist="25400" dir="5400000" algn="bl" rotWithShape="0">
              <a:srgbClr val="9AA0B0">
                <a:alpha val="25000"/>
              </a:srgbClr>
            </a:outerShdw>
          </a:effectLst>
        </p:spPr>
      </p:sp>
      <p:sp>
        <p:nvSpPr>
          <p:cNvPr id="15" name="Shape 13"/>
          <p:cNvSpPr/>
          <p:nvPr/>
        </p:nvSpPr>
        <p:spPr>
          <a:xfrm>
            <a:off x="658368" y="2715768"/>
            <a:ext cx="365760" cy="365760"/>
          </a:xfrm>
          <a:prstGeom prst="ellipse">
            <a:avLst/>
          </a:prstGeom>
          <a:solidFill>
            <a:srgbClr val="121A33"/>
          </a:solidFill>
          <a:ln/>
        </p:spPr>
      </p:sp>
      <p:sp>
        <p:nvSpPr>
          <p:cNvPr id="16" name="Text 14"/>
          <p:cNvSpPr txBox="1"/>
          <p:nvPr/>
        </p:nvSpPr>
        <p:spPr>
          <a:xfrm>
            <a:off x="658368" y="2715768"/>
            <a:ext cx="365760" cy="365760"/>
          </a:xfrm>
          <a:prstGeom prst="rect">
            <a:avLst/>
          </a:prstGeom>
          <a:noFill/>
          <a:ln/>
        </p:spPr>
        <p:txBody>
          <a:bodyPr wrap="square" lIns="0" tIns="0" rIns="0" bIns="0" rtlCol="0" anchor="ctr"/>
          <a:lstStyle/>
          <a:p>
            <a:pPr marL="0" indent="0" algn="ctr">
              <a:buNone/>
            </a:pPr>
            <a:r>
              <a:rPr lang="en-US" sz="1300" b="1" dirty="0">
                <a:solidFill>
                  <a:srgbClr val="C9A24B"/>
                </a:solidFill>
              </a:rPr>
              <a:t>2</a:t>
            </a:r>
            <a:endParaRPr lang="en-US" sz="1300" dirty="0"/>
          </a:p>
        </p:txBody>
      </p:sp>
      <p:sp>
        <p:nvSpPr>
          <p:cNvPr id="17" name="Text 15"/>
          <p:cNvSpPr txBox="1"/>
          <p:nvPr/>
        </p:nvSpPr>
        <p:spPr>
          <a:xfrm>
            <a:off x="1170432" y="2660904"/>
            <a:ext cx="4617720" cy="237744"/>
          </a:xfrm>
          <a:prstGeom prst="rect">
            <a:avLst/>
          </a:prstGeom>
          <a:noFill/>
          <a:ln/>
        </p:spPr>
        <p:txBody>
          <a:bodyPr wrap="square" lIns="0" tIns="0" rIns="0" bIns="0" rtlCol="0" anchor="ctr"/>
          <a:lstStyle/>
          <a:p>
            <a:pPr marL="0" indent="0">
              <a:buNone/>
            </a:pPr>
            <a:r>
              <a:rPr lang="en-US" sz="1150" b="1" dirty="0">
                <a:solidFill>
                  <a:srgbClr val="121A33"/>
                </a:solidFill>
                <a:latin typeface="Calibri" pitchFamily="34" charset="0"/>
                <a:ea typeface="Calibri" pitchFamily="34" charset="-122"/>
                <a:cs typeface="Calibri" pitchFamily="34" charset="-120"/>
              </a:rPr>
              <a:t>NLP / Generative AI</a:t>
            </a:r>
            <a:endParaRPr lang="en-US" sz="1150" dirty="0"/>
          </a:p>
        </p:txBody>
      </p:sp>
      <p:sp>
        <p:nvSpPr>
          <p:cNvPr id="18" name="Text 16"/>
          <p:cNvSpPr txBox="1"/>
          <p:nvPr/>
        </p:nvSpPr>
        <p:spPr>
          <a:xfrm>
            <a:off x="1170432" y="2907792"/>
            <a:ext cx="4663440" cy="475488"/>
          </a:xfrm>
          <a:prstGeom prst="rect">
            <a:avLst/>
          </a:prstGeom>
          <a:noFill/>
          <a:ln/>
        </p:spPr>
        <p:txBody>
          <a:bodyPr wrap="square" lIns="0" tIns="0" rIns="0" bIns="0" rtlCol="0" anchor="ctr"/>
          <a:lstStyle/>
          <a:p>
            <a:pPr marL="0" indent="0">
              <a:lnSpc>
                <a:spcPct val="100000"/>
              </a:lnSpc>
              <a:buNone/>
            </a:pPr>
            <a:r>
              <a:rPr lang="en-US" sz="900" dirty="0">
                <a:solidFill>
                  <a:srgbClr val="5B6072"/>
                </a:solidFill>
                <a:latin typeface="Calibri" pitchFamily="34" charset="0"/>
                <a:ea typeface="Calibri" pitchFamily="34" charset="-122"/>
                <a:cs typeface="Calibri" pitchFamily="34" charset="-120"/>
              </a:rPr>
              <a:t>Natural-language portfolio queries, risk explanations, market-event and scenario summaries</a:t>
            </a:r>
            <a:endParaRPr lang="en-US" sz="900" dirty="0"/>
          </a:p>
        </p:txBody>
      </p:sp>
      <p:sp>
        <p:nvSpPr>
          <p:cNvPr id="19" name="Shape 17"/>
          <p:cNvSpPr/>
          <p:nvPr/>
        </p:nvSpPr>
        <p:spPr>
          <a:xfrm>
            <a:off x="502920" y="3547872"/>
            <a:ext cx="5440680" cy="841248"/>
          </a:xfrm>
          <a:prstGeom prst="roundRect">
            <a:avLst>
              <a:gd name="adj" fmla="val 8696"/>
            </a:avLst>
          </a:prstGeom>
          <a:solidFill>
            <a:srgbClr val="EEEFF3"/>
          </a:solidFill>
          <a:ln/>
          <a:effectLst>
            <a:outerShdw blurRad="76200" dist="25400" dir="5400000" algn="bl" rotWithShape="0">
              <a:srgbClr val="9AA0B0">
                <a:alpha val="25000"/>
              </a:srgbClr>
            </a:outerShdw>
          </a:effectLst>
        </p:spPr>
      </p:sp>
      <p:sp>
        <p:nvSpPr>
          <p:cNvPr id="20" name="Shape 18"/>
          <p:cNvSpPr/>
          <p:nvPr/>
        </p:nvSpPr>
        <p:spPr>
          <a:xfrm>
            <a:off x="658368" y="3675888"/>
            <a:ext cx="365760" cy="365760"/>
          </a:xfrm>
          <a:prstGeom prst="ellipse">
            <a:avLst/>
          </a:prstGeom>
          <a:solidFill>
            <a:srgbClr val="121A33"/>
          </a:solidFill>
          <a:ln/>
        </p:spPr>
      </p:sp>
      <p:sp>
        <p:nvSpPr>
          <p:cNvPr id="21" name="Text 19"/>
          <p:cNvSpPr txBox="1"/>
          <p:nvPr/>
        </p:nvSpPr>
        <p:spPr>
          <a:xfrm>
            <a:off x="658368" y="3675888"/>
            <a:ext cx="365760" cy="365760"/>
          </a:xfrm>
          <a:prstGeom prst="rect">
            <a:avLst/>
          </a:prstGeom>
          <a:noFill/>
          <a:ln/>
        </p:spPr>
        <p:txBody>
          <a:bodyPr wrap="square" lIns="0" tIns="0" rIns="0" bIns="0" rtlCol="0" anchor="ctr"/>
          <a:lstStyle/>
          <a:p>
            <a:pPr marL="0" indent="0" algn="ctr">
              <a:buNone/>
            </a:pPr>
            <a:r>
              <a:rPr lang="en-US" sz="1300" b="1" dirty="0">
                <a:solidFill>
                  <a:srgbClr val="C9A24B"/>
                </a:solidFill>
              </a:rPr>
              <a:t>3</a:t>
            </a:r>
            <a:endParaRPr lang="en-US" sz="1300" dirty="0"/>
          </a:p>
        </p:txBody>
      </p:sp>
      <p:sp>
        <p:nvSpPr>
          <p:cNvPr id="22" name="Text 20"/>
          <p:cNvSpPr txBox="1"/>
          <p:nvPr/>
        </p:nvSpPr>
        <p:spPr>
          <a:xfrm>
            <a:off x="1170432" y="3621024"/>
            <a:ext cx="4617720" cy="237744"/>
          </a:xfrm>
          <a:prstGeom prst="rect">
            <a:avLst/>
          </a:prstGeom>
          <a:noFill/>
          <a:ln/>
        </p:spPr>
        <p:txBody>
          <a:bodyPr wrap="square" lIns="0" tIns="0" rIns="0" bIns="0" rtlCol="0" anchor="ctr"/>
          <a:lstStyle/>
          <a:p>
            <a:pPr marL="0" indent="0">
              <a:buNone/>
            </a:pPr>
            <a:r>
              <a:rPr lang="en-US" sz="1150" b="1" dirty="0">
                <a:solidFill>
                  <a:srgbClr val="121A33"/>
                </a:solidFill>
                <a:latin typeface="Calibri" pitchFamily="34" charset="0"/>
                <a:ea typeface="Calibri" pitchFamily="34" charset="-122"/>
                <a:cs typeface="Calibri" pitchFamily="34" charset="-120"/>
              </a:rPr>
              <a:t>Existing Analytics Layer</a:t>
            </a:r>
            <a:endParaRPr lang="en-US" sz="1150" dirty="0"/>
          </a:p>
        </p:txBody>
      </p:sp>
      <p:sp>
        <p:nvSpPr>
          <p:cNvPr id="23" name="Text 21"/>
          <p:cNvSpPr txBox="1"/>
          <p:nvPr/>
        </p:nvSpPr>
        <p:spPr>
          <a:xfrm>
            <a:off x="1170432" y="3867912"/>
            <a:ext cx="4663440" cy="475488"/>
          </a:xfrm>
          <a:prstGeom prst="rect">
            <a:avLst/>
          </a:prstGeom>
          <a:noFill/>
          <a:ln/>
        </p:spPr>
        <p:txBody>
          <a:bodyPr wrap="square" lIns="0" tIns="0" rIns="0" bIns="0" rtlCol="0" anchor="ctr"/>
          <a:lstStyle/>
          <a:p>
            <a:pPr marL="0" indent="0">
              <a:lnSpc>
                <a:spcPct val="100000"/>
              </a:lnSpc>
              <a:buNone/>
            </a:pPr>
            <a:r>
              <a:rPr lang="en-US" sz="900" dirty="0">
                <a:solidFill>
                  <a:srgbClr val="5B6072"/>
                </a:solidFill>
                <a:latin typeface="Calibri" pitchFamily="34" charset="0"/>
                <a:ea typeface="Calibri" pitchFamily="34" charset="-122"/>
                <a:cs typeface="Calibri" pitchFamily="34" charset="-120"/>
              </a:rPr>
              <a:t>Builds on existing portfolio and risk analytics where publicly documented</a:t>
            </a:r>
            <a:endParaRPr lang="en-US" sz="900" dirty="0"/>
          </a:p>
        </p:txBody>
      </p:sp>
      <p:sp>
        <p:nvSpPr>
          <p:cNvPr id="24" name="Shape 22"/>
          <p:cNvSpPr/>
          <p:nvPr/>
        </p:nvSpPr>
        <p:spPr>
          <a:xfrm>
            <a:off x="502920" y="4507992"/>
            <a:ext cx="5440680" cy="841248"/>
          </a:xfrm>
          <a:prstGeom prst="roundRect">
            <a:avLst>
              <a:gd name="adj" fmla="val 8696"/>
            </a:avLst>
          </a:prstGeom>
          <a:solidFill>
            <a:srgbClr val="EEEFF3"/>
          </a:solidFill>
          <a:ln/>
          <a:effectLst>
            <a:outerShdw blurRad="76200" dist="25400" dir="5400000" algn="bl" rotWithShape="0">
              <a:srgbClr val="9AA0B0">
                <a:alpha val="25000"/>
              </a:srgbClr>
            </a:outerShdw>
          </a:effectLst>
        </p:spPr>
      </p:sp>
      <p:sp>
        <p:nvSpPr>
          <p:cNvPr id="25" name="Shape 23"/>
          <p:cNvSpPr/>
          <p:nvPr/>
        </p:nvSpPr>
        <p:spPr>
          <a:xfrm>
            <a:off x="658368" y="4636008"/>
            <a:ext cx="365760" cy="365760"/>
          </a:xfrm>
          <a:prstGeom prst="ellipse">
            <a:avLst/>
          </a:prstGeom>
          <a:solidFill>
            <a:srgbClr val="121A33"/>
          </a:solidFill>
          <a:ln/>
        </p:spPr>
      </p:sp>
      <p:sp>
        <p:nvSpPr>
          <p:cNvPr id="26" name="Text 24"/>
          <p:cNvSpPr txBox="1"/>
          <p:nvPr/>
        </p:nvSpPr>
        <p:spPr>
          <a:xfrm>
            <a:off x="658368" y="4636008"/>
            <a:ext cx="365760" cy="365760"/>
          </a:xfrm>
          <a:prstGeom prst="rect">
            <a:avLst/>
          </a:prstGeom>
          <a:noFill/>
          <a:ln/>
        </p:spPr>
        <p:txBody>
          <a:bodyPr wrap="square" lIns="0" tIns="0" rIns="0" bIns="0" rtlCol="0" anchor="ctr"/>
          <a:lstStyle/>
          <a:p>
            <a:pPr marL="0" indent="0" algn="ctr">
              <a:buNone/>
            </a:pPr>
            <a:r>
              <a:rPr lang="en-US" sz="1300" b="1" dirty="0">
                <a:solidFill>
                  <a:srgbClr val="C9A24B"/>
                </a:solidFill>
              </a:rPr>
              <a:t>4</a:t>
            </a:r>
            <a:endParaRPr lang="en-US" sz="1300" dirty="0"/>
          </a:p>
        </p:txBody>
      </p:sp>
      <p:sp>
        <p:nvSpPr>
          <p:cNvPr id="27" name="Text 25"/>
          <p:cNvSpPr txBox="1"/>
          <p:nvPr/>
        </p:nvSpPr>
        <p:spPr>
          <a:xfrm>
            <a:off x="1170432" y="4581144"/>
            <a:ext cx="4617720" cy="237744"/>
          </a:xfrm>
          <a:prstGeom prst="rect">
            <a:avLst/>
          </a:prstGeom>
          <a:noFill/>
          <a:ln/>
        </p:spPr>
        <p:txBody>
          <a:bodyPr wrap="square" lIns="0" tIns="0" rIns="0" bIns="0" rtlCol="0" anchor="ctr"/>
          <a:lstStyle/>
          <a:p>
            <a:pPr marL="0" indent="0">
              <a:buNone/>
            </a:pPr>
            <a:r>
              <a:rPr lang="en-US" sz="1150" b="1" dirty="0">
                <a:solidFill>
                  <a:srgbClr val="121A33"/>
                </a:solidFill>
                <a:latin typeface="Calibri" pitchFamily="34" charset="0"/>
                <a:ea typeface="Calibri" pitchFamily="34" charset="-122"/>
                <a:cs typeface="Calibri" pitchFamily="34" charset="-120"/>
              </a:rPr>
              <a:t>Human Expertise</a:t>
            </a:r>
            <a:endParaRPr lang="en-US" sz="1150" dirty="0"/>
          </a:p>
        </p:txBody>
      </p:sp>
      <p:sp>
        <p:nvSpPr>
          <p:cNvPr id="28" name="Text 26"/>
          <p:cNvSpPr txBox="1"/>
          <p:nvPr/>
        </p:nvSpPr>
        <p:spPr>
          <a:xfrm>
            <a:off x="1170432" y="4828032"/>
            <a:ext cx="4663440" cy="475488"/>
          </a:xfrm>
          <a:prstGeom prst="rect">
            <a:avLst/>
          </a:prstGeom>
          <a:noFill/>
          <a:ln/>
        </p:spPr>
        <p:txBody>
          <a:bodyPr wrap="square" lIns="0" tIns="0" rIns="0" bIns="0" rtlCol="0" anchor="ctr"/>
          <a:lstStyle/>
          <a:p>
            <a:pPr marL="0" indent="0">
              <a:lnSpc>
                <a:spcPct val="100000"/>
              </a:lnSpc>
              <a:buNone/>
            </a:pPr>
            <a:r>
              <a:rPr lang="en-US" sz="900" dirty="0">
                <a:solidFill>
                  <a:srgbClr val="5B6072"/>
                </a:solidFill>
                <a:latin typeface="Calibri" pitchFamily="34" charset="0"/>
                <a:ea typeface="Calibri" pitchFamily="34" charset="-122"/>
                <a:cs typeface="Calibri" pitchFamily="34" charset="-120"/>
              </a:rPr>
              <a:t>Portfolio managers and risk professionals review and interpret every AI-generated insight</a:t>
            </a:r>
            <a:endParaRPr lang="en-US" sz="900" dirty="0"/>
          </a:p>
        </p:txBody>
      </p:sp>
      <p:sp>
        <p:nvSpPr>
          <p:cNvPr id="29" name="Text 27"/>
          <p:cNvSpPr txBox="1"/>
          <p:nvPr/>
        </p:nvSpPr>
        <p:spPr>
          <a:xfrm>
            <a:off x="6245352" y="1234440"/>
            <a:ext cx="5486400" cy="274320"/>
          </a:xfrm>
          <a:prstGeom prst="rect">
            <a:avLst/>
          </a:prstGeom>
          <a:noFill/>
          <a:ln/>
        </p:spPr>
        <p:txBody>
          <a:bodyPr wrap="square" lIns="0" tIns="0" rIns="0" bIns="0" rtlCol="0" anchor="ctr"/>
          <a:lstStyle/>
          <a:p>
            <a:pPr marL="0" indent="0">
              <a:buNone/>
            </a:pPr>
            <a:r>
              <a:rPr lang="en-US" sz="1400" b="1" dirty="0">
                <a:solidFill>
                  <a:srgbClr val="121A33"/>
                </a:solidFill>
                <a:latin typeface="Cambria" pitchFamily="34" charset="0"/>
                <a:ea typeface="Cambria" pitchFamily="34" charset="-122"/>
                <a:cs typeface="Cambria" pitchFamily="34" charset="-120"/>
              </a:rPr>
              <a:t>Proposed Architecture</a:t>
            </a:r>
            <a:endParaRPr lang="en-US" sz="1400" dirty="0"/>
          </a:p>
        </p:txBody>
      </p:sp>
      <p:sp>
        <p:nvSpPr>
          <p:cNvPr id="30" name="Shape 28"/>
          <p:cNvSpPr/>
          <p:nvPr/>
        </p:nvSpPr>
        <p:spPr>
          <a:xfrm>
            <a:off x="6245352" y="1627632"/>
            <a:ext cx="5440680" cy="489204"/>
          </a:xfrm>
          <a:prstGeom prst="roundRect">
            <a:avLst>
              <a:gd name="adj" fmla="val 14953"/>
            </a:avLst>
          </a:prstGeom>
          <a:solidFill>
            <a:srgbClr val="EEEFF3"/>
          </a:solidFill>
          <a:ln/>
        </p:spPr>
      </p:sp>
      <p:sp>
        <p:nvSpPr>
          <p:cNvPr id="31" name="Text 29"/>
          <p:cNvSpPr txBox="1"/>
          <p:nvPr/>
        </p:nvSpPr>
        <p:spPr>
          <a:xfrm>
            <a:off x="6382512" y="1627632"/>
            <a:ext cx="5166360" cy="489204"/>
          </a:xfrm>
          <a:prstGeom prst="rect">
            <a:avLst/>
          </a:prstGeom>
          <a:noFill/>
          <a:ln/>
        </p:spPr>
        <p:txBody>
          <a:bodyPr wrap="square" lIns="0" tIns="0" rIns="0" bIns="0" rtlCol="0" anchor="ctr"/>
          <a:lstStyle/>
          <a:p>
            <a:pPr marL="0" indent="0">
              <a:buNone/>
            </a:pPr>
            <a:r>
              <a:rPr lang="en-US" sz="1050" b="1" dirty="0">
                <a:solidFill>
                  <a:srgbClr val="121A33"/>
                </a:solidFill>
                <a:latin typeface="Calibri" pitchFamily="34" charset="0"/>
                <a:ea typeface="Calibri" pitchFamily="34" charset="-122"/>
                <a:cs typeface="Calibri" pitchFamily="34" charset="-120"/>
              </a:rPr>
              <a:t>1  Portfolio + Market Data</a:t>
            </a:r>
            <a:endParaRPr lang="en-US" sz="1050" dirty="0"/>
          </a:p>
        </p:txBody>
      </p:sp>
      <p:sp>
        <p:nvSpPr>
          <p:cNvPr id="32" name="Shape 30"/>
          <p:cNvSpPr/>
          <p:nvPr/>
        </p:nvSpPr>
        <p:spPr>
          <a:xfrm>
            <a:off x="6245352" y="2157984"/>
            <a:ext cx="5440680" cy="489204"/>
          </a:xfrm>
          <a:prstGeom prst="roundRect">
            <a:avLst>
              <a:gd name="adj" fmla="val 14953"/>
            </a:avLst>
          </a:prstGeom>
          <a:solidFill>
            <a:srgbClr val="EEEFF3"/>
          </a:solidFill>
          <a:ln/>
        </p:spPr>
      </p:sp>
      <p:sp>
        <p:nvSpPr>
          <p:cNvPr id="33" name="Text 31"/>
          <p:cNvSpPr txBox="1"/>
          <p:nvPr/>
        </p:nvSpPr>
        <p:spPr>
          <a:xfrm>
            <a:off x="6382512" y="2157984"/>
            <a:ext cx="5166360" cy="489204"/>
          </a:xfrm>
          <a:prstGeom prst="rect">
            <a:avLst/>
          </a:prstGeom>
          <a:noFill/>
          <a:ln/>
        </p:spPr>
        <p:txBody>
          <a:bodyPr wrap="square" lIns="0" tIns="0" rIns="0" bIns="0" rtlCol="0" anchor="ctr"/>
          <a:lstStyle/>
          <a:p>
            <a:pPr marL="0" indent="0">
              <a:buNone/>
            </a:pPr>
            <a:r>
              <a:rPr lang="en-US" sz="1050" b="1" dirty="0">
                <a:solidFill>
                  <a:srgbClr val="121A33"/>
                </a:solidFill>
                <a:latin typeface="Calibri" pitchFamily="34" charset="0"/>
                <a:ea typeface="Calibri" pitchFamily="34" charset="-122"/>
                <a:cs typeface="Calibri" pitchFamily="34" charset="-120"/>
              </a:rPr>
              <a:t>2  Data Processing</a:t>
            </a:r>
            <a:endParaRPr lang="en-US" sz="1050" dirty="0"/>
          </a:p>
        </p:txBody>
      </p:sp>
      <p:sp>
        <p:nvSpPr>
          <p:cNvPr id="34" name="Shape 32"/>
          <p:cNvSpPr/>
          <p:nvPr/>
        </p:nvSpPr>
        <p:spPr>
          <a:xfrm>
            <a:off x="6245352" y="2688336"/>
            <a:ext cx="5440680" cy="489204"/>
          </a:xfrm>
          <a:prstGeom prst="roundRect">
            <a:avLst>
              <a:gd name="adj" fmla="val 14953"/>
            </a:avLst>
          </a:prstGeom>
          <a:solidFill>
            <a:srgbClr val="EEEFF3"/>
          </a:solidFill>
          <a:ln/>
        </p:spPr>
      </p:sp>
      <p:sp>
        <p:nvSpPr>
          <p:cNvPr id="35" name="Text 33"/>
          <p:cNvSpPr txBox="1"/>
          <p:nvPr/>
        </p:nvSpPr>
        <p:spPr>
          <a:xfrm>
            <a:off x="6382512" y="2688336"/>
            <a:ext cx="5166360" cy="489204"/>
          </a:xfrm>
          <a:prstGeom prst="rect">
            <a:avLst/>
          </a:prstGeom>
          <a:noFill/>
          <a:ln/>
        </p:spPr>
        <p:txBody>
          <a:bodyPr wrap="square" lIns="0" tIns="0" rIns="0" bIns="0" rtlCol="0" anchor="ctr"/>
          <a:lstStyle/>
          <a:p>
            <a:pPr marL="0" indent="0">
              <a:buNone/>
            </a:pPr>
            <a:r>
              <a:rPr lang="en-US" sz="1050" b="1" dirty="0">
                <a:solidFill>
                  <a:srgbClr val="121A33"/>
                </a:solidFill>
                <a:latin typeface="Calibri" pitchFamily="34" charset="0"/>
                <a:ea typeface="Calibri" pitchFamily="34" charset="-122"/>
                <a:cs typeface="Calibri" pitchFamily="34" charset="-120"/>
              </a:rPr>
              <a:t>3  ML Risk Detection</a:t>
            </a:r>
            <a:endParaRPr lang="en-US" sz="1050" dirty="0"/>
          </a:p>
        </p:txBody>
      </p:sp>
      <p:sp>
        <p:nvSpPr>
          <p:cNvPr id="36" name="Shape 34"/>
          <p:cNvSpPr/>
          <p:nvPr/>
        </p:nvSpPr>
        <p:spPr>
          <a:xfrm>
            <a:off x="6245352" y="3218688"/>
            <a:ext cx="5440680" cy="489204"/>
          </a:xfrm>
          <a:prstGeom prst="roundRect">
            <a:avLst>
              <a:gd name="adj" fmla="val 14953"/>
            </a:avLst>
          </a:prstGeom>
          <a:solidFill>
            <a:srgbClr val="EEEFF3"/>
          </a:solidFill>
          <a:ln/>
        </p:spPr>
      </p:sp>
      <p:sp>
        <p:nvSpPr>
          <p:cNvPr id="37" name="Text 35"/>
          <p:cNvSpPr txBox="1"/>
          <p:nvPr/>
        </p:nvSpPr>
        <p:spPr>
          <a:xfrm>
            <a:off x="6382512" y="3218688"/>
            <a:ext cx="5166360" cy="489204"/>
          </a:xfrm>
          <a:prstGeom prst="rect">
            <a:avLst/>
          </a:prstGeom>
          <a:noFill/>
          <a:ln/>
        </p:spPr>
        <p:txBody>
          <a:bodyPr wrap="square" lIns="0" tIns="0" rIns="0" bIns="0" rtlCol="0" anchor="ctr"/>
          <a:lstStyle/>
          <a:p>
            <a:pPr marL="0" indent="0">
              <a:buNone/>
            </a:pPr>
            <a:r>
              <a:rPr lang="en-US" sz="1050" b="1" dirty="0">
                <a:solidFill>
                  <a:srgbClr val="121A33"/>
                </a:solidFill>
                <a:latin typeface="Calibri" pitchFamily="34" charset="0"/>
                <a:ea typeface="Calibri" pitchFamily="34" charset="-122"/>
                <a:cs typeface="Calibri" pitchFamily="34" charset="-120"/>
              </a:rPr>
              <a:t>4  Scenario / Stress Analysis</a:t>
            </a:r>
            <a:endParaRPr lang="en-US" sz="1050" dirty="0"/>
          </a:p>
        </p:txBody>
      </p:sp>
      <p:sp>
        <p:nvSpPr>
          <p:cNvPr id="38" name="Shape 36"/>
          <p:cNvSpPr/>
          <p:nvPr/>
        </p:nvSpPr>
        <p:spPr>
          <a:xfrm>
            <a:off x="6245352" y="3749040"/>
            <a:ext cx="5440680" cy="489204"/>
          </a:xfrm>
          <a:prstGeom prst="roundRect">
            <a:avLst>
              <a:gd name="adj" fmla="val 14953"/>
            </a:avLst>
          </a:prstGeom>
          <a:solidFill>
            <a:srgbClr val="EEEFF3"/>
          </a:solidFill>
          <a:ln/>
        </p:spPr>
      </p:sp>
      <p:sp>
        <p:nvSpPr>
          <p:cNvPr id="39" name="Text 37"/>
          <p:cNvSpPr txBox="1"/>
          <p:nvPr/>
        </p:nvSpPr>
        <p:spPr>
          <a:xfrm>
            <a:off x="6382512" y="3749040"/>
            <a:ext cx="5166360" cy="489204"/>
          </a:xfrm>
          <a:prstGeom prst="rect">
            <a:avLst/>
          </a:prstGeom>
          <a:noFill/>
          <a:ln/>
        </p:spPr>
        <p:txBody>
          <a:bodyPr wrap="square" lIns="0" tIns="0" rIns="0" bIns="0" rtlCol="0" anchor="ctr"/>
          <a:lstStyle/>
          <a:p>
            <a:pPr marL="0" indent="0">
              <a:buNone/>
            </a:pPr>
            <a:r>
              <a:rPr lang="en-US" sz="1050" b="1" dirty="0">
                <a:solidFill>
                  <a:srgbClr val="121A33"/>
                </a:solidFill>
                <a:latin typeface="Calibri" pitchFamily="34" charset="0"/>
                <a:ea typeface="Calibri" pitchFamily="34" charset="-122"/>
                <a:cs typeface="Calibri" pitchFamily="34" charset="-120"/>
              </a:rPr>
              <a:t>5  AI Explanation Layer</a:t>
            </a:r>
            <a:endParaRPr lang="en-US" sz="1050" dirty="0"/>
          </a:p>
        </p:txBody>
      </p:sp>
      <p:sp>
        <p:nvSpPr>
          <p:cNvPr id="40" name="Shape 38"/>
          <p:cNvSpPr/>
          <p:nvPr/>
        </p:nvSpPr>
        <p:spPr>
          <a:xfrm>
            <a:off x="6245352" y="4279392"/>
            <a:ext cx="5440680" cy="489204"/>
          </a:xfrm>
          <a:prstGeom prst="roundRect">
            <a:avLst>
              <a:gd name="adj" fmla="val 14953"/>
            </a:avLst>
          </a:prstGeom>
          <a:solidFill>
            <a:srgbClr val="EEEFF3"/>
          </a:solidFill>
          <a:ln/>
        </p:spPr>
      </p:sp>
      <p:sp>
        <p:nvSpPr>
          <p:cNvPr id="41" name="Text 39"/>
          <p:cNvSpPr txBox="1"/>
          <p:nvPr/>
        </p:nvSpPr>
        <p:spPr>
          <a:xfrm>
            <a:off x="6382512" y="4279392"/>
            <a:ext cx="5166360" cy="489204"/>
          </a:xfrm>
          <a:prstGeom prst="rect">
            <a:avLst/>
          </a:prstGeom>
          <a:noFill/>
          <a:ln/>
        </p:spPr>
        <p:txBody>
          <a:bodyPr wrap="square" lIns="0" tIns="0" rIns="0" bIns="0" rtlCol="0" anchor="ctr"/>
          <a:lstStyle/>
          <a:p>
            <a:pPr marL="0" indent="0">
              <a:buNone/>
            </a:pPr>
            <a:r>
              <a:rPr lang="en-US" sz="1050" b="1" dirty="0">
                <a:solidFill>
                  <a:srgbClr val="121A33"/>
                </a:solidFill>
                <a:latin typeface="Calibri" pitchFamily="34" charset="0"/>
                <a:ea typeface="Calibri" pitchFamily="34" charset="-122"/>
                <a:cs typeface="Calibri" pitchFamily="34" charset="-120"/>
              </a:rPr>
              <a:t>6  Risk Dashboard / NL Interface</a:t>
            </a:r>
            <a:endParaRPr lang="en-US" sz="1050" dirty="0"/>
          </a:p>
        </p:txBody>
      </p:sp>
      <p:sp>
        <p:nvSpPr>
          <p:cNvPr id="42" name="Shape 40"/>
          <p:cNvSpPr/>
          <p:nvPr/>
        </p:nvSpPr>
        <p:spPr>
          <a:xfrm>
            <a:off x="6245352" y="4809744"/>
            <a:ext cx="5440680" cy="489204"/>
          </a:xfrm>
          <a:prstGeom prst="roundRect">
            <a:avLst>
              <a:gd name="adj" fmla="val 14953"/>
            </a:avLst>
          </a:prstGeom>
          <a:solidFill>
            <a:srgbClr val="FBF6E9"/>
          </a:solidFill>
          <a:ln/>
        </p:spPr>
      </p:sp>
      <p:sp>
        <p:nvSpPr>
          <p:cNvPr id="43" name="Text 41"/>
          <p:cNvSpPr txBox="1"/>
          <p:nvPr/>
        </p:nvSpPr>
        <p:spPr>
          <a:xfrm>
            <a:off x="6382512" y="4809744"/>
            <a:ext cx="5166360" cy="489204"/>
          </a:xfrm>
          <a:prstGeom prst="rect">
            <a:avLst/>
          </a:prstGeom>
          <a:noFill/>
          <a:ln/>
        </p:spPr>
        <p:txBody>
          <a:bodyPr wrap="square" lIns="0" tIns="0" rIns="0" bIns="0" rtlCol="0" anchor="ctr"/>
          <a:lstStyle/>
          <a:p>
            <a:pPr marL="0" indent="0">
              <a:buNone/>
            </a:pPr>
            <a:r>
              <a:rPr lang="en-US" sz="1050" b="1" dirty="0">
                <a:solidFill>
                  <a:srgbClr val="121A33"/>
                </a:solidFill>
                <a:latin typeface="Calibri" pitchFamily="34" charset="0"/>
                <a:ea typeface="Calibri" pitchFamily="34" charset="-122"/>
                <a:cs typeface="Calibri" pitchFamily="34" charset="-120"/>
              </a:rPr>
              <a:t>7  Human Review</a:t>
            </a:r>
            <a:endParaRPr lang="en-US" sz="1050" dirty="0"/>
          </a:p>
        </p:txBody>
      </p:sp>
      <p:sp>
        <p:nvSpPr>
          <p:cNvPr id="44" name="Shape 42"/>
          <p:cNvSpPr/>
          <p:nvPr/>
        </p:nvSpPr>
        <p:spPr>
          <a:xfrm>
            <a:off x="6245352" y="5340096"/>
            <a:ext cx="5440680" cy="489204"/>
          </a:xfrm>
          <a:prstGeom prst="roundRect">
            <a:avLst>
              <a:gd name="adj" fmla="val 14953"/>
            </a:avLst>
          </a:prstGeom>
          <a:solidFill>
            <a:srgbClr val="121A33"/>
          </a:solidFill>
          <a:ln/>
        </p:spPr>
      </p:sp>
      <p:sp>
        <p:nvSpPr>
          <p:cNvPr id="45" name="Text 43"/>
          <p:cNvSpPr txBox="1"/>
          <p:nvPr/>
        </p:nvSpPr>
        <p:spPr>
          <a:xfrm>
            <a:off x="6382512" y="5340096"/>
            <a:ext cx="5166360" cy="48920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8  Investment / Risk Decision</a:t>
            </a:r>
            <a:endParaRPr lang="en-US" sz="1050" dirty="0"/>
          </a:p>
        </p:txBody>
      </p:sp>
      <p:sp>
        <p:nvSpPr>
          <p:cNvPr id="46" name="Text 44"/>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7" name="Text 45"/>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PROCESS</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How the AI Solution Works</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06 / 12</a:t>
            </a:r>
            <a:endParaRPr lang="en-US" sz="1050" dirty="0"/>
          </a:p>
        </p:txBody>
      </p:sp>
      <p:sp>
        <p:nvSpPr>
          <p:cNvPr id="6" name="Shape 4"/>
          <p:cNvSpPr/>
          <p:nvPr/>
        </p:nvSpPr>
        <p:spPr>
          <a:xfrm>
            <a:off x="502920" y="1417320"/>
            <a:ext cx="2615184" cy="1783080"/>
          </a:xfrm>
          <a:prstGeom prst="roundRect">
            <a:avLst>
              <a:gd name="adj" fmla="val 4103"/>
            </a:avLst>
          </a:prstGeom>
          <a:solidFill>
            <a:srgbClr val="FFFFFF"/>
          </a:solidFill>
          <a:ln/>
          <a:effectLst>
            <a:outerShdw blurRad="76200" dist="25400" dir="5400000" algn="bl" rotWithShape="0">
              <a:srgbClr val="9AA0B0">
                <a:alpha val="25000"/>
              </a:srgbClr>
            </a:outerShdw>
          </a:effectLst>
        </p:spPr>
      </p:sp>
      <p:sp>
        <p:nvSpPr>
          <p:cNvPr id="7" name="Shape 5"/>
          <p:cNvSpPr/>
          <p:nvPr/>
        </p:nvSpPr>
        <p:spPr>
          <a:xfrm>
            <a:off x="612648" y="1527048"/>
            <a:ext cx="292608" cy="292608"/>
          </a:xfrm>
          <a:prstGeom prst="ellipse">
            <a:avLst/>
          </a:prstGeom>
          <a:solidFill>
            <a:srgbClr val="C9A24B"/>
          </a:solidFill>
          <a:ln/>
        </p:spPr>
      </p:sp>
      <p:sp>
        <p:nvSpPr>
          <p:cNvPr id="8" name="Text 6"/>
          <p:cNvSpPr txBox="1"/>
          <p:nvPr/>
        </p:nvSpPr>
        <p:spPr>
          <a:xfrm>
            <a:off x="612648" y="1527048"/>
            <a:ext cx="292608" cy="292608"/>
          </a:xfrm>
          <a:prstGeom prst="rect">
            <a:avLst/>
          </a:prstGeom>
          <a:noFill/>
          <a:ln/>
        </p:spPr>
        <p:txBody>
          <a:bodyPr wrap="square" lIns="0" tIns="0" rIns="0" bIns="0" rtlCol="0" anchor="ctr"/>
          <a:lstStyle/>
          <a:p>
            <a:pPr marL="0" indent="0" algn="ctr">
              <a:buNone/>
            </a:pPr>
            <a:r>
              <a:rPr lang="en-US" sz="1200" b="1" dirty="0">
                <a:solidFill>
                  <a:srgbClr val="121A33"/>
                </a:solidFill>
              </a:rPr>
              <a:t>1</a:t>
            </a:r>
            <a:endParaRPr lang="en-US" sz="1200" dirty="0"/>
          </a:p>
        </p:txBody>
      </p:sp>
      <p:sp>
        <p:nvSpPr>
          <p:cNvPr id="9" name="Text 7"/>
          <p:cNvSpPr txBox="1"/>
          <p:nvPr/>
        </p:nvSpPr>
        <p:spPr>
          <a:xfrm>
            <a:off x="612648" y="1856232"/>
            <a:ext cx="2395728" cy="1280160"/>
          </a:xfrm>
          <a:prstGeom prst="rect">
            <a:avLst/>
          </a:prstGeom>
          <a:noFill/>
          <a:ln/>
        </p:spPr>
        <p:txBody>
          <a:bodyPr wrap="square" lIns="0" tIns="0" rIns="0" bIns="0" rtlCol="0" anchor="t"/>
          <a:lstStyle/>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Data Collection</a:t>
            </a:r>
            <a:endParaRPr lang="en-US" sz="950" dirty="0"/>
          </a:p>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Portfolio, market, macro &amp; risk data</a:t>
            </a:r>
            <a:endParaRPr lang="en-US" sz="950" dirty="0"/>
          </a:p>
        </p:txBody>
      </p:sp>
      <p:sp>
        <p:nvSpPr>
          <p:cNvPr id="10" name="Shape 8"/>
          <p:cNvSpPr/>
          <p:nvPr/>
        </p:nvSpPr>
        <p:spPr>
          <a:xfrm>
            <a:off x="3145536" y="2244852"/>
            <a:ext cx="164592" cy="128016"/>
          </a:xfrm>
          <a:prstGeom prst="rightArrow">
            <a:avLst/>
          </a:prstGeom>
          <a:solidFill>
            <a:srgbClr val="C9A24B"/>
          </a:solidFill>
          <a:ln/>
        </p:spPr>
      </p:sp>
      <p:sp>
        <p:nvSpPr>
          <p:cNvPr id="11" name="Shape 9"/>
          <p:cNvSpPr/>
          <p:nvPr/>
        </p:nvSpPr>
        <p:spPr>
          <a:xfrm>
            <a:off x="3337560" y="1417320"/>
            <a:ext cx="2615184" cy="1783080"/>
          </a:xfrm>
          <a:prstGeom prst="roundRect">
            <a:avLst>
              <a:gd name="adj" fmla="val 4103"/>
            </a:avLst>
          </a:prstGeom>
          <a:solidFill>
            <a:srgbClr val="FFFFFF"/>
          </a:solidFill>
          <a:ln/>
          <a:effectLst>
            <a:outerShdw blurRad="76200" dist="25400" dir="5400000" algn="bl" rotWithShape="0">
              <a:srgbClr val="9AA0B0">
                <a:alpha val="25000"/>
              </a:srgbClr>
            </a:outerShdw>
          </a:effectLst>
        </p:spPr>
      </p:sp>
      <p:sp>
        <p:nvSpPr>
          <p:cNvPr id="12" name="Shape 10"/>
          <p:cNvSpPr/>
          <p:nvPr/>
        </p:nvSpPr>
        <p:spPr>
          <a:xfrm>
            <a:off x="3447288" y="1527048"/>
            <a:ext cx="292608" cy="292608"/>
          </a:xfrm>
          <a:prstGeom prst="ellipse">
            <a:avLst/>
          </a:prstGeom>
          <a:solidFill>
            <a:srgbClr val="C9A24B"/>
          </a:solidFill>
          <a:ln/>
        </p:spPr>
      </p:sp>
      <p:sp>
        <p:nvSpPr>
          <p:cNvPr id="13" name="Text 11"/>
          <p:cNvSpPr txBox="1"/>
          <p:nvPr/>
        </p:nvSpPr>
        <p:spPr>
          <a:xfrm>
            <a:off x="3447288" y="1527048"/>
            <a:ext cx="292608" cy="292608"/>
          </a:xfrm>
          <a:prstGeom prst="rect">
            <a:avLst/>
          </a:prstGeom>
          <a:noFill/>
          <a:ln/>
        </p:spPr>
        <p:txBody>
          <a:bodyPr wrap="square" lIns="0" tIns="0" rIns="0" bIns="0" rtlCol="0" anchor="ctr"/>
          <a:lstStyle/>
          <a:p>
            <a:pPr marL="0" indent="0" algn="ctr">
              <a:buNone/>
            </a:pPr>
            <a:r>
              <a:rPr lang="en-US" sz="1200" b="1" dirty="0">
                <a:solidFill>
                  <a:srgbClr val="121A33"/>
                </a:solidFill>
              </a:rPr>
              <a:t>2</a:t>
            </a:r>
            <a:endParaRPr lang="en-US" sz="1200" dirty="0"/>
          </a:p>
        </p:txBody>
      </p:sp>
      <p:sp>
        <p:nvSpPr>
          <p:cNvPr id="14" name="Text 12"/>
          <p:cNvSpPr txBox="1"/>
          <p:nvPr/>
        </p:nvSpPr>
        <p:spPr>
          <a:xfrm>
            <a:off x="3447288" y="1856232"/>
            <a:ext cx="2395728" cy="1280160"/>
          </a:xfrm>
          <a:prstGeom prst="rect">
            <a:avLst/>
          </a:prstGeom>
          <a:noFill/>
          <a:ln/>
        </p:spPr>
        <p:txBody>
          <a:bodyPr wrap="square" lIns="0" tIns="0" rIns="0" bIns="0" rtlCol="0" anchor="t"/>
          <a:lstStyle/>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Data Processing</a:t>
            </a:r>
            <a:endParaRPr lang="en-US" sz="950" dirty="0"/>
          </a:p>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Clean, validate, normalize, organize</a:t>
            </a:r>
            <a:endParaRPr lang="en-US" sz="950" dirty="0"/>
          </a:p>
        </p:txBody>
      </p:sp>
      <p:sp>
        <p:nvSpPr>
          <p:cNvPr id="15" name="Shape 13"/>
          <p:cNvSpPr/>
          <p:nvPr/>
        </p:nvSpPr>
        <p:spPr>
          <a:xfrm>
            <a:off x="5980176" y="2244852"/>
            <a:ext cx="164592" cy="128016"/>
          </a:xfrm>
          <a:prstGeom prst="rightArrow">
            <a:avLst/>
          </a:prstGeom>
          <a:solidFill>
            <a:srgbClr val="C9A24B"/>
          </a:solidFill>
          <a:ln/>
        </p:spPr>
      </p:sp>
      <p:sp>
        <p:nvSpPr>
          <p:cNvPr id="16" name="Shape 14"/>
          <p:cNvSpPr/>
          <p:nvPr/>
        </p:nvSpPr>
        <p:spPr>
          <a:xfrm>
            <a:off x="6172200" y="1417320"/>
            <a:ext cx="2615184" cy="1783080"/>
          </a:xfrm>
          <a:prstGeom prst="roundRect">
            <a:avLst>
              <a:gd name="adj" fmla="val 4103"/>
            </a:avLst>
          </a:prstGeom>
          <a:solidFill>
            <a:srgbClr val="FFFFFF"/>
          </a:solidFill>
          <a:ln/>
          <a:effectLst>
            <a:outerShdw blurRad="76200" dist="25400" dir="5400000" algn="bl" rotWithShape="0">
              <a:srgbClr val="9AA0B0">
                <a:alpha val="25000"/>
              </a:srgbClr>
            </a:outerShdw>
          </a:effectLst>
        </p:spPr>
      </p:sp>
      <p:sp>
        <p:nvSpPr>
          <p:cNvPr id="17" name="Shape 15"/>
          <p:cNvSpPr/>
          <p:nvPr/>
        </p:nvSpPr>
        <p:spPr>
          <a:xfrm>
            <a:off x="6281928" y="1527048"/>
            <a:ext cx="292608" cy="292608"/>
          </a:xfrm>
          <a:prstGeom prst="ellipse">
            <a:avLst/>
          </a:prstGeom>
          <a:solidFill>
            <a:srgbClr val="C9A24B"/>
          </a:solidFill>
          <a:ln/>
        </p:spPr>
      </p:sp>
      <p:sp>
        <p:nvSpPr>
          <p:cNvPr id="18" name="Text 16"/>
          <p:cNvSpPr txBox="1"/>
          <p:nvPr/>
        </p:nvSpPr>
        <p:spPr>
          <a:xfrm>
            <a:off x="6281928" y="1527048"/>
            <a:ext cx="292608" cy="292608"/>
          </a:xfrm>
          <a:prstGeom prst="rect">
            <a:avLst/>
          </a:prstGeom>
          <a:noFill/>
          <a:ln/>
        </p:spPr>
        <p:txBody>
          <a:bodyPr wrap="square" lIns="0" tIns="0" rIns="0" bIns="0" rtlCol="0" anchor="ctr"/>
          <a:lstStyle/>
          <a:p>
            <a:pPr marL="0" indent="0" algn="ctr">
              <a:buNone/>
            </a:pPr>
            <a:r>
              <a:rPr lang="en-US" sz="1200" b="1" dirty="0">
                <a:solidFill>
                  <a:srgbClr val="121A33"/>
                </a:solidFill>
              </a:rPr>
              <a:t>3</a:t>
            </a:r>
            <a:endParaRPr lang="en-US" sz="1200" dirty="0"/>
          </a:p>
        </p:txBody>
      </p:sp>
      <p:sp>
        <p:nvSpPr>
          <p:cNvPr id="19" name="Text 17"/>
          <p:cNvSpPr txBox="1"/>
          <p:nvPr/>
        </p:nvSpPr>
        <p:spPr>
          <a:xfrm>
            <a:off x="6281928" y="1856232"/>
            <a:ext cx="2395728" cy="1280160"/>
          </a:xfrm>
          <a:prstGeom prst="rect">
            <a:avLst/>
          </a:prstGeom>
          <a:noFill/>
          <a:ln/>
        </p:spPr>
        <p:txBody>
          <a:bodyPr wrap="square" lIns="0" tIns="0" rIns="0" bIns="0" rtlCol="0" anchor="t"/>
          <a:lstStyle/>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Feature &amp; Risk</a:t>
            </a:r>
            <a:endParaRPr lang="en-US" sz="950" dirty="0"/>
          </a:p>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Engineering</a:t>
            </a:r>
            <a:endParaRPr lang="en-US" sz="950" dirty="0"/>
          </a:p>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Exposures, correlations, volatility</a:t>
            </a:r>
            <a:endParaRPr lang="en-US" sz="950" dirty="0"/>
          </a:p>
        </p:txBody>
      </p:sp>
      <p:sp>
        <p:nvSpPr>
          <p:cNvPr id="20" name="Shape 18"/>
          <p:cNvSpPr/>
          <p:nvPr/>
        </p:nvSpPr>
        <p:spPr>
          <a:xfrm>
            <a:off x="8814816" y="2244852"/>
            <a:ext cx="164592" cy="128016"/>
          </a:xfrm>
          <a:prstGeom prst="rightArrow">
            <a:avLst/>
          </a:prstGeom>
          <a:solidFill>
            <a:srgbClr val="C9A24B"/>
          </a:solidFill>
          <a:ln/>
        </p:spPr>
      </p:sp>
      <p:sp>
        <p:nvSpPr>
          <p:cNvPr id="21" name="Shape 19"/>
          <p:cNvSpPr/>
          <p:nvPr/>
        </p:nvSpPr>
        <p:spPr>
          <a:xfrm>
            <a:off x="9006840" y="1417320"/>
            <a:ext cx="2615184" cy="1783080"/>
          </a:xfrm>
          <a:prstGeom prst="roundRect">
            <a:avLst>
              <a:gd name="adj" fmla="val 4103"/>
            </a:avLst>
          </a:prstGeom>
          <a:solidFill>
            <a:srgbClr val="FFFFFF"/>
          </a:solidFill>
          <a:ln/>
          <a:effectLst>
            <a:outerShdw blurRad="76200" dist="25400" dir="5400000" algn="bl" rotWithShape="0">
              <a:srgbClr val="9AA0B0">
                <a:alpha val="25000"/>
              </a:srgbClr>
            </a:outerShdw>
          </a:effectLst>
        </p:spPr>
      </p:sp>
      <p:sp>
        <p:nvSpPr>
          <p:cNvPr id="22" name="Shape 20"/>
          <p:cNvSpPr/>
          <p:nvPr/>
        </p:nvSpPr>
        <p:spPr>
          <a:xfrm>
            <a:off x="9116568" y="1527048"/>
            <a:ext cx="292608" cy="292608"/>
          </a:xfrm>
          <a:prstGeom prst="ellipse">
            <a:avLst/>
          </a:prstGeom>
          <a:solidFill>
            <a:srgbClr val="C9A24B"/>
          </a:solidFill>
          <a:ln/>
        </p:spPr>
      </p:sp>
      <p:sp>
        <p:nvSpPr>
          <p:cNvPr id="23" name="Text 21"/>
          <p:cNvSpPr txBox="1"/>
          <p:nvPr/>
        </p:nvSpPr>
        <p:spPr>
          <a:xfrm>
            <a:off x="9116568" y="1527048"/>
            <a:ext cx="292608" cy="292608"/>
          </a:xfrm>
          <a:prstGeom prst="rect">
            <a:avLst/>
          </a:prstGeom>
          <a:noFill/>
          <a:ln/>
        </p:spPr>
        <p:txBody>
          <a:bodyPr wrap="square" lIns="0" tIns="0" rIns="0" bIns="0" rtlCol="0" anchor="ctr"/>
          <a:lstStyle/>
          <a:p>
            <a:pPr marL="0" indent="0" algn="ctr">
              <a:buNone/>
            </a:pPr>
            <a:r>
              <a:rPr lang="en-US" sz="1200" b="1" dirty="0">
                <a:solidFill>
                  <a:srgbClr val="121A33"/>
                </a:solidFill>
              </a:rPr>
              <a:t>4</a:t>
            </a:r>
            <a:endParaRPr lang="en-US" sz="1200" dirty="0"/>
          </a:p>
        </p:txBody>
      </p:sp>
      <p:sp>
        <p:nvSpPr>
          <p:cNvPr id="24" name="Text 22"/>
          <p:cNvSpPr txBox="1"/>
          <p:nvPr/>
        </p:nvSpPr>
        <p:spPr>
          <a:xfrm>
            <a:off x="9116568" y="1856232"/>
            <a:ext cx="2395728" cy="1280160"/>
          </a:xfrm>
          <a:prstGeom prst="rect">
            <a:avLst/>
          </a:prstGeom>
          <a:noFill/>
          <a:ln/>
        </p:spPr>
        <p:txBody>
          <a:bodyPr wrap="square" lIns="0" tIns="0" rIns="0" bIns="0" rtlCol="0" anchor="t"/>
          <a:lstStyle/>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ML Analysis</a:t>
            </a:r>
            <a:endParaRPr lang="en-US" sz="950" dirty="0"/>
          </a:p>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Detect anomalies &amp; emerging risk patterns</a:t>
            </a:r>
            <a:endParaRPr lang="en-US" sz="950" dirty="0"/>
          </a:p>
        </p:txBody>
      </p:sp>
      <p:sp>
        <p:nvSpPr>
          <p:cNvPr id="25" name="Shape 23"/>
          <p:cNvSpPr/>
          <p:nvPr/>
        </p:nvSpPr>
        <p:spPr>
          <a:xfrm>
            <a:off x="502920" y="3657600"/>
            <a:ext cx="2615184" cy="1783080"/>
          </a:xfrm>
          <a:prstGeom prst="roundRect">
            <a:avLst>
              <a:gd name="adj" fmla="val 4103"/>
            </a:avLst>
          </a:prstGeom>
          <a:solidFill>
            <a:srgbClr val="FFFFFF"/>
          </a:solidFill>
          <a:ln/>
          <a:effectLst>
            <a:outerShdw blurRad="76200" dist="25400" dir="5400000" algn="bl" rotWithShape="0">
              <a:srgbClr val="9AA0B0">
                <a:alpha val="25000"/>
              </a:srgbClr>
            </a:outerShdw>
          </a:effectLst>
        </p:spPr>
      </p:sp>
      <p:sp>
        <p:nvSpPr>
          <p:cNvPr id="26" name="Shape 24"/>
          <p:cNvSpPr/>
          <p:nvPr/>
        </p:nvSpPr>
        <p:spPr>
          <a:xfrm>
            <a:off x="612648" y="3767328"/>
            <a:ext cx="292608" cy="292608"/>
          </a:xfrm>
          <a:prstGeom prst="ellipse">
            <a:avLst/>
          </a:prstGeom>
          <a:solidFill>
            <a:srgbClr val="C9A24B"/>
          </a:solidFill>
          <a:ln/>
        </p:spPr>
      </p:sp>
      <p:sp>
        <p:nvSpPr>
          <p:cNvPr id="27" name="Text 25"/>
          <p:cNvSpPr txBox="1"/>
          <p:nvPr/>
        </p:nvSpPr>
        <p:spPr>
          <a:xfrm>
            <a:off x="612648" y="3767328"/>
            <a:ext cx="292608" cy="292608"/>
          </a:xfrm>
          <a:prstGeom prst="rect">
            <a:avLst/>
          </a:prstGeom>
          <a:noFill/>
          <a:ln/>
        </p:spPr>
        <p:txBody>
          <a:bodyPr wrap="square" lIns="0" tIns="0" rIns="0" bIns="0" rtlCol="0" anchor="ctr"/>
          <a:lstStyle/>
          <a:p>
            <a:pPr marL="0" indent="0" algn="ctr">
              <a:buNone/>
            </a:pPr>
            <a:r>
              <a:rPr lang="en-US" sz="1200" b="1" dirty="0">
                <a:solidFill>
                  <a:srgbClr val="121A33"/>
                </a:solidFill>
              </a:rPr>
              <a:t>5</a:t>
            </a:r>
            <a:endParaRPr lang="en-US" sz="1200" dirty="0"/>
          </a:p>
        </p:txBody>
      </p:sp>
      <p:sp>
        <p:nvSpPr>
          <p:cNvPr id="28" name="Text 26"/>
          <p:cNvSpPr txBox="1"/>
          <p:nvPr/>
        </p:nvSpPr>
        <p:spPr>
          <a:xfrm>
            <a:off x="612648" y="4096512"/>
            <a:ext cx="2395728" cy="1280160"/>
          </a:xfrm>
          <a:prstGeom prst="rect">
            <a:avLst/>
          </a:prstGeom>
          <a:noFill/>
          <a:ln/>
        </p:spPr>
        <p:txBody>
          <a:bodyPr wrap="square" lIns="0" tIns="0" rIns="0" bIns="0" rtlCol="0" anchor="t"/>
          <a:lstStyle/>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Scenario Analysis</a:t>
            </a:r>
            <a:endParaRPr lang="en-US" sz="950" dirty="0"/>
          </a:p>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Rates, inflation, recession, volatility, FX</a:t>
            </a:r>
            <a:endParaRPr lang="en-US" sz="950" dirty="0"/>
          </a:p>
        </p:txBody>
      </p:sp>
      <p:sp>
        <p:nvSpPr>
          <p:cNvPr id="29" name="Shape 27"/>
          <p:cNvSpPr/>
          <p:nvPr/>
        </p:nvSpPr>
        <p:spPr>
          <a:xfrm>
            <a:off x="3145536" y="4485132"/>
            <a:ext cx="164592" cy="128016"/>
          </a:xfrm>
          <a:prstGeom prst="rightArrow">
            <a:avLst/>
          </a:prstGeom>
          <a:solidFill>
            <a:srgbClr val="C9A24B"/>
          </a:solidFill>
          <a:ln/>
        </p:spPr>
      </p:sp>
      <p:sp>
        <p:nvSpPr>
          <p:cNvPr id="30" name="Shape 28"/>
          <p:cNvSpPr/>
          <p:nvPr/>
        </p:nvSpPr>
        <p:spPr>
          <a:xfrm>
            <a:off x="3337560" y="3657600"/>
            <a:ext cx="2615184" cy="1783080"/>
          </a:xfrm>
          <a:prstGeom prst="roundRect">
            <a:avLst>
              <a:gd name="adj" fmla="val 4103"/>
            </a:avLst>
          </a:prstGeom>
          <a:solidFill>
            <a:srgbClr val="FFFFFF"/>
          </a:solidFill>
          <a:ln/>
          <a:effectLst>
            <a:outerShdw blurRad="76200" dist="25400" dir="5400000" algn="bl" rotWithShape="0">
              <a:srgbClr val="9AA0B0">
                <a:alpha val="25000"/>
              </a:srgbClr>
            </a:outerShdw>
          </a:effectLst>
        </p:spPr>
      </p:sp>
      <p:sp>
        <p:nvSpPr>
          <p:cNvPr id="31" name="Shape 29"/>
          <p:cNvSpPr/>
          <p:nvPr/>
        </p:nvSpPr>
        <p:spPr>
          <a:xfrm>
            <a:off x="3447288" y="3767328"/>
            <a:ext cx="292608" cy="292608"/>
          </a:xfrm>
          <a:prstGeom prst="ellipse">
            <a:avLst/>
          </a:prstGeom>
          <a:solidFill>
            <a:srgbClr val="C9A24B"/>
          </a:solidFill>
          <a:ln/>
        </p:spPr>
      </p:sp>
      <p:sp>
        <p:nvSpPr>
          <p:cNvPr id="32" name="Text 30"/>
          <p:cNvSpPr txBox="1"/>
          <p:nvPr/>
        </p:nvSpPr>
        <p:spPr>
          <a:xfrm>
            <a:off x="3447288" y="3767328"/>
            <a:ext cx="292608" cy="292608"/>
          </a:xfrm>
          <a:prstGeom prst="rect">
            <a:avLst/>
          </a:prstGeom>
          <a:noFill/>
          <a:ln/>
        </p:spPr>
        <p:txBody>
          <a:bodyPr wrap="square" lIns="0" tIns="0" rIns="0" bIns="0" rtlCol="0" anchor="ctr"/>
          <a:lstStyle/>
          <a:p>
            <a:pPr marL="0" indent="0" algn="ctr">
              <a:buNone/>
            </a:pPr>
            <a:r>
              <a:rPr lang="en-US" sz="1200" b="1" dirty="0">
                <a:solidFill>
                  <a:srgbClr val="121A33"/>
                </a:solidFill>
              </a:rPr>
              <a:t>6</a:t>
            </a:r>
            <a:endParaRPr lang="en-US" sz="1200" dirty="0"/>
          </a:p>
        </p:txBody>
      </p:sp>
      <p:sp>
        <p:nvSpPr>
          <p:cNvPr id="33" name="Text 31"/>
          <p:cNvSpPr txBox="1"/>
          <p:nvPr/>
        </p:nvSpPr>
        <p:spPr>
          <a:xfrm>
            <a:off x="3447288" y="4096512"/>
            <a:ext cx="2395728" cy="1280160"/>
          </a:xfrm>
          <a:prstGeom prst="rect">
            <a:avLst/>
          </a:prstGeom>
          <a:noFill/>
          <a:ln/>
        </p:spPr>
        <p:txBody>
          <a:bodyPr wrap="square" lIns="0" tIns="0" rIns="0" bIns="0" rtlCol="0" anchor="t"/>
          <a:lstStyle/>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AI Explanation</a:t>
            </a:r>
            <a:endParaRPr lang="en-US" sz="950" dirty="0"/>
          </a:p>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Turn analytics into plain-language summaries</a:t>
            </a:r>
            <a:endParaRPr lang="en-US" sz="950" dirty="0"/>
          </a:p>
        </p:txBody>
      </p:sp>
      <p:sp>
        <p:nvSpPr>
          <p:cNvPr id="34" name="Shape 32"/>
          <p:cNvSpPr/>
          <p:nvPr/>
        </p:nvSpPr>
        <p:spPr>
          <a:xfrm>
            <a:off x="5980176" y="4485132"/>
            <a:ext cx="164592" cy="128016"/>
          </a:xfrm>
          <a:prstGeom prst="rightArrow">
            <a:avLst/>
          </a:prstGeom>
          <a:solidFill>
            <a:srgbClr val="C9A24B"/>
          </a:solidFill>
          <a:ln/>
        </p:spPr>
      </p:sp>
      <p:sp>
        <p:nvSpPr>
          <p:cNvPr id="35" name="Shape 33"/>
          <p:cNvSpPr/>
          <p:nvPr/>
        </p:nvSpPr>
        <p:spPr>
          <a:xfrm>
            <a:off x="6172200" y="3657600"/>
            <a:ext cx="2615184" cy="1783080"/>
          </a:xfrm>
          <a:prstGeom prst="roundRect">
            <a:avLst>
              <a:gd name="adj" fmla="val 4103"/>
            </a:avLst>
          </a:prstGeom>
          <a:solidFill>
            <a:srgbClr val="FFFFFF"/>
          </a:solidFill>
          <a:ln/>
          <a:effectLst>
            <a:outerShdw blurRad="76200" dist="25400" dir="5400000" algn="bl" rotWithShape="0">
              <a:srgbClr val="9AA0B0">
                <a:alpha val="25000"/>
              </a:srgbClr>
            </a:outerShdw>
          </a:effectLst>
        </p:spPr>
      </p:sp>
      <p:sp>
        <p:nvSpPr>
          <p:cNvPr id="36" name="Shape 34"/>
          <p:cNvSpPr/>
          <p:nvPr/>
        </p:nvSpPr>
        <p:spPr>
          <a:xfrm>
            <a:off x="6281928" y="3767328"/>
            <a:ext cx="292608" cy="292608"/>
          </a:xfrm>
          <a:prstGeom prst="ellipse">
            <a:avLst/>
          </a:prstGeom>
          <a:solidFill>
            <a:srgbClr val="C9A24B"/>
          </a:solidFill>
          <a:ln/>
        </p:spPr>
      </p:sp>
      <p:sp>
        <p:nvSpPr>
          <p:cNvPr id="37" name="Text 35"/>
          <p:cNvSpPr txBox="1"/>
          <p:nvPr/>
        </p:nvSpPr>
        <p:spPr>
          <a:xfrm>
            <a:off x="6281928" y="3767328"/>
            <a:ext cx="292608" cy="292608"/>
          </a:xfrm>
          <a:prstGeom prst="rect">
            <a:avLst/>
          </a:prstGeom>
          <a:noFill/>
          <a:ln/>
        </p:spPr>
        <p:txBody>
          <a:bodyPr wrap="square" lIns="0" tIns="0" rIns="0" bIns="0" rtlCol="0" anchor="ctr"/>
          <a:lstStyle/>
          <a:p>
            <a:pPr marL="0" indent="0" algn="ctr">
              <a:buNone/>
            </a:pPr>
            <a:r>
              <a:rPr lang="en-US" sz="1200" b="1" dirty="0">
                <a:solidFill>
                  <a:srgbClr val="121A33"/>
                </a:solidFill>
              </a:rPr>
              <a:t>7</a:t>
            </a:r>
            <a:endParaRPr lang="en-US" sz="1200" dirty="0"/>
          </a:p>
        </p:txBody>
      </p:sp>
      <p:sp>
        <p:nvSpPr>
          <p:cNvPr id="38" name="Text 36"/>
          <p:cNvSpPr txBox="1"/>
          <p:nvPr/>
        </p:nvSpPr>
        <p:spPr>
          <a:xfrm>
            <a:off x="6281928" y="4096512"/>
            <a:ext cx="2395728" cy="1280160"/>
          </a:xfrm>
          <a:prstGeom prst="rect">
            <a:avLst/>
          </a:prstGeom>
          <a:noFill/>
          <a:ln/>
        </p:spPr>
        <p:txBody>
          <a:bodyPr wrap="square" lIns="0" tIns="0" rIns="0" bIns="0" rtlCol="0" anchor="t"/>
          <a:lstStyle/>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Human Review</a:t>
            </a:r>
            <a:endParaRPr lang="en-US" sz="950" dirty="0"/>
          </a:p>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Risk / portfolio manager validates output</a:t>
            </a:r>
            <a:endParaRPr lang="en-US" sz="950" dirty="0"/>
          </a:p>
        </p:txBody>
      </p:sp>
      <p:sp>
        <p:nvSpPr>
          <p:cNvPr id="39" name="Shape 37"/>
          <p:cNvSpPr/>
          <p:nvPr/>
        </p:nvSpPr>
        <p:spPr>
          <a:xfrm>
            <a:off x="8814816" y="4485132"/>
            <a:ext cx="164592" cy="128016"/>
          </a:xfrm>
          <a:prstGeom prst="rightArrow">
            <a:avLst/>
          </a:prstGeom>
          <a:solidFill>
            <a:srgbClr val="C9A24B"/>
          </a:solidFill>
          <a:ln/>
        </p:spPr>
      </p:sp>
      <p:sp>
        <p:nvSpPr>
          <p:cNvPr id="40" name="Shape 38"/>
          <p:cNvSpPr/>
          <p:nvPr/>
        </p:nvSpPr>
        <p:spPr>
          <a:xfrm>
            <a:off x="9006840" y="3657600"/>
            <a:ext cx="2615184" cy="1783080"/>
          </a:xfrm>
          <a:prstGeom prst="roundRect">
            <a:avLst>
              <a:gd name="adj" fmla="val 4103"/>
            </a:avLst>
          </a:prstGeom>
          <a:solidFill>
            <a:srgbClr val="FFFFFF"/>
          </a:solidFill>
          <a:ln/>
          <a:effectLst>
            <a:outerShdw blurRad="76200" dist="25400" dir="5400000" algn="bl" rotWithShape="0">
              <a:srgbClr val="9AA0B0">
                <a:alpha val="25000"/>
              </a:srgbClr>
            </a:outerShdw>
          </a:effectLst>
        </p:spPr>
      </p:sp>
      <p:sp>
        <p:nvSpPr>
          <p:cNvPr id="41" name="Shape 39"/>
          <p:cNvSpPr/>
          <p:nvPr/>
        </p:nvSpPr>
        <p:spPr>
          <a:xfrm>
            <a:off x="9116568" y="3767328"/>
            <a:ext cx="292608" cy="292608"/>
          </a:xfrm>
          <a:prstGeom prst="ellipse">
            <a:avLst/>
          </a:prstGeom>
          <a:solidFill>
            <a:srgbClr val="C9A24B"/>
          </a:solidFill>
          <a:ln/>
        </p:spPr>
      </p:sp>
      <p:sp>
        <p:nvSpPr>
          <p:cNvPr id="42" name="Text 40"/>
          <p:cNvSpPr txBox="1"/>
          <p:nvPr/>
        </p:nvSpPr>
        <p:spPr>
          <a:xfrm>
            <a:off x="9116568" y="3767328"/>
            <a:ext cx="292608" cy="292608"/>
          </a:xfrm>
          <a:prstGeom prst="rect">
            <a:avLst/>
          </a:prstGeom>
          <a:noFill/>
          <a:ln/>
        </p:spPr>
        <p:txBody>
          <a:bodyPr wrap="square" lIns="0" tIns="0" rIns="0" bIns="0" rtlCol="0" anchor="ctr"/>
          <a:lstStyle/>
          <a:p>
            <a:pPr marL="0" indent="0" algn="ctr">
              <a:buNone/>
            </a:pPr>
            <a:r>
              <a:rPr lang="en-US" sz="1200" b="1" dirty="0">
                <a:solidFill>
                  <a:srgbClr val="121A33"/>
                </a:solidFill>
              </a:rPr>
              <a:t>8</a:t>
            </a:r>
            <a:endParaRPr lang="en-US" sz="1200" dirty="0"/>
          </a:p>
        </p:txBody>
      </p:sp>
      <p:sp>
        <p:nvSpPr>
          <p:cNvPr id="43" name="Text 41"/>
          <p:cNvSpPr txBox="1"/>
          <p:nvPr/>
        </p:nvSpPr>
        <p:spPr>
          <a:xfrm>
            <a:off x="9116568" y="4096512"/>
            <a:ext cx="2395728" cy="1280160"/>
          </a:xfrm>
          <a:prstGeom prst="rect">
            <a:avLst/>
          </a:prstGeom>
          <a:noFill/>
          <a:ln/>
        </p:spPr>
        <p:txBody>
          <a:bodyPr wrap="square" lIns="0" tIns="0" rIns="0" bIns="0" rtlCol="0" anchor="t"/>
          <a:lstStyle/>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Decision</a:t>
            </a:r>
            <a:endParaRPr lang="en-US" sz="950" dirty="0"/>
          </a:p>
          <a:p>
            <a:pPr marL="0" indent="0">
              <a:lnSpc>
                <a:spcPct val="100000"/>
              </a:lnSpc>
              <a:buNone/>
            </a:pPr>
            <a:r>
              <a:rPr lang="en-US" sz="950" b="1" dirty="0">
                <a:solidFill>
                  <a:srgbClr val="1A1D29"/>
                </a:solidFill>
                <a:latin typeface="Calibri" pitchFamily="34" charset="0"/>
                <a:ea typeface="Calibri" pitchFamily="34" charset="-122"/>
                <a:cs typeface="Calibri" pitchFamily="34" charset="-120"/>
              </a:rPr>
              <a:t>Appropriate risk or investment action</a:t>
            </a:r>
            <a:endParaRPr lang="en-US" sz="950" dirty="0"/>
          </a:p>
        </p:txBody>
      </p:sp>
      <p:sp>
        <p:nvSpPr>
          <p:cNvPr id="44" name="Text 42"/>
          <p:cNvSpPr txBox="1"/>
          <p:nvPr/>
        </p:nvSpPr>
        <p:spPr>
          <a:xfrm>
            <a:off x="502920" y="3246120"/>
            <a:ext cx="274320" cy="292608"/>
          </a:xfrm>
          <a:prstGeom prst="rect">
            <a:avLst/>
          </a:prstGeom>
          <a:noFill/>
          <a:ln/>
        </p:spPr>
        <p:txBody>
          <a:bodyPr wrap="square" lIns="0" tIns="0" rIns="0" bIns="0" rtlCol="0" anchor="ctr"/>
          <a:lstStyle/>
          <a:p>
            <a:pPr marL="0" indent="0" algn="ctr">
              <a:buNone/>
            </a:pPr>
            <a:r>
              <a:rPr lang="en-US" sz="1600" b="1" dirty="0">
                <a:solidFill>
                  <a:srgbClr val="C9A24B"/>
                </a:solidFill>
              </a:rPr>
              <a:t>↓</a:t>
            </a:r>
            <a:endParaRPr lang="en-US" sz="1600" dirty="0"/>
          </a:p>
        </p:txBody>
      </p:sp>
      <p:sp>
        <p:nvSpPr>
          <p:cNvPr id="45" name="Shape 43"/>
          <p:cNvSpPr/>
          <p:nvPr/>
        </p:nvSpPr>
        <p:spPr>
          <a:xfrm>
            <a:off x="502920" y="5806440"/>
            <a:ext cx="11183112" cy="502920"/>
          </a:xfrm>
          <a:prstGeom prst="roundRect">
            <a:avLst>
              <a:gd name="adj" fmla="val 14545"/>
            </a:avLst>
          </a:prstGeom>
          <a:solidFill>
            <a:srgbClr val="121A33"/>
          </a:solidFill>
          <a:ln/>
        </p:spPr>
      </p:sp>
      <p:sp>
        <p:nvSpPr>
          <p:cNvPr id="46" name="Text 44"/>
          <p:cNvSpPr txBox="1"/>
          <p:nvPr/>
        </p:nvSpPr>
        <p:spPr>
          <a:xfrm>
            <a:off x="502920" y="5806440"/>
            <a:ext cx="11183112" cy="502920"/>
          </a:xfrm>
          <a:prstGeom prst="rect">
            <a:avLst/>
          </a:prstGeom>
          <a:noFill/>
          <a:ln/>
        </p:spPr>
        <p:txBody>
          <a:bodyPr wrap="square" lIns="0" tIns="0" rIns="0" bIns="0" rtlCol="0" anchor="ctr"/>
          <a:lstStyle/>
          <a:p>
            <a:pPr marL="0" indent="0" algn="ctr">
              <a:buNone/>
            </a:pPr>
            <a:r>
              <a:rPr lang="en-US" sz="1400" b="1" kern="0" spc="100" dirty="0">
                <a:solidFill>
                  <a:srgbClr val="C9A24B"/>
                </a:solidFill>
                <a:latin typeface="Cambria" pitchFamily="34" charset="0"/>
                <a:ea typeface="Cambria" pitchFamily="34" charset="-122"/>
                <a:cs typeface="Cambria" pitchFamily="34" charset="-120"/>
              </a:rPr>
              <a:t>AI SUPPORTS THE DECISION  —  HUMANS REMAIN ACCOUNTABLE</a:t>
            </a:r>
            <a:endParaRPr lang="en-US" sz="1400" dirty="0"/>
          </a:p>
        </p:txBody>
      </p:sp>
      <p:sp>
        <p:nvSpPr>
          <p:cNvPr id="47" name="Text 45"/>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8" name="Text 46"/>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VALUE CASE</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Business Impact</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07 / 12</a:t>
            </a:r>
            <a:endParaRPr lang="en-US" sz="1050" dirty="0"/>
          </a:p>
        </p:txBody>
      </p:sp>
      <p:sp>
        <p:nvSpPr>
          <p:cNvPr id="6" name="Shape 4"/>
          <p:cNvSpPr/>
          <p:nvPr/>
        </p:nvSpPr>
        <p:spPr>
          <a:xfrm>
            <a:off x="9052560" y="365760"/>
            <a:ext cx="2651760" cy="292608"/>
          </a:xfrm>
          <a:prstGeom prst="roundRect">
            <a:avLst>
              <a:gd name="adj" fmla="val 50000"/>
            </a:avLst>
          </a:prstGeom>
          <a:solidFill>
            <a:srgbClr val="C9A24B"/>
          </a:solidFill>
          <a:ln/>
        </p:spPr>
      </p:sp>
      <p:sp>
        <p:nvSpPr>
          <p:cNvPr id="7" name="Text 5"/>
          <p:cNvSpPr txBox="1"/>
          <p:nvPr/>
        </p:nvSpPr>
        <p:spPr>
          <a:xfrm>
            <a:off x="9052560" y="365760"/>
            <a:ext cx="2651760" cy="292608"/>
          </a:xfrm>
          <a:prstGeom prst="rect">
            <a:avLst/>
          </a:prstGeom>
          <a:noFill/>
          <a:ln/>
        </p:spPr>
        <p:txBody>
          <a:bodyPr wrap="square" lIns="0" tIns="0" rIns="0" bIns="0" rtlCol="0" anchor="ctr"/>
          <a:lstStyle/>
          <a:p>
            <a:pPr marL="0" indent="0" algn="ctr">
              <a:buNone/>
            </a:pPr>
            <a:r>
              <a:rPr lang="en-US" sz="900" b="1" kern="0" spc="100" dirty="0">
                <a:solidFill>
                  <a:srgbClr val="121A33"/>
                </a:solidFill>
                <a:latin typeface="Calibri" pitchFamily="34" charset="0"/>
                <a:ea typeface="Calibri" pitchFamily="34" charset="-122"/>
                <a:cs typeface="Calibri" pitchFamily="34" charset="-120"/>
              </a:rPr>
              <a:t>EXPECTED / PROPOSED BENEFIT</a:t>
            </a:r>
            <a:endParaRPr lang="en-US" sz="900" dirty="0"/>
          </a:p>
        </p:txBody>
      </p:sp>
      <p:sp>
        <p:nvSpPr>
          <p:cNvPr id="8" name="Shape 6"/>
          <p:cNvSpPr/>
          <p:nvPr/>
        </p:nvSpPr>
        <p:spPr>
          <a:xfrm>
            <a:off x="502920" y="1325880"/>
            <a:ext cx="5458968" cy="1783080"/>
          </a:xfrm>
          <a:prstGeom prst="roundRect">
            <a:avLst>
              <a:gd name="adj" fmla="val 4103"/>
            </a:avLst>
          </a:prstGeom>
          <a:solidFill>
            <a:srgbClr val="EEEFF3"/>
          </a:solidFill>
          <a:ln/>
          <a:effectLst>
            <a:outerShdw blurRad="76200" dist="25400" dir="5400000" algn="bl" rotWithShape="0">
              <a:srgbClr val="9AA0B0">
                <a:alpha val="25000"/>
              </a:srgbClr>
            </a:outerShdw>
          </a:effectLst>
        </p:spPr>
      </p:sp>
      <p:sp>
        <p:nvSpPr>
          <p:cNvPr id="9" name="Text 7"/>
          <p:cNvSpPr txBox="1"/>
          <p:nvPr/>
        </p:nvSpPr>
        <p:spPr>
          <a:xfrm>
            <a:off x="685800" y="1435608"/>
            <a:ext cx="5093208" cy="274320"/>
          </a:xfrm>
          <a:prstGeom prst="rect">
            <a:avLst/>
          </a:prstGeom>
          <a:noFill/>
          <a:ln/>
        </p:spPr>
        <p:txBody>
          <a:bodyPr wrap="square" lIns="0" tIns="0" rIns="0" bIns="0" rtlCol="0" anchor="ctr"/>
          <a:lstStyle/>
          <a:p>
            <a:pPr marL="0" indent="0">
              <a:buNone/>
            </a:pPr>
            <a:r>
              <a:rPr lang="en-US" sz="1300" b="1" dirty="0">
                <a:solidFill>
                  <a:srgbClr val="121A33"/>
                </a:solidFill>
                <a:latin typeface="Cambria" pitchFamily="34" charset="0"/>
                <a:ea typeface="Cambria" pitchFamily="34" charset="-122"/>
                <a:cs typeface="Cambria" pitchFamily="34" charset="-120"/>
              </a:rPr>
              <a:t>Operational Benefits</a:t>
            </a:r>
            <a:endParaRPr lang="en-US" sz="1300" dirty="0"/>
          </a:p>
        </p:txBody>
      </p:sp>
      <p:sp>
        <p:nvSpPr>
          <p:cNvPr id="10" name="Text 8"/>
          <p:cNvSpPr txBox="1"/>
          <p:nvPr/>
        </p:nvSpPr>
        <p:spPr>
          <a:xfrm>
            <a:off x="685800" y="176479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Faster analysis &amp; automated monitoring</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Reduced manual effort</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Faster access to portfolio insights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Greater scalability</a:t>
            </a:r>
            <a:endParaRPr lang="en-US" sz="1050" dirty="0"/>
          </a:p>
        </p:txBody>
      </p:sp>
      <p:sp>
        <p:nvSpPr>
          <p:cNvPr id="11" name="Shape 9"/>
          <p:cNvSpPr/>
          <p:nvPr/>
        </p:nvSpPr>
        <p:spPr>
          <a:xfrm>
            <a:off x="6227064" y="1325880"/>
            <a:ext cx="5458968" cy="1783080"/>
          </a:xfrm>
          <a:prstGeom prst="roundRect">
            <a:avLst>
              <a:gd name="adj" fmla="val 4103"/>
            </a:avLst>
          </a:prstGeom>
          <a:solidFill>
            <a:srgbClr val="EEEFF3"/>
          </a:solidFill>
          <a:ln/>
          <a:effectLst>
            <a:outerShdw blurRad="76200" dist="25400" dir="5400000" algn="bl" rotWithShape="0">
              <a:srgbClr val="9AA0B0">
                <a:alpha val="25000"/>
              </a:srgbClr>
            </a:outerShdw>
          </a:effectLst>
        </p:spPr>
      </p:sp>
      <p:sp>
        <p:nvSpPr>
          <p:cNvPr id="12" name="Text 10"/>
          <p:cNvSpPr txBox="1"/>
          <p:nvPr/>
        </p:nvSpPr>
        <p:spPr>
          <a:xfrm>
            <a:off x="6409944" y="1435608"/>
            <a:ext cx="5093208" cy="274320"/>
          </a:xfrm>
          <a:prstGeom prst="rect">
            <a:avLst/>
          </a:prstGeom>
          <a:noFill/>
          <a:ln/>
        </p:spPr>
        <p:txBody>
          <a:bodyPr wrap="square" lIns="0" tIns="0" rIns="0" bIns="0" rtlCol="0" anchor="ctr"/>
          <a:lstStyle/>
          <a:p>
            <a:pPr marL="0" indent="0">
              <a:buNone/>
            </a:pPr>
            <a:r>
              <a:rPr lang="en-US" sz="1300" b="1" dirty="0">
                <a:solidFill>
                  <a:srgbClr val="121A33"/>
                </a:solidFill>
                <a:latin typeface="Cambria" pitchFamily="34" charset="0"/>
                <a:ea typeface="Cambria" pitchFamily="34" charset="-122"/>
                <a:cs typeface="Cambria" pitchFamily="34" charset="-120"/>
              </a:rPr>
              <a:t>Risk Management Benefits</a:t>
            </a:r>
            <a:endParaRPr lang="en-US" sz="1300" dirty="0"/>
          </a:p>
        </p:txBody>
      </p:sp>
      <p:sp>
        <p:nvSpPr>
          <p:cNvPr id="13" name="Text 11"/>
          <p:cNvSpPr txBox="1"/>
          <p:nvPr/>
        </p:nvSpPr>
        <p:spPr>
          <a:xfrm>
            <a:off x="6409944" y="176479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Earlier identification of unusual patterns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Better portfolio visibility</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More systematic scenario analysis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Improved risk prioritization</a:t>
            </a:r>
            <a:endParaRPr lang="en-US" sz="1050" dirty="0"/>
          </a:p>
        </p:txBody>
      </p:sp>
      <p:sp>
        <p:nvSpPr>
          <p:cNvPr id="14" name="Shape 12"/>
          <p:cNvSpPr/>
          <p:nvPr/>
        </p:nvSpPr>
        <p:spPr>
          <a:xfrm>
            <a:off x="502920" y="3337560"/>
            <a:ext cx="5458968" cy="1783080"/>
          </a:xfrm>
          <a:prstGeom prst="roundRect">
            <a:avLst>
              <a:gd name="adj" fmla="val 4103"/>
            </a:avLst>
          </a:prstGeom>
          <a:solidFill>
            <a:srgbClr val="EEEFF3"/>
          </a:solidFill>
          <a:ln/>
          <a:effectLst>
            <a:outerShdw blurRad="76200" dist="25400" dir="5400000" algn="bl" rotWithShape="0">
              <a:srgbClr val="9AA0B0">
                <a:alpha val="25000"/>
              </a:srgbClr>
            </a:outerShdw>
          </a:effectLst>
        </p:spPr>
      </p:sp>
      <p:sp>
        <p:nvSpPr>
          <p:cNvPr id="15" name="Text 13"/>
          <p:cNvSpPr txBox="1"/>
          <p:nvPr/>
        </p:nvSpPr>
        <p:spPr>
          <a:xfrm>
            <a:off x="685800" y="3447288"/>
            <a:ext cx="5093208" cy="274320"/>
          </a:xfrm>
          <a:prstGeom prst="rect">
            <a:avLst/>
          </a:prstGeom>
          <a:noFill/>
          <a:ln/>
        </p:spPr>
        <p:txBody>
          <a:bodyPr wrap="square" lIns="0" tIns="0" rIns="0" bIns="0" rtlCol="0" anchor="ctr"/>
          <a:lstStyle/>
          <a:p>
            <a:pPr marL="0" indent="0">
              <a:buNone/>
            </a:pPr>
            <a:r>
              <a:rPr lang="en-US" sz="1300" b="1" dirty="0">
                <a:solidFill>
                  <a:srgbClr val="121A33"/>
                </a:solidFill>
                <a:latin typeface="Cambria" pitchFamily="34" charset="0"/>
                <a:ea typeface="Cambria" pitchFamily="34" charset="-122"/>
                <a:cs typeface="Cambria" pitchFamily="34" charset="-120"/>
              </a:rPr>
              <a:t>Decision-Support Benefits</a:t>
            </a:r>
            <a:endParaRPr lang="en-US" sz="1300" dirty="0"/>
          </a:p>
        </p:txBody>
      </p:sp>
      <p:sp>
        <p:nvSpPr>
          <p:cNvPr id="16" name="Text 14"/>
          <p:cNvSpPr txBox="1"/>
          <p:nvPr/>
        </p:nvSpPr>
        <p:spPr>
          <a:xfrm>
            <a:off x="685800" y="377647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Natural-language access to analytics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Easier interpretation of risk information</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Faster analyst workflows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Better communication of risk</a:t>
            </a:r>
            <a:endParaRPr lang="en-US" sz="1050" dirty="0"/>
          </a:p>
        </p:txBody>
      </p:sp>
      <p:sp>
        <p:nvSpPr>
          <p:cNvPr id="17" name="Shape 15"/>
          <p:cNvSpPr/>
          <p:nvPr/>
        </p:nvSpPr>
        <p:spPr>
          <a:xfrm>
            <a:off x="6227064" y="3337560"/>
            <a:ext cx="5458968" cy="1783080"/>
          </a:xfrm>
          <a:prstGeom prst="roundRect">
            <a:avLst>
              <a:gd name="adj" fmla="val 4103"/>
            </a:avLst>
          </a:prstGeom>
          <a:solidFill>
            <a:srgbClr val="EEEFF3"/>
          </a:solidFill>
          <a:ln/>
          <a:effectLst>
            <a:outerShdw blurRad="76200" dist="25400" dir="5400000" algn="bl" rotWithShape="0">
              <a:srgbClr val="9AA0B0">
                <a:alpha val="25000"/>
              </a:srgbClr>
            </a:outerShdw>
          </a:effectLst>
        </p:spPr>
      </p:sp>
      <p:sp>
        <p:nvSpPr>
          <p:cNvPr id="18" name="Text 16"/>
          <p:cNvSpPr txBox="1"/>
          <p:nvPr/>
        </p:nvSpPr>
        <p:spPr>
          <a:xfrm>
            <a:off x="6409944" y="3447288"/>
            <a:ext cx="5093208" cy="274320"/>
          </a:xfrm>
          <a:prstGeom prst="rect">
            <a:avLst/>
          </a:prstGeom>
          <a:noFill/>
          <a:ln/>
        </p:spPr>
        <p:txBody>
          <a:bodyPr wrap="square" lIns="0" tIns="0" rIns="0" bIns="0" rtlCol="0" anchor="ctr"/>
          <a:lstStyle/>
          <a:p>
            <a:pPr marL="0" indent="0">
              <a:buNone/>
            </a:pPr>
            <a:r>
              <a:rPr lang="en-US" sz="1300" b="1" dirty="0">
                <a:solidFill>
                  <a:srgbClr val="121A33"/>
                </a:solidFill>
                <a:latin typeface="Cambria" pitchFamily="34" charset="0"/>
                <a:ea typeface="Cambria" pitchFamily="34" charset="-122"/>
                <a:cs typeface="Cambria" pitchFamily="34" charset="-120"/>
              </a:rPr>
              <a:t>Client / Business Benefits</a:t>
            </a:r>
            <a:endParaRPr lang="en-US" sz="1300" dirty="0"/>
          </a:p>
        </p:txBody>
      </p:sp>
      <p:sp>
        <p:nvSpPr>
          <p:cNvPr id="19" name="Text 17"/>
          <p:cNvSpPr txBox="1"/>
          <p:nvPr/>
        </p:nvSpPr>
        <p:spPr>
          <a:xfrm>
            <a:off x="6409944" y="377647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More timely reporting</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Better transparency</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More responsive risk analysis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Stronger client confidence</a:t>
            </a:r>
            <a:endParaRPr lang="en-US" sz="1050" dirty="0"/>
          </a:p>
        </p:txBody>
      </p:sp>
      <p:sp>
        <p:nvSpPr>
          <p:cNvPr id="20" name="Shape 18"/>
          <p:cNvSpPr/>
          <p:nvPr/>
        </p:nvSpPr>
        <p:spPr>
          <a:xfrm>
            <a:off x="502920" y="5623560"/>
            <a:ext cx="3520440" cy="566928"/>
          </a:xfrm>
          <a:prstGeom prst="roundRect">
            <a:avLst>
              <a:gd name="adj" fmla="val 12903"/>
            </a:avLst>
          </a:prstGeom>
          <a:solidFill>
            <a:srgbClr val="EEEFF3"/>
          </a:solidFill>
          <a:ln/>
        </p:spPr>
      </p:sp>
      <p:sp>
        <p:nvSpPr>
          <p:cNvPr id="21" name="Text 19"/>
          <p:cNvSpPr txBox="1"/>
          <p:nvPr/>
        </p:nvSpPr>
        <p:spPr>
          <a:xfrm>
            <a:off x="502920" y="5623560"/>
            <a:ext cx="3520440" cy="566928"/>
          </a:xfrm>
          <a:prstGeom prst="rect">
            <a:avLst/>
          </a:prstGeom>
          <a:noFill/>
          <a:ln/>
        </p:spPr>
        <p:txBody>
          <a:bodyPr wrap="square" lIns="0" tIns="0" rIns="0" bIns="0" rtlCol="0" anchor="ctr"/>
          <a:lstStyle/>
          <a:p>
            <a:pPr marL="0" indent="0" algn="ctr">
              <a:buNone/>
            </a:pPr>
            <a:r>
              <a:rPr lang="en-US" sz="1150" b="1" dirty="0">
                <a:solidFill>
                  <a:srgbClr val="121A33"/>
                </a:solidFill>
                <a:latin typeface="Calibri" pitchFamily="34" charset="0"/>
                <a:ea typeface="Calibri" pitchFamily="34" charset="-122"/>
                <a:cs typeface="Calibri" pitchFamily="34" charset="-120"/>
              </a:rPr>
              <a:t>AI/ML Capability</a:t>
            </a:r>
            <a:endParaRPr lang="en-US" sz="1150" dirty="0"/>
          </a:p>
        </p:txBody>
      </p:sp>
      <p:sp>
        <p:nvSpPr>
          <p:cNvPr id="22" name="Shape 20"/>
          <p:cNvSpPr/>
          <p:nvPr/>
        </p:nvSpPr>
        <p:spPr>
          <a:xfrm>
            <a:off x="4069080" y="5843016"/>
            <a:ext cx="228600" cy="128016"/>
          </a:xfrm>
          <a:prstGeom prst="rightArrow">
            <a:avLst/>
          </a:prstGeom>
          <a:solidFill>
            <a:srgbClr val="C9A24B"/>
          </a:solidFill>
          <a:ln/>
        </p:spPr>
      </p:sp>
      <p:sp>
        <p:nvSpPr>
          <p:cNvPr id="23" name="Shape 21"/>
          <p:cNvSpPr/>
          <p:nvPr/>
        </p:nvSpPr>
        <p:spPr>
          <a:xfrm>
            <a:off x="4343400" y="5623560"/>
            <a:ext cx="3520440" cy="566928"/>
          </a:xfrm>
          <a:prstGeom prst="roundRect">
            <a:avLst>
              <a:gd name="adj" fmla="val 12903"/>
            </a:avLst>
          </a:prstGeom>
          <a:solidFill>
            <a:srgbClr val="EEEFF3"/>
          </a:solidFill>
          <a:ln/>
        </p:spPr>
      </p:sp>
      <p:sp>
        <p:nvSpPr>
          <p:cNvPr id="24" name="Text 22"/>
          <p:cNvSpPr txBox="1"/>
          <p:nvPr/>
        </p:nvSpPr>
        <p:spPr>
          <a:xfrm>
            <a:off x="4343400" y="5623560"/>
            <a:ext cx="3520440" cy="566928"/>
          </a:xfrm>
          <a:prstGeom prst="rect">
            <a:avLst/>
          </a:prstGeom>
          <a:noFill/>
          <a:ln/>
        </p:spPr>
        <p:txBody>
          <a:bodyPr wrap="square" lIns="0" tIns="0" rIns="0" bIns="0" rtlCol="0" anchor="ctr"/>
          <a:lstStyle/>
          <a:p>
            <a:pPr marL="0" indent="0" algn="ctr">
              <a:buNone/>
            </a:pPr>
            <a:r>
              <a:rPr lang="en-US" sz="1150" b="1" dirty="0">
                <a:solidFill>
                  <a:srgbClr val="121A33"/>
                </a:solidFill>
                <a:latin typeface="Calibri" pitchFamily="34" charset="0"/>
                <a:ea typeface="Calibri" pitchFamily="34" charset="-122"/>
                <a:cs typeface="Calibri" pitchFamily="34" charset="-120"/>
              </a:rPr>
              <a:t>Business Effect</a:t>
            </a:r>
            <a:endParaRPr lang="en-US" sz="1150" dirty="0"/>
          </a:p>
        </p:txBody>
      </p:sp>
      <p:sp>
        <p:nvSpPr>
          <p:cNvPr id="25" name="Shape 23"/>
          <p:cNvSpPr/>
          <p:nvPr/>
        </p:nvSpPr>
        <p:spPr>
          <a:xfrm>
            <a:off x="7909560" y="5843016"/>
            <a:ext cx="228600" cy="128016"/>
          </a:xfrm>
          <a:prstGeom prst="rightArrow">
            <a:avLst/>
          </a:prstGeom>
          <a:solidFill>
            <a:srgbClr val="C9A24B"/>
          </a:solidFill>
          <a:ln/>
        </p:spPr>
      </p:sp>
      <p:sp>
        <p:nvSpPr>
          <p:cNvPr id="26" name="Shape 24"/>
          <p:cNvSpPr/>
          <p:nvPr/>
        </p:nvSpPr>
        <p:spPr>
          <a:xfrm>
            <a:off x="8183880" y="5623560"/>
            <a:ext cx="3520440" cy="566928"/>
          </a:xfrm>
          <a:prstGeom prst="roundRect">
            <a:avLst>
              <a:gd name="adj" fmla="val 12903"/>
            </a:avLst>
          </a:prstGeom>
          <a:solidFill>
            <a:srgbClr val="121A33"/>
          </a:solidFill>
          <a:ln/>
        </p:spPr>
      </p:sp>
      <p:sp>
        <p:nvSpPr>
          <p:cNvPr id="27" name="Text 25"/>
          <p:cNvSpPr txBox="1"/>
          <p:nvPr/>
        </p:nvSpPr>
        <p:spPr>
          <a:xfrm>
            <a:off x="8183880" y="5623560"/>
            <a:ext cx="3520440" cy="566928"/>
          </a:xfrm>
          <a:prstGeom prst="rect">
            <a:avLst/>
          </a:prstGeom>
          <a:noFill/>
          <a:ln/>
        </p:spPr>
        <p:txBody>
          <a:bodyPr wrap="square" lIns="0" tIns="0" rIns="0" bIns="0" rtlCol="0" anchor="ctr"/>
          <a:lstStyle/>
          <a:p>
            <a:pPr marL="0" indent="0" algn="ctr">
              <a:buNone/>
            </a:pPr>
            <a:r>
              <a:rPr lang="en-US" sz="1150" b="1" dirty="0">
                <a:solidFill>
                  <a:srgbClr val="C9A24B"/>
                </a:solidFill>
                <a:latin typeface="Calibri" pitchFamily="34" charset="0"/>
                <a:ea typeface="Calibri" pitchFamily="34" charset="-122"/>
                <a:cs typeface="Calibri" pitchFamily="34" charset="-120"/>
              </a:rPr>
              <a:t>Expected Benefit</a:t>
            </a:r>
            <a:endParaRPr lang="en-US" sz="1150" dirty="0"/>
          </a:p>
        </p:txBody>
      </p:sp>
      <p:sp>
        <p:nvSpPr>
          <p:cNvPr id="28" name="Text 26"/>
          <p:cNvSpPr txBox="1"/>
          <p:nvPr/>
        </p:nvSpPr>
        <p:spPr>
          <a:xfrm>
            <a:off x="502920" y="6355080"/>
            <a:ext cx="11155680" cy="274320"/>
          </a:xfrm>
          <a:prstGeom prst="rect">
            <a:avLst/>
          </a:prstGeom>
          <a:noFill/>
          <a:ln/>
        </p:spPr>
        <p:txBody>
          <a:bodyPr wrap="square" lIns="0" tIns="0" rIns="0" bIns="0" rtlCol="0" anchor="ctr"/>
          <a:lstStyle/>
          <a:p>
            <a:pPr marL="0" indent="0">
              <a:buNone/>
            </a:pPr>
            <a:r>
              <a:rPr lang="en-US" sz="950" i="1" dirty="0">
                <a:solidFill>
                  <a:srgbClr val="5B6072"/>
                </a:solidFill>
                <a:latin typeface="Calibri" pitchFamily="34" charset="0"/>
                <a:ea typeface="Calibri" pitchFamily="34" charset="-122"/>
                <a:cs typeface="Calibri" pitchFamily="34" charset="-120"/>
              </a:rPr>
              <a:t>No numerical percentages are asserted — all figures shown are illustrative labels, not claimed metrics.</a:t>
            </a:r>
            <a:endParaRPr lang="en-US" sz="950" dirty="0"/>
          </a:p>
        </p:txBody>
      </p:sp>
      <p:sp>
        <p:nvSpPr>
          <p:cNvPr id="29" name="Text 27"/>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30" name="Text 28"/>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GOVERNANCE</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Risks, Ethics &amp; Responsible AI</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08 / 12</a:t>
            </a:r>
            <a:endParaRPr lang="en-US" sz="1050" dirty="0"/>
          </a:p>
        </p:txBody>
      </p:sp>
      <p:sp>
        <p:nvSpPr>
          <p:cNvPr id="6" name="Shape 4"/>
          <p:cNvSpPr/>
          <p:nvPr/>
        </p:nvSpPr>
        <p:spPr>
          <a:xfrm>
            <a:off x="502920" y="1280160"/>
            <a:ext cx="11183112" cy="365760"/>
          </a:xfrm>
          <a:prstGeom prst="roundRect">
            <a:avLst>
              <a:gd name="adj" fmla="val 20000"/>
            </a:avLst>
          </a:prstGeom>
          <a:solidFill>
            <a:srgbClr val="121A33"/>
          </a:solidFill>
          <a:ln/>
        </p:spPr>
      </p:sp>
      <p:sp>
        <p:nvSpPr>
          <p:cNvPr id="7" name="Text 5"/>
          <p:cNvSpPr txBox="1"/>
          <p:nvPr/>
        </p:nvSpPr>
        <p:spPr>
          <a:xfrm>
            <a:off x="640080" y="1280160"/>
            <a:ext cx="1645920" cy="365760"/>
          </a:xfrm>
          <a:prstGeom prst="rect">
            <a:avLst/>
          </a:prstGeom>
          <a:noFill/>
          <a:ln/>
        </p:spPr>
        <p:txBody>
          <a:bodyPr wrap="square" lIns="0" tIns="0" rIns="0" bIns="0" rtlCol="0" anchor="ctr"/>
          <a:lstStyle/>
          <a:p>
            <a:pPr marL="0" indent="0">
              <a:buNone/>
            </a:pPr>
            <a:r>
              <a:rPr lang="en-US" sz="1100" b="1" dirty="0">
                <a:solidFill>
                  <a:srgbClr val="C9A24B"/>
                </a:solidFill>
                <a:latin typeface="Calibri" pitchFamily="34" charset="0"/>
                <a:ea typeface="Calibri" pitchFamily="34" charset="-122"/>
                <a:cs typeface="Calibri" pitchFamily="34" charset="-120"/>
              </a:rPr>
              <a:t>Risk Area</a:t>
            </a:r>
            <a:endParaRPr lang="en-US" sz="1100" dirty="0"/>
          </a:p>
        </p:txBody>
      </p:sp>
      <p:sp>
        <p:nvSpPr>
          <p:cNvPr id="8" name="Text 6"/>
          <p:cNvSpPr txBox="1"/>
          <p:nvPr/>
        </p:nvSpPr>
        <p:spPr>
          <a:xfrm>
            <a:off x="2468880" y="1280160"/>
            <a:ext cx="4023360" cy="365760"/>
          </a:xfrm>
          <a:prstGeom prst="rect">
            <a:avLst/>
          </a:prstGeom>
          <a:noFill/>
          <a:ln/>
        </p:spPr>
        <p:txBody>
          <a:bodyPr wrap="square" lIns="0" tIns="0" rIns="0" bIns="0" rtlCol="0" anchor="ctr"/>
          <a:lstStyle/>
          <a:p>
            <a:pPr marL="0" indent="0">
              <a:buNone/>
            </a:pPr>
            <a:r>
              <a:rPr lang="en-US" sz="1100" b="1" dirty="0">
                <a:solidFill>
                  <a:srgbClr val="C9A24B"/>
                </a:solidFill>
                <a:latin typeface="Calibri" pitchFamily="34" charset="0"/>
                <a:ea typeface="Calibri" pitchFamily="34" charset="-122"/>
                <a:cs typeface="Calibri" pitchFamily="34" charset="-120"/>
              </a:rPr>
              <a:t>Risk</a:t>
            </a:r>
            <a:endParaRPr lang="en-US" sz="1100" dirty="0"/>
          </a:p>
        </p:txBody>
      </p:sp>
      <p:sp>
        <p:nvSpPr>
          <p:cNvPr id="9" name="Text 7"/>
          <p:cNvSpPr txBox="1"/>
          <p:nvPr/>
        </p:nvSpPr>
        <p:spPr>
          <a:xfrm>
            <a:off x="6675120" y="1280160"/>
            <a:ext cx="4965192" cy="365760"/>
          </a:xfrm>
          <a:prstGeom prst="rect">
            <a:avLst/>
          </a:prstGeom>
          <a:noFill/>
          <a:ln/>
        </p:spPr>
        <p:txBody>
          <a:bodyPr wrap="square" lIns="0" tIns="0" rIns="0" bIns="0" rtlCol="0" anchor="ctr"/>
          <a:lstStyle/>
          <a:p>
            <a:pPr marL="0" indent="0">
              <a:buNone/>
            </a:pPr>
            <a:r>
              <a:rPr lang="en-US" sz="1100" b="1" dirty="0">
                <a:solidFill>
                  <a:srgbClr val="C9A24B"/>
                </a:solidFill>
                <a:latin typeface="Calibri" pitchFamily="34" charset="0"/>
                <a:ea typeface="Calibri" pitchFamily="34" charset="-122"/>
                <a:cs typeface="Calibri" pitchFamily="34" charset="-120"/>
              </a:rPr>
              <a:t>Mitigation</a:t>
            </a:r>
            <a:endParaRPr lang="en-US" sz="1100" dirty="0"/>
          </a:p>
        </p:txBody>
      </p:sp>
      <p:sp>
        <p:nvSpPr>
          <p:cNvPr id="10" name="Shape 8"/>
          <p:cNvSpPr/>
          <p:nvPr/>
        </p:nvSpPr>
        <p:spPr>
          <a:xfrm>
            <a:off x="502920" y="1645920"/>
            <a:ext cx="11183112" cy="493776"/>
          </a:xfrm>
          <a:prstGeom prst="roundRect">
            <a:avLst>
              <a:gd name="adj" fmla="val 14815"/>
            </a:avLst>
          </a:prstGeom>
          <a:solidFill>
            <a:srgbClr val="FFFFFF"/>
          </a:solidFill>
          <a:ln/>
        </p:spPr>
      </p:sp>
      <p:sp>
        <p:nvSpPr>
          <p:cNvPr id="11" name="Text 9"/>
          <p:cNvSpPr txBox="1"/>
          <p:nvPr/>
        </p:nvSpPr>
        <p:spPr>
          <a:xfrm>
            <a:off x="640080" y="1645920"/>
            <a:ext cx="1600200" cy="493776"/>
          </a:xfrm>
          <a:prstGeom prst="rect">
            <a:avLst/>
          </a:prstGeom>
          <a:noFill/>
          <a:ln/>
        </p:spPr>
        <p:txBody>
          <a:bodyPr wrap="square" lIns="0" tIns="0" rIns="0" bIns="0" rtlCol="0" anchor="ctr"/>
          <a:lstStyle/>
          <a:p>
            <a:pPr marL="0" indent="0">
              <a:lnSpc>
                <a:spcPct val="95000"/>
              </a:lnSpc>
              <a:buNone/>
            </a:pPr>
            <a:r>
              <a:rPr lang="en-US" sz="950" b="1" dirty="0">
                <a:solidFill>
                  <a:srgbClr val="121A33"/>
                </a:solidFill>
                <a:latin typeface="Calibri" pitchFamily="34" charset="0"/>
                <a:ea typeface="Calibri" pitchFamily="34" charset="-122"/>
                <a:cs typeface="Calibri" pitchFamily="34" charset="-120"/>
              </a:rPr>
              <a:t>Data Privacy</a:t>
            </a:r>
            <a:endParaRPr lang="en-US" sz="950" dirty="0"/>
          </a:p>
        </p:txBody>
      </p:sp>
      <p:sp>
        <p:nvSpPr>
          <p:cNvPr id="12" name="Text 10"/>
          <p:cNvSpPr txBox="1"/>
          <p:nvPr/>
        </p:nvSpPr>
        <p:spPr>
          <a:xfrm>
            <a:off x="2468880" y="1645920"/>
            <a:ext cx="3977640"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Sensitive client &amp; portfolio information</a:t>
            </a:r>
            <a:endParaRPr lang="en-US" sz="950" dirty="0"/>
          </a:p>
        </p:txBody>
      </p:sp>
      <p:sp>
        <p:nvSpPr>
          <p:cNvPr id="13" name="Text 11"/>
          <p:cNvSpPr txBox="1"/>
          <p:nvPr/>
        </p:nvSpPr>
        <p:spPr>
          <a:xfrm>
            <a:off x="6675120" y="1645920"/>
            <a:ext cx="4919472"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Access controls, encryption, permissioning, audit trails</a:t>
            </a:r>
            <a:endParaRPr lang="en-US" sz="950" dirty="0"/>
          </a:p>
        </p:txBody>
      </p:sp>
      <p:sp>
        <p:nvSpPr>
          <p:cNvPr id="14" name="Shape 12"/>
          <p:cNvSpPr/>
          <p:nvPr/>
        </p:nvSpPr>
        <p:spPr>
          <a:xfrm>
            <a:off x="502920" y="2176272"/>
            <a:ext cx="11183112" cy="493776"/>
          </a:xfrm>
          <a:prstGeom prst="roundRect">
            <a:avLst>
              <a:gd name="adj" fmla="val 14815"/>
            </a:avLst>
          </a:prstGeom>
          <a:solidFill>
            <a:srgbClr val="EEEFF3"/>
          </a:solidFill>
          <a:ln/>
        </p:spPr>
      </p:sp>
      <p:sp>
        <p:nvSpPr>
          <p:cNvPr id="15" name="Text 13"/>
          <p:cNvSpPr txBox="1"/>
          <p:nvPr/>
        </p:nvSpPr>
        <p:spPr>
          <a:xfrm>
            <a:off x="640080" y="2176272"/>
            <a:ext cx="1600200" cy="493776"/>
          </a:xfrm>
          <a:prstGeom prst="rect">
            <a:avLst/>
          </a:prstGeom>
          <a:noFill/>
          <a:ln/>
        </p:spPr>
        <p:txBody>
          <a:bodyPr wrap="square" lIns="0" tIns="0" rIns="0" bIns="0" rtlCol="0" anchor="ctr"/>
          <a:lstStyle/>
          <a:p>
            <a:pPr marL="0" indent="0">
              <a:lnSpc>
                <a:spcPct val="95000"/>
              </a:lnSpc>
              <a:buNone/>
            </a:pPr>
            <a:r>
              <a:rPr lang="en-US" sz="950" b="1" dirty="0">
                <a:solidFill>
                  <a:srgbClr val="121A33"/>
                </a:solidFill>
                <a:latin typeface="Calibri" pitchFamily="34" charset="0"/>
                <a:ea typeface="Calibri" pitchFamily="34" charset="-122"/>
                <a:cs typeface="Calibri" pitchFamily="34" charset="-120"/>
              </a:rPr>
              <a:t>Model Bias</a:t>
            </a:r>
            <a:endParaRPr lang="en-US" sz="950" dirty="0"/>
          </a:p>
        </p:txBody>
      </p:sp>
      <p:sp>
        <p:nvSpPr>
          <p:cNvPr id="16" name="Text 14"/>
          <p:cNvSpPr txBox="1"/>
          <p:nvPr/>
        </p:nvSpPr>
        <p:spPr>
          <a:xfrm>
            <a:off x="2468880" y="2176272"/>
            <a:ext cx="3977640"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Historical data may embed bias or limitations</a:t>
            </a:r>
            <a:endParaRPr lang="en-US" sz="950" dirty="0"/>
          </a:p>
        </p:txBody>
      </p:sp>
      <p:sp>
        <p:nvSpPr>
          <p:cNvPr id="17" name="Text 15"/>
          <p:cNvSpPr txBox="1"/>
          <p:nvPr/>
        </p:nvSpPr>
        <p:spPr>
          <a:xfrm>
            <a:off x="6675120" y="2176272"/>
            <a:ext cx="4919472"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Bias testing, model monitoring, dataset evaluation</a:t>
            </a:r>
            <a:endParaRPr lang="en-US" sz="950" dirty="0"/>
          </a:p>
        </p:txBody>
      </p:sp>
      <p:sp>
        <p:nvSpPr>
          <p:cNvPr id="18" name="Shape 16"/>
          <p:cNvSpPr/>
          <p:nvPr/>
        </p:nvSpPr>
        <p:spPr>
          <a:xfrm>
            <a:off x="502920" y="2706624"/>
            <a:ext cx="11183112" cy="493776"/>
          </a:xfrm>
          <a:prstGeom prst="roundRect">
            <a:avLst>
              <a:gd name="adj" fmla="val 14815"/>
            </a:avLst>
          </a:prstGeom>
          <a:solidFill>
            <a:srgbClr val="FFFFFF"/>
          </a:solidFill>
          <a:ln/>
        </p:spPr>
      </p:sp>
      <p:sp>
        <p:nvSpPr>
          <p:cNvPr id="19" name="Text 17"/>
          <p:cNvSpPr txBox="1"/>
          <p:nvPr/>
        </p:nvSpPr>
        <p:spPr>
          <a:xfrm>
            <a:off x="640080" y="2706624"/>
            <a:ext cx="1600200" cy="493776"/>
          </a:xfrm>
          <a:prstGeom prst="rect">
            <a:avLst/>
          </a:prstGeom>
          <a:noFill/>
          <a:ln/>
        </p:spPr>
        <p:txBody>
          <a:bodyPr wrap="square" lIns="0" tIns="0" rIns="0" bIns="0" rtlCol="0" anchor="ctr"/>
          <a:lstStyle/>
          <a:p>
            <a:pPr marL="0" indent="0">
              <a:lnSpc>
                <a:spcPct val="95000"/>
              </a:lnSpc>
              <a:buNone/>
            </a:pPr>
            <a:r>
              <a:rPr lang="en-US" sz="950" b="1" dirty="0">
                <a:solidFill>
                  <a:srgbClr val="121A33"/>
                </a:solidFill>
                <a:latin typeface="Calibri" pitchFamily="34" charset="0"/>
                <a:ea typeface="Calibri" pitchFamily="34" charset="-122"/>
                <a:cs typeface="Calibri" pitchFamily="34" charset="-120"/>
              </a:rPr>
              <a:t>AI Hallucination</a:t>
            </a:r>
            <a:endParaRPr lang="en-US" sz="950" dirty="0"/>
          </a:p>
        </p:txBody>
      </p:sp>
      <p:sp>
        <p:nvSpPr>
          <p:cNvPr id="20" name="Text 18"/>
          <p:cNvSpPr txBox="1"/>
          <p:nvPr/>
        </p:nvSpPr>
        <p:spPr>
          <a:xfrm>
            <a:off x="2468880" y="2706624"/>
            <a:ext cx="3977640"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Generative AI may produce inaccurate output</a:t>
            </a:r>
            <a:endParaRPr lang="en-US" sz="950" dirty="0"/>
          </a:p>
        </p:txBody>
      </p:sp>
      <p:sp>
        <p:nvSpPr>
          <p:cNvPr id="21" name="Text 19"/>
          <p:cNvSpPr txBox="1"/>
          <p:nvPr/>
        </p:nvSpPr>
        <p:spPr>
          <a:xfrm>
            <a:off x="6675120" y="2706624"/>
            <a:ext cx="4919472"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Grounded/retrieval-based systems, output validation</a:t>
            </a:r>
            <a:endParaRPr lang="en-US" sz="950" dirty="0"/>
          </a:p>
        </p:txBody>
      </p:sp>
      <p:sp>
        <p:nvSpPr>
          <p:cNvPr id="22" name="Shape 20"/>
          <p:cNvSpPr/>
          <p:nvPr/>
        </p:nvSpPr>
        <p:spPr>
          <a:xfrm>
            <a:off x="502920" y="3236976"/>
            <a:ext cx="11183112" cy="493776"/>
          </a:xfrm>
          <a:prstGeom prst="roundRect">
            <a:avLst>
              <a:gd name="adj" fmla="val 14815"/>
            </a:avLst>
          </a:prstGeom>
          <a:solidFill>
            <a:srgbClr val="EEEFF3"/>
          </a:solidFill>
          <a:ln/>
        </p:spPr>
      </p:sp>
      <p:sp>
        <p:nvSpPr>
          <p:cNvPr id="23" name="Text 21"/>
          <p:cNvSpPr txBox="1"/>
          <p:nvPr/>
        </p:nvSpPr>
        <p:spPr>
          <a:xfrm>
            <a:off x="640080" y="3236976"/>
            <a:ext cx="1600200" cy="493776"/>
          </a:xfrm>
          <a:prstGeom prst="rect">
            <a:avLst/>
          </a:prstGeom>
          <a:noFill/>
          <a:ln/>
        </p:spPr>
        <p:txBody>
          <a:bodyPr wrap="square" lIns="0" tIns="0" rIns="0" bIns="0" rtlCol="0" anchor="ctr"/>
          <a:lstStyle/>
          <a:p>
            <a:pPr marL="0" indent="0">
              <a:lnSpc>
                <a:spcPct val="95000"/>
              </a:lnSpc>
              <a:buNone/>
            </a:pPr>
            <a:r>
              <a:rPr lang="en-US" sz="950" b="1" dirty="0">
                <a:solidFill>
                  <a:srgbClr val="121A33"/>
                </a:solidFill>
                <a:latin typeface="Calibri" pitchFamily="34" charset="0"/>
                <a:ea typeface="Calibri" pitchFamily="34" charset="-122"/>
                <a:cs typeface="Calibri" pitchFamily="34" charset="-120"/>
              </a:rPr>
              <a:t>Explainability</a:t>
            </a:r>
            <a:endParaRPr lang="en-US" sz="950" dirty="0"/>
          </a:p>
        </p:txBody>
      </p:sp>
      <p:sp>
        <p:nvSpPr>
          <p:cNvPr id="24" name="Text 22"/>
          <p:cNvSpPr txBox="1"/>
          <p:nvPr/>
        </p:nvSpPr>
        <p:spPr>
          <a:xfrm>
            <a:off x="2468880" y="3236976"/>
            <a:ext cx="3977640"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Users may not understand AI risk flags</a:t>
            </a:r>
            <a:endParaRPr lang="en-US" sz="950" dirty="0"/>
          </a:p>
        </p:txBody>
      </p:sp>
      <p:sp>
        <p:nvSpPr>
          <p:cNvPr id="25" name="Text 23"/>
          <p:cNvSpPr txBox="1"/>
          <p:nvPr/>
        </p:nvSpPr>
        <p:spPr>
          <a:xfrm>
            <a:off x="6675120" y="3236976"/>
            <a:ext cx="4919472"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Explainable AI, feature importance, auditability</a:t>
            </a:r>
            <a:endParaRPr lang="en-US" sz="950" dirty="0"/>
          </a:p>
        </p:txBody>
      </p:sp>
      <p:sp>
        <p:nvSpPr>
          <p:cNvPr id="26" name="Shape 24"/>
          <p:cNvSpPr/>
          <p:nvPr/>
        </p:nvSpPr>
        <p:spPr>
          <a:xfrm>
            <a:off x="502920" y="3767328"/>
            <a:ext cx="11183112" cy="493776"/>
          </a:xfrm>
          <a:prstGeom prst="roundRect">
            <a:avLst>
              <a:gd name="adj" fmla="val 14815"/>
            </a:avLst>
          </a:prstGeom>
          <a:solidFill>
            <a:srgbClr val="FFFFFF"/>
          </a:solidFill>
          <a:ln/>
        </p:spPr>
      </p:sp>
      <p:sp>
        <p:nvSpPr>
          <p:cNvPr id="27" name="Text 25"/>
          <p:cNvSpPr txBox="1"/>
          <p:nvPr/>
        </p:nvSpPr>
        <p:spPr>
          <a:xfrm>
            <a:off x="640080" y="3767328"/>
            <a:ext cx="1600200" cy="493776"/>
          </a:xfrm>
          <a:prstGeom prst="rect">
            <a:avLst/>
          </a:prstGeom>
          <a:noFill/>
          <a:ln/>
        </p:spPr>
        <p:txBody>
          <a:bodyPr wrap="square" lIns="0" tIns="0" rIns="0" bIns="0" rtlCol="0" anchor="ctr"/>
          <a:lstStyle/>
          <a:p>
            <a:pPr marL="0" indent="0">
              <a:lnSpc>
                <a:spcPct val="95000"/>
              </a:lnSpc>
              <a:buNone/>
            </a:pPr>
            <a:r>
              <a:rPr lang="en-US" sz="950" b="1" dirty="0">
                <a:solidFill>
                  <a:srgbClr val="121A33"/>
                </a:solidFill>
                <a:latin typeface="Calibri" pitchFamily="34" charset="0"/>
                <a:ea typeface="Calibri" pitchFamily="34" charset="-122"/>
                <a:cs typeface="Calibri" pitchFamily="34" charset="-120"/>
              </a:rPr>
              <a:t>Overreliance on AI</a:t>
            </a:r>
            <a:endParaRPr lang="en-US" sz="950" dirty="0"/>
          </a:p>
        </p:txBody>
      </p:sp>
      <p:sp>
        <p:nvSpPr>
          <p:cNvPr id="28" name="Text 26"/>
          <p:cNvSpPr txBox="1"/>
          <p:nvPr/>
        </p:nvSpPr>
        <p:spPr>
          <a:xfrm>
            <a:off x="2468880" y="3767328"/>
            <a:ext cx="3977640"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Users may accept AI output uncritically</a:t>
            </a:r>
            <a:endParaRPr lang="en-US" sz="950" dirty="0"/>
          </a:p>
        </p:txBody>
      </p:sp>
      <p:sp>
        <p:nvSpPr>
          <p:cNvPr id="29" name="Text 27"/>
          <p:cNvSpPr txBox="1"/>
          <p:nvPr/>
        </p:nvSpPr>
        <p:spPr>
          <a:xfrm>
            <a:off x="6675120" y="3767328"/>
            <a:ext cx="4919472"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Human-in-the-loop, approvals, training</a:t>
            </a:r>
            <a:endParaRPr lang="en-US" sz="950" dirty="0"/>
          </a:p>
        </p:txBody>
      </p:sp>
      <p:sp>
        <p:nvSpPr>
          <p:cNvPr id="30" name="Shape 28"/>
          <p:cNvSpPr/>
          <p:nvPr/>
        </p:nvSpPr>
        <p:spPr>
          <a:xfrm>
            <a:off x="502920" y="4297680"/>
            <a:ext cx="11183112" cy="493776"/>
          </a:xfrm>
          <a:prstGeom prst="roundRect">
            <a:avLst>
              <a:gd name="adj" fmla="val 14815"/>
            </a:avLst>
          </a:prstGeom>
          <a:solidFill>
            <a:srgbClr val="EEEFF3"/>
          </a:solidFill>
          <a:ln/>
        </p:spPr>
      </p:sp>
      <p:sp>
        <p:nvSpPr>
          <p:cNvPr id="31" name="Text 29"/>
          <p:cNvSpPr txBox="1"/>
          <p:nvPr/>
        </p:nvSpPr>
        <p:spPr>
          <a:xfrm>
            <a:off x="640080" y="4297680"/>
            <a:ext cx="1600200" cy="493776"/>
          </a:xfrm>
          <a:prstGeom prst="rect">
            <a:avLst/>
          </a:prstGeom>
          <a:noFill/>
          <a:ln/>
        </p:spPr>
        <p:txBody>
          <a:bodyPr wrap="square" lIns="0" tIns="0" rIns="0" bIns="0" rtlCol="0" anchor="ctr"/>
          <a:lstStyle/>
          <a:p>
            <a:pPr marL="0" indent="0">
              <a:lnSpc>
                <a:spcPct val="95000"/>
              </a:lnSpc>
              <a:buNone/>
            </a:pPr>
            <a:r>
              <a:rPr lang="en-US" sz="950" b="1" dirty="0">
                <a:solidFill>
                  <a:srgbClr val="121A33"/>
                </a:solidFill>
                <a:latin typeface="Calibri" pitchFamily="34" charset="0"/>
                <a:ea typeface="Calibri" pitchFamily="34" charset="-122"/>
                <a:cs typeface="Calibri" pitchFamily="34" charset="-120"/>
              </a:rPr>
              <a:t>Cybersecurity</a:t>
            </a:r>
            <a:endParaRPr lang="en-US" sz="950" dirty="0"/>
          </a:p>
        </p:txBody>
      </p:sp>
      <p:sp>
        <p:nvSpPr>
          <p:cNvPr id="32" name="Text 30"/>
          <p:cNvSpPr txBox="1"/>
          <p:nvPr/>
        </p:nvSpPr>
        <p:spPr>
          <a:xfrm>
            <a:off x="2468880" y="4297680"/>
            <a:ext cx="3977640"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AI systems may be targeted or manipulated</a:t>
            </a:r>
            <a:endParaRPr lang="en-US" sz="950" dirty="0"/>
          </a:p>
        </p:txBody>
      </p:sp>
      <p:sp>
        <p:nvSpPr>
          <p:cNvPr id="33" name="Text 31"/>
          <p:cNvSpPr txBox="1"/>
          <p:nvPr/>
        </p:nvSpPr>
        <p:spPr>
          <a:xfrm>
            <a:off x="6675120" y="4297680"/>
            <a:ext cx="4919472" cy="493776"/>
          </a:xfrm>
          <a:prstGeom prst="rect">
            <a:avLst/>
          </a:prstGeom>
          <a:noFill/>
          <a:ln/>
        </p:spPr>
        <p:txBody>
          <a:bodyPr wrap="square" lIns="0" tIns="0" rIns="0" bIns="0" rtlCol="0" anchor="ctr"/>
          <a:lstStyle/>
          <a:p>
            <a:pPr marL="0" indent="0">
              <a:lnSpc>
                <a:spcPct val="95000"/>
              </a:lnSpc>
              <a:buNone/>
            </a:pPr>
            <a:r>
              <a:rPr lang="en-US" sz="950" dirty="0">
                <a:solidFill>
                  <a:srgbClr val="1A1D29"/>
                </a:solidFill>
                <a:latin typeface="Calibri" pitchFamily="34" charset="0"/>
                <a:ea typeface="Calibri" pitchFamily="34" charset="-122"/>
                <a:cs typeface="Calibri" pitchFamily="34" charset="-120"/>
              </a:rPr>
              <a:t>Security monitoring, access controls, governance</a:t>
            </a:r>
            <a:endParaRPr lang="en-US" sz="950" dirty="0"/>
          </a:p>
        </p:txBody>
      </p:sp>
      <p:sp>
        <p:nvSpPr>
          <p:cNvPr id="34" name="Shape 32"/>
          <p:cNvSpPr/>
          <p:nvPr/>
        </p:nvSpPr>
        <p:spPr>
          <a:xfrm>
            <a:off x="502920" y="4992624"/>
            <a:ext cx="2130552" cy="457200"/>
          </a:xfrm>
          <a:prstGeom prst="roundRect">
            <a:avLst>
              <a:gd name="adj" fmla="val 16000"/>
            </a:avLst>
          </a:prstGeom>
          <a:solidFill>
            <a:srgbClr val="121A33"/>
          </a:solidFill>
          <a:ln/>
        </p:spPr>
      </p:sp>
      <p:sp>
        <p:nvSpPr>
          <p:cNvPr id="35" name="Text 33"/>
          <p:cNvSpPr txBox="1"/>
          <p:nvPr/>
        </p:nvSpPr>
        <p:spPr>
          <a:xfrm>
            <a:off x="502920" y="4992624"/>
            <a:ext cx="2130552" cy="457200"/>
          </a:xfrm>
          <a:prstGeom prst="rect">
            <a:avLst/>
          </a:prstGeom>
          <a:noFill/>
          <a:ln/>
        </p:spPr>
        <p:txBody>
          <a:bodyPr wrap="square" lIns="0" tIns="0" rIns="0" bIns="0" rtlCol="0" anchor="ctr"/>
          <a:lstStyle/>
          <a:p>
            <a:pPr marL="0" indent="0" algn="ctr">
              <a:buNone/>
            </a:pPr>
            <a:r>
              <a:rPr lang="en-US" sz="950" b="1" kern="0" spc="100" dirty="0">
                <a:solidFill>
                  <a:srgbClr val="C9A24B"/>
                </a:solidFill>
                <a:latin typeface="Calibri" pitchFamily="34" charset="0"/>
                <a:ea typeface="Calibri" pitchFamily="34" charset="-122"/>
                <a:cs typeface="Calibri" pitchFamily="34" charset="-120"/>
              </a:rPr>
              <a:t>PRIVACY</a:t>
            </a:r>
            <a:endParaRPr lang="en-US" sz="950" dirty="0"/>
          </a:p>
        </p:txBody>
      </p:sp>
      <p:sp>
        <p:nvSpPr>
          <p:cNvPr id="36" name="Shape 34"/>
          <p:cNvSpPr/>
          <p:nvPr/>
        </p:nvSpPr>
        <p:spPr>
          <a:xfrm>
            <a:off x="2734056" y="4992624"/>
            <a:ext cx="2130552" cy="457200"/>
          </a:xfrm>
          <a:prstGeom prst="roundRect">
            <a:avLst>
              <a:gd name="adj" fmla="val 16000"/>
            </a:avLst>
          </a:prstGeom>
          <a:solidFill>
            <a:srgbClr val="121A33"/>
          </a:solidFill>
          <a:ln/>
        </p:spPr>
      </p:sp>
      <p:sp>
        <p:nvSpPr>
          <p:cNvPr id="37" name="Text 35"/>
          <p:cNvSpPr txBox="1"/>
          <p:nvPr/>
        </p:nvSpPr>
        <p:spPr>
          <a:xfrm>
            <a:off x="2734056" y="4992624"/>
            <a:ext cx="2130552" cy="457200"/>
          </a:xfrm>
          <a:prstGeom prst="rect">
            <a:avLst/>
          </a:prstGeom>
          <a:noFill/>
          <a:ln/>
        </p:spPr>
        <p:txBody>
          <a:bodyPr wrap="square" lIns="0" tIns="0" rIns="0" bIns="0" rtlCol="0" anchor="ctr"/>
          <a:lstStyle/>
          <a:p>
            <a:pPr marL="0" indent="0" algn="ctr">
              <a:buNone/>
            </a:pPr>
            <a:r>
              <a:rPr lang="en-US" sz="950" b="1" kern="0" spc="100" dirty="0">
                <a:solidFill>
                  <a:srgbClr val="C9A24B"/>
                </a:solidFill>
                <a:latin typeface="Calibri" pitchFamily="34" charset="0"/>
                <a:ea typeface="Calibri" pitchFamily="34" charset="-122"/>
                <a:cs typeface="Calibri" pitchFamily="34" charset="-120"/>
              </a:rPr>
              <a:t>FAIRNESS</a:t>
            </a:r>
            <a:endParaRPr lang="en-US" sz="950" dirty="0"/>
          </a:p>
        </p:txBody>
      </p:sp>
      <p:sp>
        <p:nvSpPr>
          <p:cNvPr id="38" name="Shape 36"/>
          <p:cNvSpPr/>
          <p:nvPr/>
        </p:nvSpPr>
        <p:spPr>
          <a:xfrm>
            <a:off x="4965192" y="4992624"/>
            <a:ext cx="2130552" cy="457200"/>
          </a:xfrm>
          <a:prstGeom prst="roundRect">
            <a:avLst>
              <a:gd name="adj" fmla="val 16000"/>
            </a:avLst>
          </a:prstGeom>
          <a:solidFill>
            <a:srgbClr val="121A33"/>
          </a:solidFill>
          <a:ln/>
        </p:spPr>
      </p:sp>
      <p:sp>
        <p:nvSpPr>
          <p:cNvPr id="39" name="Text 37"/>
          <p:cNvSpPr txBox="1"/>
          <p:nvPr/>
        </p:nvSpPr>
        <p:spPr>
          <a:xfrm>
            <a:off x="4965192" y="4992624"/>
            <a:ext cx="2130552" cy="457200"/>
          </a:xfrm>
          <a:prstGeom prst="rect">
            <a:avLst/>
          </a:prstGeom>
          <a:noFill/>
          <a:ln/>
        </p:spPr>
        <p:txBody>
          <a:bodyPr wrap="square" lIns="0" tIns="0" rIns="0" bIns="0" rtlCol="0" anchor="ctr"/>
          <a:lstStyle/>
          <a:p>
            <a:pPr marL="0" indent="0" algn="ctr">
              <a:buNone/>
            </a:pPr>
            <a:r>
              <a:rPr lang="en-US" sz="950" b="1" kern="0" spc="100" dirty="0">
                <a:solidFill>
                  <a:srgbClr val="C9A24B"/>
                </a:solidFill>
                <a:latin typeface="Calibri" pitchFamily="34" charset="0"/>
                <a:ea typeface="Calibri" pitchFamily="34" charset="-122"/>
                <a:cs typeface="Calibri" pitchFamily="34" charset="-120"/>
              </a:rPr>
              <a:t>TRANSPARENCY</a:t>
            </a:r>
            <a:endParaRPr lang="en-US" sz="950" dirty="0"/>
          </a:p>
        </p:txBody>
      </p:sp>
      <p:sp>
        <p:nvSpPr>
          <p:cNvPr id="40" name="Shape 38"/>
          <p:cNvSpPr/>
          <p:nvPr/>
        </p:nvSpPr>
        <p:spPr>
          <a:xfrm>
            <a:off x="7196328" y="4992624"/>
            <a:ext cx="2130552" cy="457200"/>
          </a:xfrm>
          <a:prstGeom prst="roundRect">
            <a:avLst>
              <a:gd name="adj" fmla="val 16000"/>
            </a:avLst>
          </a:prstGeom>
          <a:solidFill>
            <a:srgbClr val="121A33"/>
          </a:solidFill>
          <a:ln/>
        </p:spPr>
      </p:sp>
      <p:sp>
        <p:nvSpPr>
          <p:cNvPr id="41" name="Text 39"/>
          <p:cNvSpPr txBox="1"/>
          <p:nvPr/>
        </p:nvSpPr>
        <p:spPr>
          <a:xfrm>
            <a:off x="7196328" y="4992624"/>
            <a:ext cx="2130552" cy="457200"/>
          </a:xfrm>
          <a:prstGeom prst="rect">
            <a:avLst/>
          </a:prstGeom>
          <a:noFill/>
          <a:ln/>
        </p:spPr>
        <p:txBody>
          <a:bodyPr wrap="square" lIns="0" tIns="0" rIns="0" bIns="0" rtlCol="0" anchor="ctr"/>
          <a:lstStyle/>
          <a:p>
            <a:pPr marL="0" indent="0" algn="ctr">
              <a:buNone/>
            </a:pPr>
            <a:r>
              <a:rPr lang="en-US" sz="950" b="1" kern="0" spc="100" dirty="0">
                <a:solidFill>
                  <a:srgbClr val="C9A24B"/>
                </a:solidFill>
                <a:latin typeface="Calibri" pitchFamily="34" charset="0"/>
                <a:ea typeface="Calibri" pitchFamily="34" charset="-122"/>
                <a:cs typeface="Calibri" pitchFamily="34" charset="-120"/>
              </a:rPr>
              <a:t>ACCOUNTABILITY</a:t>
            </a:r>
            <a:endParaRPr lang="en-US" sz="950" dirty="0"/>
          </a:p>
        </p:txBody>
      </p:sp>
      <p:sp>
        <p:nvSpPr>
          <p:cNvPr id="42" name="Shape 40"/>
          <p:cNvSpPr/>
          <p:nvPr/>
        </p:nvSpPr>
        <p:spPr>
          <a:xfrm>
            <a:off x="9427464" y="4992624"/>
            <a:ext cx="2130552" cy="457200"/>
          </a:xfrm>
          <a:prstGeom prst="roundRect">
            <a:avLst>
              <a:gd name="adj" fmla="val 16000"/>
            </a:avLst>
          </a:prstGeom>
          <a:solidFill>
            <a:srgbClr val="121A33"/>
          </a:solidFill>
          <a:ln/>
        </p:spPr>
      </p:sp>
      <p:sp>
        <p:nvSpPr>
          <p:cNvPr id="43" name="Text 41"/>
          <p:cNvSpPr txBox="1"/>
          <p:nvPr/>
        </p:nvSpPr>
        <p:spPr>
          <a:xfrm>
            <a:off x="9427464" y="4992624"/>
            <a:ext cx="2130552" cy="457200"/>
          </a:xfrm>
          <a:prstGeom prst="rect">
            <a:avLst/>
          </a:prstGeom>
          <a:noFill/>
          <a:ln/>
        </p:spPr>
        <p:txBody>
          <a:bodyPr wrap="square" lIns="0" tIns="0" rIns="0" bIns="0" rtlCol="0" anchor="ctr"/>
          <a:lstStyle/>
          <a:p>
            <a:pPr marL="0" indent="0" algn="ctr">
              <a:buNone/>
            </a:pPr>
            <a:r>
              <a:rPr lang="en-US" sz="950" b="1" kern="0" spc="100" dirty="0">
                <a:solidFill>
                  <a:srgbClr val="C9A24B"/>
                </a:solidFill>
                <a:latin typeface="Calibri" pitchFamily="34" charset="0"/>
                <a:ea typeface="Calibri" pitchFamily="34" charset="-122"/>
                <a:cs typeface="Calibri" pitchFamily="34" charset="-120"/>
              </a:rPr>
              <a:t>HUMAN OVERSIGHT</a:t>
            </a:r>
            <a:endParaRPr lang="en-US" sz="950" dirty="0"/>
          </a:p>
        </p:txBody>
      </p:sp>
      <p:sp>
        <p:nvSpPr>
          <p:cNvPr id="44" name="Text 42"/>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5" name="Text 43"/>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METHODOLOGY</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AI Tools &amp; Prompts Used</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09 / 12</a:t>
            </a:r>
            <a:endParaRPr lang="en-US" sz="1050" dirty="0"/>
          </a:p>
        </p:txBody>
      </p:sp>
      <p:sp>
        <p:nvSpPr>
          <p:cNvPr id="6" name="Text 4"/>
          <p:cNvSpPr txBox="1"/>
          <p:nvPr/>
        </p:nvSpPr>
        <p:spPr>
          <a:xfrm>
            <a:off x="502920" y="1234440"/>
            <a:ext cx="5486400" cy="274320"/>
          </a:xfrm>
          <a:prstGeom prst="rect">
            <a:avLst/>
          </a:prstGeom>
          <a:noFill/>
          <a:ln/>
        </p:spPr>
        <p:txBody>
          <a:bodyPr wrap="square" lIns="0" tIns="0" rIns="0" bIns="0" rtlCol="0" anchor="ctr"/>
          <a:lstStyle/>
          <a:p>
            <a:pPr marL="0" indent="0">
              <a:buNone/>
            </a:pPr>
            <a:r>
              <a:rPr lang="en-US" sz="1350" b="1" dirty="0">
                <a:solidFill>
                  <a:srgbClr val="121A33"/>
                </a:solidFill>
                <a:latin typeface="Cambria" pitchFamily="34" charset="0"/>
                <a:ea typeface="Cambria" pitchFamily="34" charset="-122"/>
                <a:cs typeface="Cambria" pitchFamily="34" charset="-120"/>
              </a:rPr>
              <a:t>How We Used AI in This Project</a:t>
            </a:r>
            <a:endParaRPr lang="en-US" sz="1350" dirty="0"/>
          </a:p>
        </p:txBody>
      </p:sp>
      <p:sp>
        <p:nvSpPr>
          <p:cNvPr id="7" name="Shape 5"/>
          <p:cNvSpPr/>
          <p:nvPr/>
        </p:nvSpPr>
        <p:spPr>
          <a:xfrm>
            <a:off x="502920" y="1572768"/>
            <a:ext cx="5440680" cy="777240"/>
          </a:xfrm>
          <a:prstGeom prst="roundRect">
            <a:avLst>
              <a:gd name="adj" fmla="val 9412"/>
            </a:avLst>
          </a:prstGeom>
          <a:solidFill>
            <a:srgbClr val="EEEFF3"/>
          </a:solidFill>
          <a:ln/>
          <a:effectLst>
            <a:outerShdw blurRad="76200" dist="25400" dir="5400000" algn="bl" rotWithShape="0">
              <a:srgbClr val="9AA0B0">
                <a:alpha val="25000"/>
              </a:srgbClr>
            </a:outerShdw>
          </a:effectLst>
        </p:spPr>
      </p:sp>
      <p:sp>
        <p:nvSpPr>
          <p:cNvPr id="8" name="Shape 6"/>
          <p:cNvSpPr/>
          <p:nvPr/>
        </p:nvSpPr>
        <p:spPr>
          <a:xfrm>
            <a:off x="658368" y="1691640"/>
            <a:ext cx="329184" cy="329184"/>
          </a:xfrm>
          <a:prstGeom prst="ellipse">
            <a:avLst/>
          </a:prstGeom>
          <a:solidFill>
            <a:srgbClr val="121A33"/>
          </a:solidFill>
          <a:ln/>
        </p:spPr>
      </p:sp>
      <p:sp>
        <p:nvSpPr>
          <p:cNvPr id="9" name="Text 7"/>
          <p:cNvSpPr txBox="1"/>
          <p:nvPr/>
        </p:nvSpPr>
        <p:spPr>
          <a:xfrm>
            <a:off x="658368" y="1691640"/>
            <a:ext cx="329184" cy="329184"/>
          </a:xfrm>
          <a:prstGeom prst="rect">
            <a:avLst/>
          </a:prstGeom>
          <a:noFill/>
          <a:ln/>
        </p:spPr>
        <p:txBody>
          <a:bodyPr wrap="square" lIns="0" tIns="0" rIns="0" bIns="0" rtlCol="0" anchor="ctr"/>
          <a:lstStyle/>
          <a:p>
            <a:pPr marL="0" indent="0" algn="ctr">
              <a:buNone/>
            </a:pPr>
            <a:r>
              <a:rPr lang="en-US" sz="1150" b="1" dirty="0">
                <a:solidFill>
                  <a:srgbClr val="C9A24B"/>
                </a:solidFill>
              </a:rPr>
              <a:t>1</a:t>
            </a:r>
            <a:endParaRPr lang="en-US" sz="1150" dirty="0"/>
          </a:p>
        </p:txBody>
      </p:sp>
      <p:sp>
        <p:nvSpPr>
          <p:cNvPr id="10" name="Text 8"/>
          <p:cNvSpPr txBox="1"/>
          <p:nvPr/>
        </p:nvSpPr>
        <p:spPr>
          <a:xfrm>
            <a:off x="1133856" y="1645920"/>
            <a:ext cx="4663440" cy="237744"/>
          </a:xfrm>
          <a:prstGeom prst="rect">
            <a:avLst/>
          </a:prstGeom>
          <a:noFill/>
          <a:ln/>
        </p:spPr>
        <p:txBody>
          <a:bodyPr wrap="square" lIns="0" tIns="0" rIns="0" bIns="0" rtlCol="0" anchor="ctr"/>
          <a:lstStyle/>
          <a:p>
            <a:pPr marL="0" indent="0">
              <a:buNone/>
            </a:pPr>
            <a:r>
              <a:rPr lang="en-US" sz="1150" b="1" dirty="0">
                <a:solidFill>
                  <a:srgbClr val="121A33"/>
                </a:solidFill>
                <a:latin typeface="Calibri" pitchFamily="34" charset="0"/>
                <a:ea typeface="Calibri" pitchFamily="34" charset="-122"/>
                <a:cs typeface="Calibri" pitchFamily="34" charset="-120"/>
              </a:rPr>
              <a:t>Research</a:t>
            </a:r>
            <a:endParaRPr lang="en-US" sz="1150" dirty="0"/>
          </a:p>
        </p:txBody>
      </p:sp>
      <p:sp>
        <p:nvSpPr>
          <p:cNvPr id="11" name="Text 9"/>
          <p:cNvSpPr txBox="1"/>
          <p:nvPr/>
        </p:nvSpPr>
        <p:spPr>
          <a:xfrm>
            <a:off x="1133856" y="1901952"/>
            <a:ext cx="4709160" cy="384048"/>
          </a:xfrm>
          <a:prstGeom prst="rect">
            <a:avLst/>
          </a:prstGeom>
          <a:noFill/>
          <a:ln/>
        </p:spPr>
        <p:txBody>
          <a:bodyPr wrap="square" lIns="0" tIns="0" rIns="0" bIns="0" rtlCol="0" anchor="ctr"/>
          <a:lstStyle/>
          <a:p>
            <a:pPr marL="0" indent="0">
              <a:lnSpc>
                <a:spcPct val="100000"/>
              </a:lnSpc>
              <a:buNone/>
            </a:pPr>
            <a:r>
              <a:rPr lang="en-US" sz="950" dirty="0">
                <a:solidFill>
                  <a:srgbClr val="5B6072"/>
                </a:solidFill>
                <a:latin typeface="Calibri" pitchFamily="34" charset="0"/>
                <a:ea typeface="Calibri" pitchFamily="34" charset="-122"/>
                <a:cs typeface="Calibri" pitchFamily="34" charset="-120"/>
              </a:rPr>
              <a:t>AI-assisted research and organization of source material</a:t>
            </a:r>
            <a:endParaRPr lang="en-US" sz="950" dirty="0"/>
          </a:p>
        </p:txBody>
      </p:sp>
      <p:sp>
        <p:nvSpPr>
          <p:cNvPr id="12" name="Shape 10"/>
          <p:cNvSpPr/>
          <p:nvPr/>
        </p:nvSpPr>
        <p:spPr>
          <a:xfrm>
            <a:off x="502920" y="2468880"/>
            <a:ext cx="5440680" cy="777240"/>
          </a:xfrm>
          <a:prstGeom prst="roundRect">
            <a:avLst>
              <a:gd name="adj" fmla="val 9412"/>
            </a:avLst>
          </a:prstGeom>
          <a:solidFill>
            <a:srgbClr val="EEEFF3"/>
          </a:solidFill>
          <a:ln/>
          <a:effectLst>
            <a:outerShdw blurRad="76200" dist="25400" dir="5400000" algn="bl" rotWithShape="0">
              <a:srgbClr val="9AA0B0">
                <a:alpha val="25000"/>
              </a:srgbClr>
            </a:outerShdw>
          </a:effectLst>
        </p:spPr>
      </p:sp>
      <p:sp>
        <p:nvSpPr>
          <p:cNvPr id="13" name="Shape 11"/>
          <p:cNvSpPr/>
          <p:nvPr/>
        </p:nvSpPr>
        <p:spPr>
          <a:xfrm>
            <a:off x="658368" y="2587752"/>
            <a:ext cx="329184" cy="329184"/>
          </a:xfrm>
          <a:prstGeom prst="ellipse">
            <a:avLst/>
          </a:prstGeom>
          <a:solidFill>
            <a:srgbClr val="121A33"/>
          </a:solidFill>
          <a:ln/>
        </p:spPr>
      </p:sp>
      <p:sp>
        <p:nvSpPr>
          <p:cNvPr id="14" name="Text 12"/>
          <p:cNvSpPr txBox="1"/>
          <p:nvPr/>
        </p:nvSpPr>
        <p:spPr>
          <a:xfrm>
            <a:off x="658368" y="2587752"/>
            <a:ext cx="329184" cy="329184"/>
          </a:xfrm>
          <a:prstGeom prst="rect">
            <a:avLst/>
          </a:prstGeom>
          <a:noFill/>
          <a:ln/>
        </p:spPr>
        <p:txBody>
          <a:bodyPr wrap="square" lIns="0" tIns="0" rIns="0" bIns="0" rtlCol="0" anchor="ctr"/>
          <a:lstStyle/>
          <a:p>
            <a:pPr marL="0" indent="0" algn="ctr">
              <a:buNone/>
            </a:pPr>
            <a:r>
              <a:rPr lang="en-US" sz="1150" b="1" dirty="0">
                <a:solidFill>
                  <a:srgbClr val="C9A24B"/>
                </a:solidFill>
              </a:rPr>
              <a:t>2</a:t>
            </a:r>
            <a:endParaRPr lang="en-US" sz="1150" dirty="0"/>
          </a:p>
        </p:txBody>
      </p:sp>
      <p:sp>
        <p:nvSpPr>
          <p:cNvPr id="15" name="Text 13"/>
          <p:cNvSpPr txBox="1"/>
          <p:nvPr/>
        </p:nvSpPr>
        <p:spPr>
          <a:xfrm>
            <a:off x="1133856" y="2542032"/>
            <a:ext cx="4663440" cy="237744"/>
          </a:xfrm>
          <a:prstGeom prst="rect">
            <a:avLst/>
          </a:prstGeom>
          <a:noFill/>
          <a:ln/>
        </p:spPr>
        <p:txBody>
          <a:bodyPr wrap="square" lIns="0" tIns="0" rIns="0" bIns="0" rtlCol="0" anchor="ctr"/>
          <a:lstStyle/>
          <a:p>
            <a:pPr marL="0" indent="0">
              <a:buNone/>
            </a:pPr>
            <a:r>
              <a:rPr lang="en-US" sz="1150" b="1" dirty="0">
                <a:solidFill>
                  <a:srgbClr val="121A33"/>
                </a:solidFill>
                <a:latin typeface="Calibri" pitchFamily="34" charset="0"/>
                <a:ea typeface="Calibri" pitchFamily="34" charset="-122"/>
                <a:cs typeface="Calibri" pitchFamily="34" charset="-120"/>
              </a:rPr>
              <a:t>Prompt Engineering</a:t>
            </a:r>
            <a:endParaRPr lang="en-US" sz="1150" dirty="0"/>
          </a:p>
        </p:txBody>
      </p:sp>
      <p:sp>
        <p:nvSpPr>
          <p:cNvPr id="16" name="Text 14"/>
          <p:cNvSpPr txBox="1"/>
          <p:nvPr/>
        </p:nvSpPr>
        <p:spPr>
          <a:xfrm>
            <a:off x="1133856" y="2798064"/>
            <a:ext cx="4709160" cy="384048"/>
          </a:xfrm>
          <a:prstGeom prst="rect">
            <a:avLst/>
          </a:prstGeom>
          <a:noFill/>
          <a:ln/>
        </p:spPr>
        <p:txBody>
          <a:bodyPr wrap="square" lIns="0" tIns="0" rIns="0" bIns="0" rtlCol="0" anchor="ctr"/>
          <a:lstStyle/>
          <a:p>
            <a:pPr marL="0" indent="0">
              <a:lnSpc>
                <a:spcPct val="100000"/>
              </a:lnSpc>
              <a:buNone/>
            </a:pPr>
            <a:r>
              <a:rPr lang="en-US" sz="950" dirty="0">
                <a:solidFill>
                  <a:srgbClr val="5B6072"/>
                </a:solidFill>
                <a:latin typeface="Calibri" pitchFamily="34" charset="0"/>
                <a:ea typeface="Calibri" pitchFamily="34" charset="-122"/>
                <a:cs typeface="Calibri" pitchFamily="34" charset="-120"/>
              </a:rPr>
              <a:t>Developing and refining structured prompts</a:t>
            </a:r>
            <a:endParaRPr lang="en-US" sz="950" dirty="0"/>
          </a:p>
        </p:txBody>
      </p:sp>
      <p:sp>
        <p:nvSpPr>
          <p:cNvPr id="17" name="Shape 15"/>
          <p:cNvSpPr/>
          <p:nvPr/>
        </p:nvSpPr>
        <p:spPr>
          <a:xfrm>
            <a:off x="502920" y="3364992"/>
            <a:ext cx="5440680" cy="777240"/>
          </a:xfrm>
          <a:prstGeom prst="roundRect">
            <a:avLst>
              <a:gd name="adj" fmla="val 9412"/>
            </a:avLst>
          </a:prstGeom>
          <a:solidFill>
            <a:srgbClr val="EEEFF3"/>
          </a:solidFill>
          <a:ln/>
          <a:effectLst>
            <a:outerShdw blurRad="76200" dist="25400" dir="5400000" algn="bl" rotWithShape="0">
              <a:srgbClr val="9AA0B0">
                <a:alpha val="25000"/>
              </a:srgbClr>
            </a:outerShdw>
          </a:effectLst>
        </p:spPr>
      </p:sp>
      <p:sp>
        <p:nvSpPr>
          <p:cNvPr id="18" name="Shape 16"/>
          <p:cNvSpPr/>
          <p:nvPr/>
        </p:nvSpPr>
        <p:spPr>
          <a:xfrm>
            <a:off x="658368" y="3483864"/>
            <a:ext cx="329184" cy="329184"/>
          </a:xfrm>
          <a:prstGeom prst="ellipse">
            <a:avLst/>
          </a:prstGeom>
          <a:solidFill>
            <a:srgbClr val="121A33"/>
          </a:solidFill>
          <a:ln/>
        </p:spPr>
      </p:sp>
      <p:sp>
        <p:nvSpPr>
          <p:cNvPr id="19" name="Text 17"/>
          <p:cNvSpPr txBox="1"/>
          <p:nvPr/>
        </p:nvSpPr>
        <p:spPr>
          <a:xfrm>
            <a:off x="658368" y="3483864"/>
            <a:ext cx="329184" cy="329184"/>
          </a:xfrm>
          <a:prstGeom prst="rect">
            <a:avLst/>
          </a:prstGeom>
          <a:noFill/>
          <a:ln/>
        </p:spPr>
        <p:txBody>
          <a:bodyPr wrap="square" lIns="0" tIns="0" rIns="0" bIns="0" rtlCol="0" anchor="ctr"/>
          <a:lstStyle/>
          <a:p>
            <a:pPr marL="0" indent="0" algn="ctr">
              <a:buNone/>
            </a:pPr>
            <a:r>
              <a:rPr lang="en-US" sz="1150" b="1" dirty="0">
                <a:solidFill>
                  <a:srgbClr val="C9A24B"/>
                </a:solidFill>
              </a:rPr>
              <a:t>3</a:t>
            </a:r>
            <a:endParaRPr lang="en-US" sz="1150" dirty="0"/>
          </a:p>
        </p:txBody>
      </p:sp>
      <p:sp>
        <p:nvSpPr>
          <p:cNvPr id="20" name="Text 18"/>
          <p:cNvSpPr txBox="1"/>
          <p:nvPr/>
        </p:nvSpPr>
        <p:spPr>
          <a:xfrm>
            <a:off x="1133856" y="3438144"/>
            <a:ext cx="4663440" cy="237744"/>
          </a:xfrm>
          <a:prstGeom prst="rect">
            <a:avLst/>
          </a:prstGeom>
          <a:noFill/>
          <a:ln/>
        </p:spPr>
        <p:txBody>
          <a:bodyPr wrap="square" lIns="0" tIns="0" rIns="0" bIns="0" rtlCol="0" anchor="ctr"/>
          <a:lstStyle/>
          <a:p>
            <a:pPr marL="0" indent="0">
              <a:buNone/>
            </a:pPr>
            <a:r>
              <a:rPr lang="en-US" sz="1150" b="1" dirty="0">
                <a:solidFill>
                  <a:srgbClr val="121A33"/>
                </a:solidFill>
                <a:latin typeface="Calibri" pitchFamily="34" charset="0"/>
                <a:ea typeface="Calibri" pitchFamily="34" charset="-122"/>
                <a:cs typeface="Calibri" pitchFamily="34" charset="-120"/>
              </a:rPr>
              <a:t>Content Generation</a:t>
            </a:r>
            <a:endParaRPr lang="en-US" sz="1150" dirty="0"/>
          </a:p>
        </p:txBody>
      </p:sp>
      <p:sp>
        <p:nvSpPr>
          <p:cNvPr id="21" name="Text 19"/>
          <p:cNvSpPr txBox="1"/>
          <p:nvPr/>
        </p:nvSpPr>
        <p:spPr>
          <a:xfrm>
            <a:off x="1133856" y="3694176"/>
            <a:ext cx="4709160" cy="384048"/>
          </a:xfrm>
          <a:prstGeom prst="rect">
            <a:avLst/>
          </a:prstGeom>
          <a:noFill/>
          <a:ln/>
        </p:spPr>
        <p:txBody>
          <a:bodyPr wrap="square" lIns="0" tIns="0" rIns="0" bIns="0" rtlCol="0" anchor="ctr"/>
          <a:lstStyle/>
          <a:p>
            <a:pPr marL="0" indent="0">
              <a:lnSpc>
                <a:spcPct val="100000"/>
              </a:lnSpc>
              <a:buNone/>
            </a:pPr>
            <a:r>
              <a:rPr lang="en-US" sz="950" dirty="0">
                <a:solidFill>
                  <a:srgbClr val="5B6072"/>
                </a:solidFill>
                <a:latin typeface="Calibri" pitchFamily="34" charset="0"/>
                <a:ea typeface="Calibri" pitchFamily="34" charset="-122"/>
                <a:cs typeface="Calibri" pitchFamily="34" charset="-120"/>
              </a:rPr>
              <a:t>Drafting explanations and slide content</a:t>
            </a:r>
            <a:endParaRPr lang="en-US" sz="950" dirty="0"/>
          </a:p>
        </p:txBody>
      </p:sp>
      <p:sp>
        <p:nvSpPr>
          <p:cNvPr id="22" name="Shape 20"/>
          <p:cNvSpPr/>
          <p:nvPr/>
        </p:nvSpPr>
        <p:spPr>
          <a:xfrm>
            <a:off x="502920" y="4261104"/>
            <a:ext cx="5440680" cy="777240"/>
          </a:xfrm>
          <a:prstGeom prst="roundRect">
            <a:avLst>
              <a:gd name="adj" fmla="val 9412"/>
            </a:avLst>
          </a:prstGeom>
          <a:solidFill>
            <a:srgbClr val="EEEFF3"/>
          </a:solidFill>
          <a:ln/>
          <a:effectLst>
            <a:outerShdw blurRad="76200" dist="25400" dir="5400000" algn="bl" rotWithShape="0">
              <a:srgbClr val="9AA0B0">
                <a:alpha val="25000"/>
              </a:srgbClr>
            </a:outerShdw>
          </a:effectLst>
        </p:spPr>
      </p:sp>
      <p:sp>
        <p:nvSpPr>
          <p:cNvPr id="23" name="Shape 21"/>
          <p:cNvSpPr/>
          <p:nvPr/>
        </p:nvSpPr>
        <p:spPr>
          <a:xfrm>
            <a:off x="658368" y="4379976"/>
            <a:ext cx="329184" cy="329184"/>
          </a:xfrm>
          <a:prstGeom prst="ellipse">
            <a:avLst/>
          </a:prstGeom>
          <a:solidFill>
            <a:srgbClr val="121A33"/>
          </a:solidFill>
          <a:ln/>
        </p:spPr>
      </p:sp>
      <p:sp>
        <p:nvSpPr>
          <p:cNvPr id="24" name="Text 22"/>
          <p:cNvSpPr txBox="1"/>
          <p:nvPr/>
        </p:nvSpPr>
        <p:spPr>
          <a:xfrm>
            <a:off x="658368" y="4379976"/>
            <a:ext cx="329184" cy="329184"/>
          </a:xfrm>
          <a:prstGeom prst="rect">
            <a:avLst/>
          </a:prstGeom>
          <a:noFill/>
          <a:ln/>
        </p:spPr>
        <p:txBody>
          <a:bodyPr wrap="square" lIns="0" tIns="0" rIns="0" bIns="0" rtlCol="0" anchor="ctr"/>
          <a:lstStyle/>
          <a:p>
            <a:pPr marL="0" indent="0" algn="ctr">
              <a:buNone/>
            </a:pPr>
            <a:r>
              <a:rPr lang="en-US" sz="1150" b="1" dirty="0">
                <a:solidFill>
                  <a:srgbClr val="C9A24B"/>
                </a:solidFill>
              </a:rPr>
              <a:t>4</a:t>
            </a:r>
            <a:endParaRPr lang="en-US" sz="1150" dirty="0"/>
          </a:p>
        </p:txBody>
      </p:sp>
      <p:sp>
        <p:nvSpPr>
          <p:cNvPr id="25" name="Text 23"/>
          <p:cNvSpPr txBox="1"/>
          <p:nvPr/>
        </p:nvSpPr>
        <p:spPr>
          <a:xfrm>
            <a:off x="1133856" y="4334256"/>
            <a:ext cx="4663440" cy="237744"/>
          </a:xfrm>
          <a:prstGeom prst="rect">
            <a:avLst/>
          </a:prstGeom>
          <a:noFill/>
          <a:ln/>
        </p:spPr>
        <p:txBody>
          <a:bodyPr wrap="square" lIns="0" tIns="0" rIns="0" bIns="0" rtlCol="0" anchor="ctr"/>
          <a:lstStyle/>
          <a:p>
            <a:pPr marL="0" indent="0">
              <a:buNone/>
            </a:pPr>
            <a:r>
              <a:rPr lang="en-US" sz="1150" b="1" dirty="0">
                <a:solidFill>
                  <a:srgbClr val="121A33"/>
                </a:solidFill>
                <a:latin typeface="Calibri" pitchFamily="34" charset="0"/>
                <a:ea typeface="Calibri" pitchFamily="34" charset="-122"/>
                <a:cs typeface="Calibri" pitchFamily="34" charset="-120"/>
              </a:rPr>
              <a:t>Fact Verification</a:t>
            </a:r>
            <a:endParaRPr lang="en-US" sz="1150" dirty="0"/>
          </a:p>
        </p:txBody>
      </p:sp>
      <p:sp>
        <p:nvSpPr>
          <p:cNvPr id="26" name="Text 24"/>
          <p:cNvSpPr txBox="1"/>
          <p:nvPr/>
        </p:nvSpPr>
        <p:spPr>
          <a:xfrm>
            <a:off x="1133856" y="4590288"/>
            <a:ext cx="4709160" cy="384048"/>
          </a:xfrm>
          <a:prstGeom prst="rect">
            <a:avLst/>
          </a:prstGeom>
          <a:noFill/>
          <a:ln/>
        </p:spPr>
        <p:txBody>
          <a:bodyPr wrap="square" lIns="0" tIns="0" rIns="0" bIns="0" rtlCol="0" anchor="ctr"/>
          <a:lstStyle/>
          <a:p>
            <a:pPr marL="0" indent="0">
              <a:lnSpc>
                <a:spcPct val="100000"/>
              </a:lnSpc>
              <a:buNone/>
            </a:pPr>
            <a:r>
              <a:rPr lang="en-US" sz="950" dirty="0">
                <a:solidFill>
                  <a:srgbClr val="5B6072"/>
                </a:solidFill>
                <a:latin typeface="Calibri" pitchFamily="34" charset="0"/>
                <a:ea typeface="Calibri" pitchFamily="34" charset="-122"/>
                <a:cs typeface="Calibri" pitchFamily="34" charset="-120"/>
              </a:rPr>
              <a:t>Cross-checking AI claims against reliable sources</a:t>
            </a:r>
            <a:endParaRPr lang="en-US" sz="950" dirty="0"/>
          </a:p>
        </p:txBody>
      </p:sp>
      <p:sp>
        <p:nvSpPr>
          <p:cNvPr id="27" name="Shape 25"/>
          <p:cNvSpPr/>
          <p:nvPr/>
        </p:nvSpPr>
        <p:spPr>
          <a:xfrm>
            <a:off x="502920" y="5157216"/>
            <a:ext cx="5440680" cy="777240"/>
          </a:xfrm>
          <a:prstGeom prst="roundRect">
            <a:avLst>
              <a:gd name="adj" fmla="val 9412"/>
            </a:avLst>
          </a:prstGeom>
          <a:solidFill>
            <a:srgbClr val="EEEFF3"/>
          </a:solidFill>
          <a:ln/>
          <a:effectLst>
            <a:outerShdw blurRad="76200" dist="25400" dir="5400000" algn="bl" rotWithShape="0">
              <a:srgbClr val="9AA0B0">
                <a:alpha val="25000"/>
              </a:srgbClr>
            </a:outerShdw>
          </a:effectLst>
        </p:spPr>
      </p:sp>
      <p:sp>
        <p:nvSpPr>
          <p:cNvPr id="28" name="Shape 26"/>
          <p:cNvSpPr/>
          <p:nvPr/>
        </p:nvSpPr>
        <p:spPr>
          <a:xfrm>
            <a:off x="658368" y="5276088"/>
            <a:ext cx="329184" cy="329184"/>
          </a:xfrm>
          <a:prstGeom prst="ellipse">
            <a:avLst/>
          </a:prstGeom>
          <a:solidFill>
            <a:srgbClr val="121A33"/>
          </a:solidFill>
          <a:ln/>
        </p:spPr>
      </p:sp>
      <p:sp>
        <p:nvSpPr>
          <p:cNvPr id="29" name="Text 27"/>
          <p:cNvSpPr txBox="1"/>
          <p:nvPr/>
        </p:nvSpPr>
        <p:spPr>
          <a:xfrm>
            <a:off x="658368" y="5276088"/>
            <a:ext cx="329184" cy="329184"/>
          </a:xfrm>
          <a:prstGeom prst="rect">
            <a:avLst/>
          </a:prstGeom>
          <a:noFill/>
          <a:ln/>
        </p:spPr>
        <p:txBody>
          <a:bodyPr wrap="square" lIns="0" tIns="0" rIns="0" bIns="0" rtlCol="0" anchor="ctr"/>
          <a:lstStyle/>
          <a:p>
            <a:pPr marL="0" indent="0" algn="ctr">
              <a:buNone/>
            </a:pPr>
            <a:r>
              <a:rPr lang="en-US" sz="1150" b="1" dirty="0">
                <a:solidFill>
                  <a:srgbClr val="C9A24B"/>
                </a:solidFill>
              </a:rPr>
              <a:t>5</a:t>
            </a:r>
            <a:endParaRPr lang="en-US" sz="1150" dirty="0"/>
          </a:p>
        </p:txBody>
      </p:sp>
      <p:sp>
        <p:nvSpPr>
          <p:cNvPr id="30" name="Text 28"/>
          <p:cNvSpPr txBox="1"/>
          <p:nvPr/>
        </p:nvSpPr>
        <p:spPr>
          <a:xfrm>
            <a:off x="1133856" y="5230368"/>
            <a:ext cx="4663440" cy="237744"/>
          </a:xfrm>
          <a:prstGeom prst="rect">
            <a:avLst/>
          </a:prstGeom>
          <a:noFill/>
          <a:ln/>
        </p:spPr>
        <p:txBody>
          <a:bodyPr wrap="square" lIns="0" tIns="0" rIns="0" bIns="0" rtlCol="0" anchor="ctr"/>
          <a:lstStyle/>
          <a:p>
            <a:pPr marL="0" indent="0">
              <a:buNone/>
            </a:pPr>
            <a:r>
              <a:rPr lang="en-US" sz="1150" b="1" dirty="0">
                <a:solidFill>
                  <a:srgbClr val="121A33"/>
                </a:solidFill>
                <a:latin typeface="Calibri" pitchFamily="34" charset="0"/>
                <a:ea typeface="Calibri" pitchFamily="34" charset="-122"/>
                <a:cs typeface="Calibri" pitchFamily="34" charset="-120"/>
              </a:rPr>
              <a:t>Presentation Design</a:t>
            </a:r>
            <a:endParaRPr lang="en-US" sz="1150" dirty="0"/>
          </a:p>
        </p:txBody>
      </p:sp>
      <p:sp>
        <p:nvSpPr>
          <p:cNvPr id="31" name="Text 29"/>
          <p:cNvSpPr txBox="1"/>
          <p:nvPr/>
        </p:nvSpPr>
        <p:spPr>
          <a:xfrm>
            <a:off x="1133856" y="5486400"/>
            <a:ext cx="4709160" cy="384048"/>
          </a:xfrm>
          <a:prstGeom prst="rect">
            <a:avLst/>
          </a:prstGeom>
          <a:noFill/>
          <a:ln/>
        </p:spPr>
        <p:txBody>
          <a:bodyPr wrap="square" lIns="0" tIns="0" rIns="0" bIns="0" rtlCol="0" anchor="ctr"/>
          <a:lstStyle/>
          <a:p>
            <a:pPr marL="0" indent="0">
              <a:lnSpc>
                <a:spcPct val="100000"/>
              </a:lnSpc>
              <a:buNone/>
            </a:pPr>
            <a:r>
              <a:rPr lang="en-US" sz="950" dirty="0">
                <a:solidFill>
                  <a:srgbClr val="5B6072"/>
                </a:solidFill>
                <a:latin typeface="Calibri" pitchFamily="34" charset="0"/>
                <a:ea typeface="Calibri" pitchFamily="34" charset="-122"/>
                <a:cs typeface="Calibri" pitchFamily="34" charset="-120"/>
              </a:rPr>
              <a:t>Tools actually used for slide design and layout</a:t>
            </a:r>
            <a:endParaRPr lang="en-US" sz="950" dirty="0"/>
          </a:p>
        </p:txBody>
      </p:sp>
      <p:sp>
        <p:nvSpPr>
          <p:cNvPr id="32" name="Text 30"/>
          <p:cNvSpPr txBox="1"/>
          <p:nvPr/>
        </p:nvSpPr>
        <p:spPr>
          <a:xfrm>
            <a:off x="6245352" y="1234440"/>
            <a:ext cx="5486400" cy="274320"/>
          </a:xfrm>
          <a:prstGeom prst="rect">
            <a:avLst/>
          </a:prstGeom>
          <a:noFill/>
          <a:ln/>
        </p:spPr>
        <p:txBody>
          <a:bodyPr wrap="square" lIns="0" tIns="0" rIns="0" bIns="0" rtlCol="0" anchor="ctr"/>
          <a:lstStyle/>
          <a:p>
            <a:pPr marL="0" indent="0">
              <a:buNone/>
            </a:pPr>
            <a:r>
              <a:rPr lang="en-US" sz="1350" b="1" dirty="0">
                <a:solidFill>
                  <a:srgbClr val="121A33"/>
                </a:solidFill>
                <a:latin typeface="Cambria" pitchFamily="34" charset="0"/>
                <a:ea typeface="Cambria" pitchFamily="34" charset="-122"/>
                <a:cs typeface="Cambria" pitchFamily="34" charset="-120"/>
              </a:rPr>
              <a:t>Example Prompts Used</a:t>
            </a:r>
            <a:endParaRPr lang="en-US" sz="1350" dirty="0"/>
          </a:p>
        </p:txBody>
      </p:sp>
      <p:sp>
        <p:nvSpPr>
          <p:cNvPr id="33" name="Shape 31"/>
          <p:cNvSpPr/>
          <p:nvPr/>
        </p:nvSpPr>
        <p:spPr>
          <a:xfrm>
            <a:off x="6245352" y="1572768"/>
            <a:ext cx="5440680" cy="1298448"/>
          </a:xfrm>
          <a:prstGeom prst="roundRect">
            <a:avLst>
              <a:gd name="adj" fmla="val 5634"/>
            </a:avLst>
          </a:prstGeom>
          <a:solidFill>
            <a:srgbClr val="1B2544"/>
          </a:solidFill>
          <a:ln/>
        </p:spPr>
      </p:sp>
      <p:sp>
        <p:nvSpPr>
          <p:cNvPr id="34" name="Text 32"/>
          <p:cNvSpPr txBox="1"/>
          <p:nvPr/>
        </p:nvSpPr>
        <p:spPr>
          <a:xfrm>
            <a:off x="6446520" y="1664208"/>
            <a:ext cx="5029200" cy="237744"/>
          </a:xfrm>
          <a:prstGeom prst="rect">
            <a:avLst/>
          </a:prstGeom>
          <a:noFill/>
          <a:ln/>
        </p:spPr>
        <p:txBody>
          <a:bodyPr wrap="square" lIns="0" tIns="0" rIns="0" bIns="0" rtlCol="0" anchor="ctr"/>
          <a:lstStyle/>
          <a:p>
            <a:pPr marL="0" indent="0">
              <a:buNone/>
            </a:pPr>
            <a:r>
              <a:rPr lang="en-US" sz="1100" b="1" dirty="0">
                <a:solidFill>
                  <a:srgbClr val="C9A24B"/>
                </a:solidFill>
                <a:latin typeface="Calibri" pitchFamily="34" charset="0"/>
                <a:ea typeface="Calibri" pitchFamily="34" charset="-122"/>
                <a:cs typeface="Calibri" pitchFamily="34" charset="-120"/>
              </a:rPr>
              <a:t>Research Prompt</a:t>
            </a:r>
            <a:endParaRPr lang="en-US" sz="1100" dirty="0"/>
          </a:p>
        </p:txBody>
      </p:sp>
      <p:sp>
        <p:nvSpPr>
          <p:cNvPr id="35" name="Text 33"/>
          <p:cNvSpPr txBox="1"/>
          <p:nvPr/>
        </p:nvSpPr>
        <p:spPr>
          <a:xfrm>
            <a:off x="6446520" y="1938528"/>
            <a:ext cx="5029200" cy="868680"/>
          </a:xfrm>
          <a:prstGeom prst="rect">
            <a:avLst/>
          </a:prstGeom>
          <a:noFill/>
          <a:ln/>
        </p:spPr>
        <p:txBody>
          <a:bodyPr wrap="square" lIns="0" tIns="0" rIns="0" bIns="0" rtlCol="0" anchor="ctr"/>
          <a:lstStyle/>
          <a:p>
            <a:pPr marL="0" indent="0">
              <a:lnSpc>
                <a:spcPct val="105000"/>
              </a:lnSpc>
              <a:buNone/>
            </a:pPr>
            <a:r>
              <a:rPr lang="en-US" sz="950" i="1" dirty="0">
                <a:solidFill>
                  <a:srgbClr val="E5E8F2"/>
                </a:solidFill>
                <a:latin typeface="Calibri" pitchFamily="34" charset="0"/>
                <a:ea typeface="Calibri" pitchFamily="34" charset="-122"/>
                <a:cs typeface="Calibri" pitchFamily="34" charset="-120"/>
              </a:rPr>
              <a:t>“Analyze BlackRock's publicly documented Aladdin capabilities relevant to portfolio risk management, identify the business problem, relevant data and AI/ML opportunities, and clearly separate documented facts from proposed solutions.”</a:t>
            </a:r>
            <a:endParaRPr lang="en-US" sz="950" dirty="0"/>
          </a:p>
        </p:txBody>
      </p:sp>
      <p:sp>
        <p:nvSpPr>
          <p:cNvPr id="36" name="Shape 34"/>
          <p:cNvSpPr/>
          <p:nvPr/>
        </p:nvSpPr>
        <p:spPr>
          <a:xfrm>
            <a:off x="6245352" y="3035808"/>
            <a:ext cx="5440680" cy="1298448"/>
          </a:xfrm>
          <a:prstGeom prst="roundRect">
            <a:avLst>
              <a:gd name="adj" fmla="val 5634"/>
            </a:avLst>
          </a:prstGeom>
          <a:solidFill>
            <a:srgbClr val="1B2544"/>
          </a:solidFill>
          <a:ln/>
        </p:spPr>
      </p:sp>
      <p:sp>
        <p:nvSpPr>
          <p:cNvPr id="37" name="Text 35"/>
          <p:cNvSpPr txBox="1"/>
          <p:nvPr/>
        </p:nvSpPr>
        <p:spPr>
          <a:xfrm>
            <a:off x="6446520" y="3127248"/>
            <a:ext cx="5029200" cy="237744"/>
          </a:xfrm>
          <a:prstGeom prst="rect">
            <a:avLst/>
          </a:prstGeom>
          <a:noFill/>
          <a:ln/>
        </p:spPr>
        <p:txBody>
          <a:bodyPr wrap="square" lIns="0" tIns="0" rIns="0" bIns="0" rtlCol="0" anchor="ctr"/>
          <a:lstStyle/>
          <a:p>
            <a:pPr marL="0" indent="0">
              <a:buNone/>
            </a:pPr>
            <a:r>
              <a:rPr lang="en-US" sz="1100" b="1" dirty="0">
                <a:solidFill>
                  <a:srgbClr val="C9A24B"/>
                </a:solidFill>
                <a:latin typeface="Calibri" pitchFamily="34" charset="0"/>
                <a:ea typeface="Calibri" pitchFamily="34" charset="-122"/>
                <a:cs typeface="Calibri" pitchFamily="34" charset="-120"/>
              </a:rPr>
              <a:t>AI/ML Prompt</a:t>
            </a:r>
            <a:endParaRPr lang="en-US" sz="1100" dirty="0"/>
          </a:p>
        </p:txBody>
      </p:sp>
      <p:sp>
        <p:nvSpPr>
          <p:cNvPr id="38" name="Text 36"/>
          <p:cNvSpPr txBox="1"/>
          <p:nvPr/>
        </p:nvSpPr>
        <p:spPr>
          <a:xfrm>
            <a:off x="6446520" y="3401568"/>
            <a:ext cx="5029200" cy="868680"/>
          </a:xfrm>
          <a:prstGeom prst="rect">
            <a:avLst/>
          </a:prstGeom>
          <a:noFill/>
          <a:ln/>
        </p:spPr>
        <p:txBody>
          <a:bodyPr wrap="square" lIns="0" tIns="0" rIns="0" bIns="0" rtlCol="0" anchor="ctr"/>
          <a:lstStyle/>
          <a:p>
            <a:pPr marL="0" indent="0">
              <a:lnSpc>
                <a:spcPct val="105000"/>
              </a:lnSpc>
              <a:buNone/>
            </a:pPr>
            <a:r>
              <a:rPr lang="en-US" sz="950" i="1" dirty="0">
                <a:solidFill>
                  <a:srgbClr val="E5E8F2"/>
                </a:solidFill>
                <a:latin typeface="Calibri" pitchFamily="34" charset="0"/>
                <a:ea typeface="Calibri" pitchFamily="34" charset="-122"/>
                <a:cs typeface="Calibri" pitchFamily="34" charset="-120"/>
              </a:rPr>
              <a:t>“Design a proposed AI/ML solution to enhance portfolio risk monitoring, focused on anomaly detection, scenario analysis and decision support, clearly flagging proposed vs. documented components.”</a:t>
            </a:r>
            <a:endParaRPr lang="en-US" sz="950" dirty="0"/>
          </a:p>
        </p:txBody>
      </p:sp>
      <p:sp>
        <p:nvSpPr>
          <p:cNvPr id="39" name="Shape 37"/>
          <p:cNvSpPr/>
          <p:nvPr/>
        </p:nvSpPr>
        <p:spPr>
          <a:xfrm>
            <a:off x="6245352" y="4498848"/>
            <a:ext cx="5440680" cy="1298448"/>
          </a:xfrm>
          <a:prstGeom prst="roundRect">
            <a:avLst>
              <a:gd name="adj" fmla="val 5634"/>
            </a:avLst>
          </a:prstGeom>
          <a:solidFill>
            <a:srgbClr val="1B2544"/>
          </a:solidFill>
          <a:ln/>
        </p:spPr>
      </p:sp>
      <p:sp>
        <p:nvSpPr>
          <p:cNvPr id="40" name="Text 38"/>
          <p:cNvSpPr txBox="1"/>
          <p:nvPr/>
        </p:nvSpPr>
        <p:spPr>
          <a:xfrm>
            <a:off x="6446520" y="4590288"/>
            <a:ext cx="5029200" cy="237744"/>
          </a:xfrm>
          <a:prstGeom prst="rect">
            <a:avLst/>
          </a:prstGeom>
          <a:noFill/>
          <a:ln/>
        </p:spPr>
        <p:txBody>
          <a:bodyPr wrap="square" lIns="0" tIns="0" rIns="0" bIns="0" rtlCol="0" anchor="ctr"/>
          <a:lstStyle/>
          <a:p>
            <a:pPr marL="0" indent="0">
              <a:buNone/>
            </a:pPr>
            <a:r>
              <a:rPr lang="en-US" sz="1100" b="1" dirty="0">
                <a:solidFill>
                  <a:srgbClr val="C9A24B"/>
                </a:solidFill>
                <a:latin typeface="Calibri" pitchFamily="34" charset="0"/>
                <a:ea typeface="Calibri" pitchFamily="34" charset="-122"/>
                <a:cs typeface="Calibri" pitchFamily="34" charset="-120"/>
              </a:rPr>
              <a:t>Responsible AI Prompt</a:t>
            </a:r>
            <a:endParaRPr lang="en-US" sz="1100" dirty="0"/>
          </a:p>
        </p:txBody>
      </p:sp>
      <p:sp>
        <p:nvSpPr>
          <p:cNvPr id="41" name="Text 39"/>
          <p:cNvSpPr txBox="1"/>
          <p:nvPr/>
        </p:nvSpPr>
        <p:spPr>
          <a:xfrm>
            <a:off x="6446520" y="4864608"/>
            <a:ext cx="5029200" cy="868680"/>
          </a:xfrm>
          <a:prstGeom prst="rect">
            <a:avLst/>
          </a:prstGeom>
          <a:noFill/>
          <a:ln/>
        </p:spPr>
        <p:txBody>
          <a:bodyPr wrap="square" lIns="0" tIns="0" rIns="0" bIns="0" rtlCol="0" anchor="ctr"/>
          <a:lstStyle/>
          <a:p>
            <a:pPr marL="0" indent="0">
              <a:lnSpc>
                <a:spcPct val="105000"/>
              </a:lnSpc>
              <a:buNone/>
            </a:pPr>
            <a:r>
              <a:rPr lang="en-US" sz="950" i="1" dirty="0">
                <a:solidFill>
                  <a:srgbClr val="E5E8F2"/>
                </a:solidFill>
                <a:latin typeface="Calibri" pitchFamily="34" charset="0"/>
                <a:ea typeface="Calibri" pitchFamily="34" charset="-122"/>
                <a:cs typeface="Calibri" pitchFamily="34" charset="-120"/>
              </a:rPr>
              <a:t>“Identify the major privacy, bias, explainability, hallucination, cybersecurity and human-oversight risks of applying AI to portfolio risk management in asset management.”</a:t>
            </a:r>
            <a:endParaRPr lang="en-US" sz="950" dirty="0"/>
          </a:p>
        </p:txBody>
      </p:sp>
      <p:sp>
        <p:nvSpPr>
          <p:cNvPr id="42" name="Text 40"/>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3" name="Text 41"/>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REFLECTION</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Prompt Improvement &amp; AI Evaluation</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10 / 12</a:t>
            </a:r>
            <a:endParaRPr lang="en-US" sz="1050" dirty="0"/>
          </a:p>
        </p:txBody>
      </p:sp>
      <p:sp>
        <p:nvSpPr>
          <p:cNvPr id="6" name="Shape 4"/>
          <p:cNvSpPr/>
          <p:nvPr/>
        </p:nvSpPr>
        <p:spPr>
          <a:xfrm>
            <a:off x="502920" y="1280160"/>
            <a:ext cx="5440680" cy="2331720"/>
          </a:xfrm>
          <a:prstGeom prst="roundRect">
            <a:avLst>
              <a:gd name="adj" fmla="val 3137"/>
            </a:avLst>
          </a:prstGeom>
          <a:solidFill>
            <a:srgbClr val="E4E6ED"/>
          </a:solidFill>
          <a:ln/>
          <a:effectLst>
            <a:outerShdw blurRad="76200" dist="25400" dir="5400000" algn="bl" rotWithShape="0">
              <a:srgbClr val="9AA0B0">
                <a:alpha val="25000"/>
              </a:srgbClr>
            </a:outerShdw>
          </a:effectLst>
        </p:spPr>
      </p:sp>
      <p:sp>
        <p:nvSpPr>
          <p:cNvPr id="7" name="Shape 5"/>
          <p:cNvSpPr/>
          <p:nvPr/>
        </p:nvSpPr>
        <p:spPr>
          <a:xfrm>
            <a:off x="713232" y="1417320"/>
            <a:ext cx="1280160" cy="256032"/>
          </a:xfrm>
          <a:prstGeom prst="roundRect">
            <a:avLst>
              <a:gd name="adj" fmla="val 50000"/>
            </a:avLst>
          </a:prstGeom>
          <a:solidFill>
            <a:srgbClr val="9AA0B0"/>
          </a:solidFill>
          <a:ln/>
        </p:spPr>
      </p:sp>
      <p:sp>
        <p:nvSpPr>
          <p:cNvPr id="8" name="Text 6"/>
          <p:cNvSpPr txBox="1"/>
          <p:nvPr/>
        </p:nvSpPr>
        <p:spPr>
          <a:xfrm>
            <a:off x="713232" y="1417320"/>
            <a:ext cx="1280160" cy="256032"/>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BEFORE</a:t>
            </a:r>
            <a:endParaRPr lang="en-US" sz="900" dirty="0"/>
          </a:p>
        </p:txBody>
      </p:sp>
      <p:sp>
        <p:nvSpPr>
          <p:cNvPr id="9" name="Text 7"/>
          <p:cNvSpPr txBox="1"/>
          <p:nvPr/>
        </p:nvSpPr>
        <p:spPr>
          <a:xfrm>
            <a:off x="713232" y="1755648"/>
            <a:ext cx="5029200" cy="502920"/>
          </a:xfrm>
          <a:prstGeom prst="rect">
            <a:avLst/>
          </a:prstGeom>
          <a:noFill/>
          <a:ln/>
        </p:spPr>
        <p:txBody>
          <a:bodyPr wrap="square" lIns="0" tIns="0" rIns="0" bIns="0" rtlCol="0" anchor="ctr"/>
          <a:lstStyle/>
          <a:p>
            <a:pPr marL="0" indent="0">
              <a:buNone/>
            </a:pPr>
            <a:r>
              <a:rPr lang="en-US" sz="1200" i="1" dirty="0">
                <a:solidFill>
                  <a:srgbClr val="1A1D29"/>
                </a:solidFill>
                <a:latin typeface="Calibri" pitchFamily="34" charset="0"/>
                <a:ea typeface="Calibri" pitchFamily="34" charset="-122"/>
                <a:cs typeface="Calibri" pitchFamily="34" charset="-120"/>
              </a:rPr>
              <a:t>“Tell me about BlackRock and how it uses AI.”</a:t>
            </a:r>
            <a:endParaRPr lang="en-US" sz="1200" dirty="0"/>
          </a:p>
        </p:txBody>
      </p:sp>
      <p:sp>
        <p:nvSpPr>
          <p:cNvPr id="10" name="Text 8"/>
          <p:cNvSpPr txBox="1"/>
          <p:nvPr/>
        </p:nvSpPr>
        <p:spPr>
          <a:xfrm>
            <a:off x="713232" y="2331720"/>
            <a:ext cx="5029200" cy="118872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Too broad, no defined role</a:t>
            </a:r>
            <a:endParaRPr lang="en-US" sz="1000" dirty="0"/>
          </a:p>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No business problem or context</a:t>
            </a:r>
            <a:endParaRPr lang="en-US" sz="1000" dirty="0"/>
          </a:p>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No source or output requirements</a:t>
            </a:r>
            <a:endParaRPr lang="en-US" sz="1000" dirty="0"/>
          </a:p>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Facts and assumptions could mix</a:t>
            </a:r>
            <a:endParaRPr lang="en-US" sz="1000" dirty="0"/>
          </a:p>
        </p:txBody>
      </p:sp>
      <p:sp>
        <p:nvSpPr>
          <p:cNvPr id="11" name="Shape 9"/>
          <p:cNvSpPr/>
          <p:nvPr/>
        </p:nvSpPr>
        <p:spPr>
          <a:xfrm>
            <a:off x="6245352" y="1280160"/>
            <a:ext cx="5440680" cy="2331720"/>
          </a:xfrm>
          <a:prstGeom prst="roundRect">
            <a:avLst>
              <a:gd name="adj" fmla="val 3137"/>
            </a:avLst>
          </a:prstGeom>
          <a:solidFill>
            <a:srgbClr val="121A33"/>
          </a:solidFill>
          <a:ln/>
          <a:effectLst>
            <a:outerShdw blurRad="76200" dist="25400" dir="5400000" algn="bl" rotWithShape="0">
              <a:srgbClr val="9AA0B0">
                <a:alpha val="25000"/>
              </a:srgbClr>
            </a:outerShdw>
          </a:effectLst>
        </p:spPr>
      </p:sp>
      <p:sp>
        <p:nvSpPr>
          <p:cNvPr id="12" name="Shape 10"/>
          <p:cNvSpPr/>
          <p:nvPr/>
        </p:nvSpPr>
        <p:spPr>
          <a:xfrm>
            <a:off x="6455664" y="1417320"/>
            <a:ext cx="1280160" cy="256032"/>
          </a:xfrm>
          <a:prstGeom prst="roundRect">
            <a:avLst>
              <a:gd name="adj" fmla="val 50000"/>
            </a:avLst>
          </a:prstGeom>
          <a:solidFill>
            <a:srgbClr val="C9A24B"/>
          </a:solidFill>
          <a:ln/>
        </p:spPr>
      </p:sp>
      <p:sp>
        <p:nvSpPr>
          <p:cNvPr id="13" name="Text 11"/>
          <p:cNvSpPr txBox="1"/>
          <p:nvPr/>
        </p:nvSpPr>
        <p:spPr>
          <a:xfrm>
            <a:off x="6455664" y="1417320"/>
            <a:ext cx="1280160" cy="256032"/>
          </a:xfrm>
          <a:prstGeom prst="rect">
            <a:avLst/>
          </a:prstGeom>
          <a:noFill/>
          <a:ln/>
        </p:spPr>
        <p:txBody>
          <a:bodyPr wrap="square" lIns="0" tIns="0" rIns="0" bIns="0" rtlCol="0" anchor="ctr"/>
          <a:lstStyle/>
          <a:p>
            <a:pPr marL="0" indent="0" algn="ctr">
              <a:buNone/>
            </a:pPr>
            <a:r>
              <a:rPr lang="en-US" sz="900" b="1" kern="0" spc="100" dirty="0">
                <a:solidFill>
                  <a:srgbClr val="121A33"/>
                </a:solidFill>
                <a:latin typeface="Calibri" pitchFamily="34" charset="0"/>
                <a:ea typeface="Calibri" pitchFamily="34" charset="-122"/>
                <a:cs typeface="Calibri" pitchFamily="34" charset="-120"/>
              </a:rPr>
              <a:t>AFTER</a:t>
            </a:r>
            <a:endParaRPr lang="en-US" sz="900" dirty="0"/>
          </a:p>
        </p:txBody>
      </p:sp>
      <p:sp>
        <p:nvSpPr>
          <p:cNvPr id="14" name="Text 12"/>
          <p:cNvSpPr txBox="1"/>
          <p:nvPr/>
        </p:nvSpPr>
        <p:spPr>
          <a:xfrm>
            <a:off x="6455664" y="1755648"/>
            <a:ext cx="5029200" cy="914400"/>
          </a:xfrm>
          <a:prstGeom prst="rect">
            <a:avLst/>
          </a:prstGeom>
          <a:noFill/>
          <a:ln/>
        </p:spPr>
        <p:txBody>
          <a:bodyPr wrap="square" lIns="0" tIns="0" rIns="0" bIns="0" rtlCol="0" anchor="ctr"/>
          <a:lstStyle/>
          <a:p>
            <a:pPr marL="0" indent="0">
              <a:lnSpc>
                <a:spcPct val="105000"/>
              </a:lnSpc>
              <a:buNone/>
            </a:pPr>
            <a:r>
              <a:rPr lang="en-US" sz="1000" i="1" dirty="0">
                <a:solidFill>
                  <a:srgbClr val="E5E8F2"/>
                </a:solidFill>
                <a:latin typeface="Calibri" pitchFamily="34" charset="0"/>
                <a:ea typeface="Calibri" pitchFamily="34" charset="-122"/>
                <a:cs typeface="Calibri" pitchFamily="34" charset="-120"/>
              </a:rPr>
              <a:t>“Act as a financial-services AI/ML consultant. Analyze BlackRock's documented use of technology in risk management, identify data, proposed enhancements, impact and responsible-AI risks — clearly separating fact from proposal.”</a:t>
            </a:r>
            <a:endParaRPr lang="en-US" sz="1000" dirty="0"/>
          </a:p>
        </p:txBody>
      </p:sp>
      <p:sp>
        <p:nvSpPr>
          <p:cNvPr id="15" name="Text 13"/>
          <p:cNvSpPr txBox="1"/>
          <p:nvPr/>
        </p:nvSpPr>
        <p:spPr>
          <a:xfrm>
            <a:off x="6455664" y="2697480"/>
            <a:ext cx="5029200" cy="82296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dirty="0">
                <a:solidFill>
                  <a:srgbClr val="E5E8F2"/>
                </a:solidFill>
                <a:latin typeface="Calibri" pitchFamily="34" charset="0"/>
                <a:ea typeface="Calibri" pitchFamily="34" charset="-122"/>
                <a:cs typeface="Calibri" pitchFamily="34" charset="-120"/>
              </a:rPr>
              <a:t>Expert role + full context</a:t>
            </a:r>
            <a:endParaRPr lang="en-US" sz="1000" dirty="0"/>
          </a:p>
          <a:p>
            <a:pPr marL="177800" indent="-177800">
              <a:lnSpc>
                <a:spcPct val="105000"/>
              </a:lnSpc>
              <a:spcAft>
                <a:spcPts val="600"/>
              </a:spcAft>
              <a:buSzPct val="100000"/>
              <a:buChar char="▪"/>
            </a:pPr>
            <a:r>
              <a:rPr lang="en-US" sz="1000" dirty="0">
                <a:solidFill>
                  <a:srgbClr val="E5E8F2"/>
                </a:solidFill>
                <a:latin typeface="Calibri" pitchFamily="34" charset="0"/>
                <a:ea typeface="Calibri" pitchFamily="34" charset="-122"/>
                <a:cs typeface="Calibri" pitchFamily="34" charset="-120"/>
              </a:rPr>
              <a:t>Explicit research &amp; source constraints</a:t>
            </a:r>
            <a:endParaRPr lang="en-US" sz="1000" dirty="0"/>
          </a:p>
          <a:p>
            <a:pPr marL="177800" indent="-177800">
              <a:lnSpc>
                <a:spcPct val="105000"/>
              </a:lnSpc>
              <a:spcAft>
                <a:spcPts val="600"/>
              </a:spcAft>
              <a:buSzPct val="100000"/>
              <a:buChar char="▪"/>
            </a:pPr>
            <a:r>
              <a:rPr lang="en-US" sz="1000" dirty="0">
                <a:solidFill>
                  <a:srgbClr val="E5E8F2"/>
                </a:solidFill>
                <a:latin typeface="Calibri" pitchFamily="34" charset="0"/>
                <a:ea typeface="Calibri" pitchFamily="34" charset="-122"/>
                <a:cs typeface="Calibri" pitchFamily="34" charset="-120"/>
              </a:rPr>
              <a:t>Defined output structure</a:t>
            </a:r>
            <a:endParaRPr lang="en-US" sz="1000" dirty="0"/>
          </a:p>
        </p:txBody>
      </p:sp>
      <p:sp>
        <p:nvSpPr>
          <p:cNvPr id="16" name="Text 14"/>
          <p:cNvSpPr txBox="1"/>
          <p:nvPr/>
        </p:nvSpPr>
        <p:spPr>
          <a:xfrm>
            <a:off x="502920" y="3794760"/>
            <a:ext cx="3657600" cy="256032"/>
          </a:xfrm>
          <a:prstGeom prst="rect">
            <a:avLst/>
          </a:prstGeom>
          <a:noFill/>
          <a:ln/>
        </p:spPr>
        <p:txBody>
          <a:bodyPr wrap="square" lIns="0" tIns="0" rIns="0" bIns="0" rtlCol="0" anchor="ctr"/>
          <a:lstStyle/>
          <a:p>
            <a:pPr marL="0" indent="0">
              <a:buNone/>
            </a:pPr>
            <a:r>
              <a:rPr lang="en-US" sz="1300" b="1" dirty="0">
                <a:solidFill>
                  <a:srgbClr val="121A33"/>
                </a:solidFill>
                <a:latin typeface="Cambria" pitchFamily="34" charset="0"/>
                <a:ea typeface="Cambria" pitchFamily="34" charset="-122"/>
                <a:cs typeface="Cambria" pitchFamily="34" charset="-120"/>
              </a:rPr>
              <a:t>What Changed</a:t>
            </a:r>
            <a:endParaRPr lang="en-US" sz="1300" dirty="0"/>
          </a:p>
        </p:txBody>
      </p:sp>
      <p:sp>
        <p:nvSpPr>
          <p:cNvPr id="17" name="Shape 15"/>
          <p:cNvSpPr/>
          <p:nvPr/>
        </p:nvSpPr>
        <p:spPr>
          <a:xfrm>
            <a:off x="502920" y="4114800"/>
            <a:ext cx="11173968" cy="329184"/>
          </a:xfrm>
          <a:prstGeom prst="roundRect">
            <a:avLst>
              <a:gd name="adj" fmla="val 22222"/>
            </a:avLst>
          </a:prstGeom>
          <a:solidFill>
            <a:srgbClr val="121A33"/>
          </a:solidFill>
          <a:ln/>
        </p:spPr>
      </p:sp>
      <p:sp>
        <p:nvSpPr>
          <p:cNvPr id="18" name="Text 16"/>
          <p:cNvSpPr txBox="1"/>
          <p:nvPr/>
        </p:nvSpPr>
        <p:spPr>
          <a:xfrm>
            <a:off x="640080" y="4114800"/>
            <a:ext cx="5358384" cy="329184"/>
          </a:xfrm>
          <a:prstGeom prst="rect">
            <a:avLst/>
          </a:prstGeom>
          <a:noFill/>
          <a:ln/>
        </p:spPr>
        <p:txBody>
          <a:bodyPr wrap="square" lIns="0" tIns="0" rIns="0" bIns="0" rtlCol="0" anchor="ctr"/>
          <a:lstStyle/>
          <a:p>
            <a:pPr marL="0" indent="0">
              <a:buNone/>
            </a:pPr>
            <a:r>
              <a:rPr lang="en-US" sz="1050" b="1" dirty="0">
                <a:solidFill>
                  <a:srgbClr val="C9A24B"/>
                </a:solidFill>
                <a:latin typeface="Calibri" pitchFamily="34" charset="0"/>
                <a:ea typeface="Calibri" pitchFamily="34" charset="-122"/>
                <a:cs typeface="Calibri" pitchFamily="34" charset="-120"/>
              </a:rPr>
              <a:t>Basic Prompt</a:t>
            </a:r>
            <a:endParaRPr lang="en-US" sz="1050" dirty="0"/>
          </a:p>
        </p:txBody>
      </p:sp>
      <p:sp>
        <p:nvSpPr>
          <p:cNvPr id="19" name="Text 17"/>
          <p:cNvSpPr txBox="1"/>
          <p:nvPr/>
        </p:nvSpPr>
        <p:spPr>
          <a:xfrm>
            <a:off x="6227064" y="4114800"/>
            <a:ext cx="5358384" cy="329184"/>
          </a:xfrm>
          <a:prstGeom prst="rect">
            <a:avLst/>
          </a:prstGeom>
          <a:noFill/>
          <a:ln/>
        </p:spPr>
        <p:txBody>
          <a:bodyPr wrap="square" lIns="0" tIns="0" rIns="0" bIns="0" rtlCol="0" anchor="ctr"/>
          <a:lstStyle/>
          <a:p>
            <a:pPr marL="0" indent="0">
              <a:buNone/>
            </a:pPr>
            <a:r>
              <a:rPr lang="en-US" sz="1050" b="1" dirty="0">
                <a:solidFill>
                  <a:srgbClr val="C9A24B"/>
                </a:solidFill>
                <a:latin typeface="Calibri" pitchFamily="34" charset="0"/>
                <a:ea typeface="Calibri" pitchFamily="34" charset="-122"/>
                <a:cs typeface="Calibri" pitchFamily="34" charset="-120"/>
              </a:rPr>
              <a:t>Improved Prompt</a:t>
            </a:r>
            <a:endParaRPr lang="en-US" sz="1050" dirty="0"/>
          </a:p>
        </p:txBody>
      </p:sp>
      <p:sp>
        <p:nvSpPr>
          <p:cNvPr id="20" name="Shape 18"/>
          <p:cNvSpPr/>
          <p:nvPr/>
        </p:nvSpPr>
        <p:spPr>
          <a:xfrm>
            <a:off x="502920" y="4443984"/>
            <a:ext cx="11173968" cy="196596"/>
          </a:xfrm>
          <a:prstGeom prst="roundRect">
            <a:avLst>
              <a:gd name="adj" fmla="val 37209"/>
            </a:avLst>
          </a:prstGeom>
          <a:solidFill>
            <a:srgbClr val="FFFFFF"/>
          </a:solidFill>
          <a:ln/>
        </p:spPr>
      </p:sp>
      <p:sp>
        <p:nvSpPr>
          <p:cNvPr id="21" name="Text 19"/>
          <p:cNvSpPr txBox="1"/>
          <p:nvPr/>
        </p:nvSpPr>
        <p:spPr>
          <a:xfrm>
            <a:off x="640080" y="4443984"/>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Broad</a:t>
            </a:r>
            <a:endParaRPr lang="en-US" sz="950" dirty="0"/>
          </a:p>
        </p:txBody>
      </p:sp>
      <p:sp>
        <p:nvSpPr>
          <p:cNvPr id="22" name="Text 20"/>
          <p:cNvSpPr txBox="1"/>
          <p:nvPr/>
        </p:nvSpPr>
        <p:spPr>
          <a:xfrm>
            <a:off x="6227064" y="4443984"/>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Specific</a:t>
            </a:r>
            <a:endParaRPr lang="en-US" sz="950" dirty="0"/>
          </a:p>
        </p:txBody>
      </p:sp>
      <p:sp>
        <p:nvSpPr>
          <p:cNvPr id="23" name="Shape 21"/>
          <p:cNvSpPr/>
          <p:nvPr/>
        </p:nvSpPr>
        <p:spPr>
          <a:xfrm>
            <a:off x="502920" y="4658868"/>
            <a:ext cx="11173968" cy="196596"/>
          </a:xfrm>
          <a:prstGeom prst="roundRect">
            <a:avLst>
              <a:gd name="adj" fmla="val 37209"/>
            </a:avLst>
          </a:prstGeom>
          <a:solidFill>
            <a:srgbClr val="EEEFF3"/>
          </a:solidFill>
          <a:ln/>
        </p:spPr>
      </p:sp>
      <p:sp>
        <p:nvSpPr>
          <p:cNvPr id="24" name="Text 22"/>
          <p:cNvSpPr txBox="1"/>
          <p:nvPr/>
        </p:nvSpPr>
        <p:spPr>
          <a:xfrm>
            <a:off x="640080" y="4658868"/>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No role</a:t>
            </a:r>
            <a:endParaRPr lang="en-US" sz="950" dirty="0"/>
          </a:p>
        </p:txBody>
      </p:sp>
      <p:sp>
        <p:nvSpPr>
          <p:cNvPr id="25" name="Text 23"/>
          <p:cNvSpPr txBox="1"/>
          <p:nvPr/>
        </p:nvSpPr>
        <p:spPr>
          <a:xfrm>
            <a:off x="6227064" y="4658868"/>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Expert role</a:t>
            </a:r>
            <a:endParaRPr lang="en-US" sz="950" dirty="0"/>
          </a:p>
        </p:txBody>
      </p:sp>
      <p:sp>
        <p:nvSpPr>
          <p:cNvPr id="26" name="Shape 24"/>
          <p:cNvSpPr/>
          <p:nvPr/>
        </p:nvSpPr>
        <p:spPr>
          <a:xfrm>
            <a:off x="502920" y="4873752"/>
            <a:ext cx="11173968" cy="196596"/>
          </a:xfrm>
          <a:prstGeom prst="roundRect">
            <a:avLst>
              <a:gd name="adj" fmla="val 37209"/>
            </a:avLst>
          </a:prstGeom>
          <a:solidFill>
            <a:srgbClr val="FFFFFF"/>
          </a:solidFill>
          <a:ln/>
        </p:spPr>
      </p:sp>
      <p:sp>
        <p:nvSpPr>
          <p:cNvPr id="27" name="Text 25"/>
          <p:cNvSpPr txBox="1"/>
          <p:nvPr/>
        </p:nvSpPr>
        <p:spPr>
          <a:xfrm>
            <a:off x="640080" y="4873752"/>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Little context</a:t>
            </a:r>
            <a:endParaRPr lang="en-US" sz="950" dirty="0"/>
          </a:p>
        </p:txBody>
      </p:sp>
      <p:sp>
        <p:nvSpPr>
          <p:cNvPr id="28" name="Text 26"/>
          <p:cNvSpPr txBox="1"/>
          <p:nvPr/>
        </p:nvSpPr>
        <p:spPr>
          <a:xfrm>
            <a:off x="6227064" y="4873752"/>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BlackRock + Aladdin context</a:t>
            </a:r>
            <a:endParaRPr lang="en-US" sz="950" dirty="0"/>
          </a:p>
        </p:txBody>
      </p:sp>
      <p:sp>
        <p:nvSpPr>
          <p:cNvPr id="29" name="Shape 27"/>
          <p:cNvSpPr/>
          <p:nvPr/>
        </p:nvSpPr>
        <p:spPr>
          <a:xfrm>
            <a:off x="502920" y="5088636"/>
            <a:ext cx="11173968" cy="196596"/>
          </a:xfrm>
          <a:prstGeom prst="roundRect">
            <a:avLst>
              <a:gd name="adj" fmla="val 37209"/>
            </a:avLst>
          </a:prstGeom>
          <a:solidFill>
            <a:srgbClr val="EEEFF3"/>
          </a:solidFill>
          <a:ln/>
        </p:spPr>
      </p:sp>
      <p:sp>
        <p:nvSpPr>
          <p:cNvPr id="30" name="Text 28"/>
          <p:cNvSpPr txBox="1"/>
          <p:nvPr/>
        </p:nvSpPr>
        <p:spPr>
          <a:xfrm>
            <a:off x="640080" y="5088636"/>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No constraints</a:t>
            </a:r>
            <a:endParaRPr lang="en-US" sz="950" dirty="0"/>
          </a:p>
        </p:txBody>
      </p:sp>
      <p:sp>
        <p:nvSpPr>
          <p:cNvPr id="31" name="Text 29"/>
          <p:cNvSpPr txBox="1"/>
          <p:nvPr/>
        </p:nvSpPr>
        <p:spPr>
          <a:xfrm>
            <a:off x="6227064" y="5088636"/>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Research constraints</a:t>
            </a:r>
            <a:endParaRPr lang="en-US" sz="950" dirty="0"/>
          </a:p>
        </p:txBody>
      </p:sp>
      <p:sp>
        <p:nvSpPr>
          <p:cNvPr id="32" name="Shape 30"/>
          <p:cNvSpPr/>
          <p:nvPr/>
        </p:nvSpPr>
        <p:spPr>
          <a:xfrm>
            <a:off x="502920" y="5303520"/>
            <a:ext cx="11173968" cy="196596"/>
          </a:xfrm>
          <a:prstGeom prst="roundRect">
            <a:avLst>
              <a:gd name="adj" fmla="val 37209"/>
            </a:avLst>
          </a:prstGeom>
          <a:solidFill>
            <a:srgbClr val="FFFFFF"/>
          </a:solidFill>
          <a:ln/>
        </p:spPr>
      </p:sp>
      <p:sp>
        <p:nvSpPr>
          <p:cNvPr id="33" name="Text 31"/>
          <p:cNvSpPr txBox="1"/>
          <p:nvPr/>
        </p:nvSpPr>
        <p:spPr>
          <a:xfrm>
            <a:off x="640080" y="5303520"/>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No verification</a:t>
            </a:r>
            <a:endParaRPr lang="en-US" sz="950" dirty="0"/>
          </a:p>
        </p:txBody>
      </p:sp>
      <p:sp>
        <p:nvSpPr>
          <p:cNvPr id="34" name="Text 32"/>
          <p:cNvSpPr txBox="1"/>
          <p:nvPr/>
        </p:nvSpPr>
        <p:spPr>
          <a:xfrm>
            <a:off x="6227064" y="5303520"/>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Source requirement</a:t>
            </a:r>
            <a:endParaRPr lang="en-US" sz="950" dirty="0"/>
          </a:p>
        </p:txBody>
      </p:sp>
      <p:sp>
        <p:nvSpPr>
          <p:cNvPr id="35" name="Shape 33"/>
          <p:cNvSpPr/>
          <p:nvPr/>
        </p:nvSpPr>
        <p:spPr>
          <a:xfrm>
            <a:off x="502920" y="5518404"/>
            <a:ext cx="11173968" cy="196596"/>
          </a:xfrm>
          <a:prstGeom prst="roundRect">
            <a:avLst>
              <a:gd name="adj" fmla="val 37209"/>
            </a:avLst>
          </a:prstGeom>
          <a:solidFill>
            <a:srgbClr val="EEEFF3"/>
          </a:solidFill>
          <a:ln/>
        </p:spPr>
      </p:sp>
      <p:sp>
        <p:nvSpPr>
          <p:cNvPr id="36" name="Text 34"/>
          <p:cNvSpPr txBox="1"/>
          <p:nvPr/>
        </p:nvSpPr>
        <p:spPr>
          <a:xfrm>
            <a:off x="640080" y="5518404"/>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No structure</a:t>
            </a:r>
            <a:endParaRPr lang="en-US" sz="950" dirty="0"/>
          </a:p>
        </p:txBody>
      </p:sp>
      <p:sp>
        <p:nvSpPr>
          <p:cNvPr id="37" name="Text 35"/>
          <p:cNvSpPr txBox="1"/>
          <p:nvPr/>
        </p:nvSpPr>
        <p:spPr>
          <a:xfrm>
            <a:off x="6227064" y="5518404"/>
            <a:ext cx="5358384" cy="196596"/>
          </a:xfrm>
          <a:prstGeom prst="rect">
            <a:avLst/>
          </a:prstGeom>
          <a:noFill/>
          <a:ln/>
        </p:spPr>
        <p:txBody>
          <a:bodyPr wrap="square" lIns="0" tIns="0" rIns="0" bIns="0" rtlCol="0" anchor="ctr"/>
          <a:lstStyle/>
          <a:p>
            <a:pPr marL="0" indent="0">
              <a:buNone/>
            </a:pPr>
            <a:r>
              <a:rPr lang="en-US" sz="950" dirty="0">
                <a:solidFill>
                  <a:srgbClr val="1A1D29"/>
                </a:solidFill>
                <a:latin typeface="Calibri" pitchFamily="34" charset="0"/>
                <a:ea typeface="Calibri" pitchFamily="34" charset="-122"/>
                <a:cs typeface="Calibri" pitchFamily="34" charset="-120"/>
              </a:rPr>
              <a:t>Defined output</a:t>
            </a:r>
            <a:endParaRPr lang="en-US" sz="950" dirty="0"/>
          </a:p>
        </p:txBody>
      </p:sp>
      <p:sp>
        <p:nvSpPr>
          <p:cNvPr id="38" name="Text 36"/>
          <p:cNvSpPr txBox="1"/>
          <p:nvPr/>
        </p:nvSpPr>
        <p:spPr>
          <a:xfrm>
            <a:off x="502920" y="5989320"/>
            <a:ext cx="11183112" cy="502920"/>
          </a:xfrm>
          <a:prstGeom prst="rect">
            <a:avLst/>
          </a:prstGeom>
          <a:noFill/>
          <a:ln/>
        </p:spPr>
        <p:txBody>
          <a:bodyPr wrap="square" lIns="0" tIns="0" rIns="0" bIns="0" rtlCol="0" anchor="ctr"/>
          <a:lstStyle/>
          <a:p>
            <a:pPr marL="0" indent="0">
              <a:buNone/>
            </a:pPr>
            <a:r>
              <a:rPr lang="en-US" sz="1000" i="1" dirty="0">
                <a:solidFill>
                  <a:srgbClr val="5B6072"/>
                </a:solidFill>
                <a:latin typeface="Calibri" pitchFamily="34" charset="0"/>
                <a:ea typeface="Calibri" pitchFamily="34" charset="-122"/>
                <a:cs typeface="Calibri" pitchFamily="34" charset="-120"/>
              </a:rPr>
              <a:t>Learning: Adding role, context, constraints, source requirements and output structure produced more focused, better-verified research — though AI-generated information still required human verification before inclusion.</a:t>
            </a:r>
            <a:endParaRPr lang="en-US" sz="1000" dirty="0"/>
          </a:p>
        </p:txBody>
      </p:sp>
      <p:sp>
        <p:nvSpPr>
          <p:cNvPr id="39" name="Text 37"/>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0" name="Text 38"/>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9"/>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WRAP-UP</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Recommendations &amp; Conclusion</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11 / 12</a:t>
            </a:r>
            <a:endParaRPr lang="en-US" sz="1050" dirty="0"/>
          </a:p>
        </p:txBody>
      </p:sp>
      <p:sp>
        <p:nvSpPr>
          <p:cNvPr id="6" name="Text 4"/>
          <p:cNvSpPr txBox="1"/>
          <p:nvPr/>
        </p:nvSpPr>
        <p:spPr>
          <a:xfrm>
            <a:off x="502920" y="1234440"/>
            <a:ext cx="5486400" cy="274320"/>
          </a:xfrm>
          <a:prstGeom prst="rect">
            <a:avLst/>
          </a:prstGeom>
          <a:noFill/>
          <a:ln/>
        </p:spPr>
        <p:txBody>
          <a:bodyPr wrap="square" lIns="0" tIns="0" rIns="0" bIns="0" rtlCol="0" anchor="ctr"/>
          <a:lstStyle/>
          <a:p>
            <a:pPr marL="0" indent="0">
              <a:buNone/>
            </a:pPr>
            <a:r>
              <a:rPr lang="en-US" sz="1400" b="1" dirty="0">
                <a:solidFill>
                  <a:srgbClr val="121A33"/>
                </a:solidFill>
                <a:latin typeface="Cambria" pitchFamily="34" charset="0"/>
                <a:ea typeface="Cambria" pitchFamily="34" charset="-122"/>
                <a:cs typeface="Cambria" pitchFamily="34" charset="-120"/>
              </a:rPr>
              <a:t>Recommendations</a:t>
            </a:r>
            <a:endParaRPr lang="en-US" sz="1400" dirty="0"/>
          </a:p>
        </p:txBody>
      </p:sp>
      <p:sp>
        <p:nvSpPr>
          <p:cNvPr id="7" name="Shape 5"/>
          <p:cNvSpPr/>
          <p:nvPr/>
        </p:nvSpPr>
        <p:spPr>
          <a:xfrm>
            <a:off x="502920" y="1600200"/>
            <a:ext cx="5440680" cy="749808"/>
          </a:xfrm>
          <a:prstGeom prst="roundRect">
            <a:avLst>
              <a:gd name="adj" fmla="val 9756"/>
            </a:avLst>
          </a:prstGeom>
          <a:solidFill>
            <a:srgbClr val="EEEFF3"/>
          </a:solidFill>
          <a:ln/>
          <a:effectLst>
            <a:outerShdw blurRad="76200" dist="25400" dir="5400000" algn="bl" rotWithShape="0">
              <a:srgbClr val="9AA0B0">
                <a:alpha val="25000"/>
              </a:srgbClr>
            </a:outerShdw>
          </a:effectLst>
        </p:spPr>
      </p:sp>
      <p:sp>
        <p:nvSpPr>
          <p:cNvPr id="8" name="Shape 6"/>
          <p:cNvSpPr/>
          <p:nvPr/>
        </p:nvSpPr>
        <p:spPr>
          <a:xfrm>
            <a:off x="658368" y="1746504"/>
            <a:ext cx="347472" cy="347472"/>
          </a:xfrm>
          <a:prstGeom prst="ellipse">
            <a:avLst/>
          </a:prstGeom>
          <a:solidFill>
            <a:srgbClr val="C9A24B"/>
          </a:solidFill>
          <a:ln/>
        </p:spPr>
      </p:sp>
      <p:sp>
        <p:nvSpPr>
          <p:cNvPr id="9" name="Text 7"/>
          <p:cNvSpPr txBox="1"/>
          <p:nvPr/>
        </p:nvSpPr>
        <p:spPr>
          <a:xfrm>
            <a:off x="658368" y="1746504"/>
            <a:ext cx="347472" cy="347472"/>
          </a:xfrm>
          <a:prstGeom prst="rect">
            <a:avLst/>
          </a:prstGeom>
          <a:noFill/>
          <a:ln/>
        </p:spPr>
        <p:txBody>
          <a:bodyPr wrap="square" lIns="0" tIns="0" rIns="0" bIns="0" rtlCol="0" anchor="ctr"/>
          <a:lstStyle/>
          <a:p>
            <a:pPr marL="0" indent="0" algn="ctr">
              <a:buNone/>
            </a:pPr>
            <a:r>
              <a:rPr lang="en-US" sz="1300" b="1" dirty="0">
                <a:solidFill>
                  <a:srgbClr val="121A33"/>
                </a:solidFill>
              </a:rPr>
              <a:t>1</a:t>
            </a:r>
            <a:endParaRPr lang="en-US" sz="1300" dirty="0"/>
          </a:p>
        </p:txBody>
      </p:sp>
      <p:sp>
        <p:nvSpPr>
          <p:cNvPr id="10" name="Text 8"/>
          <p:cNvSpPr txBox="1"/>
          <p:nvPr/>
        </p:nvSpPr>
        <p:spPr>
          <a:xfrm>
            <a:off x="1170432" y="1600200"/>
            <a:ext cx="4663440" cy="749808"/>
          </a:xfrm>
          <a:prstGeom prst="rect">
            <a:avLst/>
          </a:prstGeom>
          <a:noFill/>
          <a:ln/>
        </p:spPr>
        <p:txBody>
          <a:bodyPr wrap="square" lIns="0" tIns="0" rIns="0" bIns="0" rtlCol="0" anchor="ctr"/>
          <a:lstStyle/>
          <a:p>
            <a:pPr marL="0" indent="0">
              <a:lnSpc>
                <a:spcPct val="100000"/>
              </a:lnSpc>
              <a:buNone/>
            </a:pPr>
            <a:r>
              <a:rPr lang="en-US" sz="1050" dirty="0">
                <a:solidFill>
                  <a:srgbClr val="1A1D29"/>
                </a:solidFill>
                <a:latin typeface="Calibri" pitchFamily="34" charset="0"/>
                <a:ea typeface="Calibri" pitchFamily="34" charset="-122"/>
                <a:cs typeface="Calibri" pitchFamily="34" charset="-120"/>
              </a:rPr>
              <a:t>Use AI as a decision-support tool, not an autonomous investment decision-maker</a:t>
            </a:r>
            <a:endParaRPr lang="en-US" sz="1050" dirty="0"/>
          </a:p>
        </p:txBody>
      </p:sp>
      <p:sp>
        <p:nvSpPr>
          <p:cNvPr id="11" name="Shape 9"/>
          <p:cNvSpPr/>
          <p:nvPr/>
        </p:nvSpPr>
        <p:spPr>
          <a:xfrm>
            <a:off x="502920" y="2468880"/>
            <a:ext cx="5440680" cy="749808"/>
          </a:xfrm>
          <a:prstGeom prst="roundRect">
            <a:avLst>
              <a:gd name="adj" fmla="val 9756"/>
            </a:avLst>
          </a:prstGeom>
          <a:solidFill>
            <a:srgbClr val="EEEFF3"/>
          </a:solidFill>
          <a:ln/>
          <a:effectLst>
            <a:outerShdw blurRad="76200" dist="25400" dir="5400000" algn="bl" rotWithShape="0">
              <a:srgbClr val="9AA0B0">
                <a:alpha val="25000"/>
              </a:srgbClr>
            </a:outerShdw>
          </a:effectLst>
        </p:spPr>
      </p:sp>
      <p:sp>
        <p:nvSpPr>
          <p:cNvPr id="12" name="Shape 10"/>
          <p:cNvSpPr/>
          <p:nvPr/>
        </p:nvSpPr>
        <p:spPr>
          <a:xfrm>
            <a:off x="658368" y="2615184"/>
            <a:ext cx="347472" cy="347472"/>
          </a:xfrm>
          <a:prstGeom prst="ellipse">
            <a:avLst/>
          </a:prstGeom>
          <a:solidFill>
            <a:srgbClr val="C9A24B"/>
          </a:solidFill>
          <a:ln/>
        </p:spPr>
      </p:sp>
      <p:sp>
        <p:nvSpPr>
          <p:cNvPr id="13" name="Text 11"/>
          <p:cNvSpPr txBox="1"/>
          <p:nvPr/>
        </p:nvSpPr>
        <p:spPr>
          <a:xfrm>
            <a:off x="658368" y="2615184"/>
            <a:ext cx="347472" cy="347472"/>
          </a:xfrm>
          <a:prstGeom prst="rect">
            <a:avLst/>
          </a:prstGeom>
          <a:noFill/>
          <a:ln/>
        </p:spPr>
        <p:txBody>
          <a:bodyPr wrap="square" lIns="0" tIns="0" rIns="0" bIns="0" rtlCol="0" anchor="ctr"/>
          <a:lstStyle/>
          <a:p>
            <a:pPr marL="0" indent="0" algn="ctr">
              <a:buNone/>
            </a:pPr>
            <a:r>
              <a:rPr lang="en-US" sz="1300" b="1" dirty="0">
                <a:solidFill>
                  <a:srgbClr val="121A33"/>
                </a:solidFill>
              </a:rPr>
              <a:t>2</a:t>
            </a:r>
            <a:endParaRPr lang="en-US" sz="1300" dirty="0"/>
          </a:p>
        </p:txBody>
      </p:sp>
      <p:sp>
        <p:nvSpPr>
          <p:cNvPr id="14" name="Text 12"/>
          <p:cNvSpPr txBox="1"/>
          <p:nvPr/>
        </p:nvSpPr>
        <p:spPr>
          <a:xfrm>
            <a:off x="1170432" y="2468880"/>
            <a:ext cx="4663440" cy="749808"/>
          </a:xfrm>
          <a:prstGeom prst="rect">
            <a:avLst/>
          </a:prstGeom>
          <a:noFill/>
          <a:ln/>
        </p:spPr>
        <p:txBody>
          <a:bodyPr wrap="square" lIns="0" tIns="0" rIns="0" bIns="0" rtlCol="0" anchor="ctr"/>
          <a:lstStyle/>
          <a:p>
            <a:pPr marL="0" indent="0">
              <a:lnSpc>
                <a:spcPct val="100000"/>
              </a:lnSpc>
              <a:buNone/>
            </a:pPr>
            <a:r>
              <a:rPr lang="en-US" sz="1050" dirty="0">
                <a:solidFill>
                  <a:srgbClr val="1A1D29"/>
                </a:solidFill>
                <a:latin typeface="Calibri" pitchFamily="34" charset="0"/>
                <a:ea typeface="Calibri" pitchFamily="34" charset="-122"/>
                <a:cs typeface="Calibri" pitchFamily="34" charset="-120"/>
              </a:rPr>
              <a:t>Maintain human-in-the-loop review for all material risk and investment decisions</a:t>
            </a:r>
            <a:endParaRPr lang="en-US" sz="1050" dirty="0"/>
          </a:p>
        </p:txBody>
      </p:sp>
      <p:sp>
        <p:nvSpPr>
          <p:cNvPr id="15" name="Shape 13"/>
          <p:cNvSpPr/>
          <p:nvPr/>
        </p:nvSpPr>
        <p:spPr>
          <a:xfrm>
            <a:off x="502920" y="3337560"/>
            <a:ext cx="5440680" cy="749808"/>
          </a:xfrm>
          <a:prstGeom prst="roundRect">
            <a:avLst>
              <a:gd name="adj" fmla="val 9756"/>
            </a:avLst>
          </a:prstGeom>
          <a:solidFill>
            <a:srgbClr val="EEEFF3"/>
          </a:solidFill>
          <a:ln/>
          <a:effectLst>
            <a:outerShdw blurRad="76200" dist="25400" dir="5400000" algn="bl" rotWithShape="0">
              <a:srgbClr val="9AA0B0">
                <a:alpha val="25000"/>
              </a:srgbClr>
            </a:outerShdw>
          </a:effectLst>
        </p:spPr>
      </p:sp>
      <p:sp>
        <p:nvSpPr>
          <p:cNvPr id="16" name="Shape 14"/>
          <p:cNvSpPr/>
          <p:nvPr/>
        </p:nvSpPr>
        <p:spPr>
          <a:xfrm>
            <a:off x="658368" y="3483864"/>
            <a:ext cx="347472" cy="347472"/>
          </a:xfrm>
          <a:prstGeom prst="ellipse">
            <a:avLst/>
          </a:prstGeom>
          <a:solidFill>
            <a:srgbClr val="C9A24B"/>
          </a:solidFill>
          <a:ln/>
        </p:spPr>
      </p:sp>
      <p:sp>
        <p:nvSpPr>
          <p:cNvPr id="17" name="Text 15"/>
          <p:cNvSpPr txBox="1"/>
          <p:nvPr/>
        </p:nvSpPr>
        <p:spPr>
          <a:xfrm>
            <a:off x="658368" y="3483864"/>
            <a:ext cx="347472" cy="347472"/>
          </a:xfrm>
          <a:prstGeom prst="rect">
            <a:avLst/>
          </a:prstGeom>
          <a:noFill/>
          <a:ln/>
        </p:spPr>
        <p:txBody>
          <a:bodyPr wrap="square" lIns="0" tIns="0" rIns="0" bIns="0" rtlCol="0" anchor="ctr"/>
          <a:lstStyle/>
          <a:p>
            <a:pPr marL="0" indent="0" algn="ctr">
              <a:buNone/>
            </a:pPr>
            <a:r>
              <a:rPr lang="en-US" sz="1300" b="1" dirty="0">
                <a:solidFill>
                  <a:srgbClr val="121A33"/>
                </a:solidFill>
              </a:rPr>
              <a:t>3</a:t>
            </a:r>
            <a:endParaRPr lang="en-US" sz="1300" dirty="0"/>
          </a:p>
        </p:txBody>
      </p:sp>
      <p:sp>
        <p:nvSpPr>
          <p:cNvPr id="18" name="Text 16"/>
          <p:cNvSpPr txBox="1"/>
          <p:nvPr/>
        </p:nvSpPr>
        <p:spPr>
          <a:xfrm>
            <a:off x="1170432" y="3337560"/>
            <a:ext cx="4663440" cy="749808"/>
          </a:xfrm>
          <a:prstGeom prst="rect">
            <a:avLst/>
          </a:prstGeom>
          <a:noFill/>
          <a:ln/>
        </p:spPr>
        <p:txBody>
          <a:bodyPr wrap="square" lIns="0" tIns="0" rIns="0" bIns="0" rtlCol="0" anchor="ctr"/>
          <a:lstStyle/>
          <a:p>
            <a:pPr marL="0" indent="0">
              <a:lnSpc>
                <a:spcPct val="100000"/>
              </a:lnSpc>
              <a:buNone/>
            </a:pPr>
            <a:r>
              <a:rPr lang="en-US" sz="1050" dirty="0">
                <a:solidFill>
                  <a:srgbClr val="1A1D29"/>
                </a:solidFill>
                <a:latin typeface="Calibri" pitchFamily="34" charset="0"/>
                <a:ea typeface="Calibri" pitchFamily="34" charset="-122"/>
                <a:cs typeface="Calibri" pitchFamily="34" charset="-120"/>
              </a:rPr>
              <a:t>Implement strict data governance and permission-based access</a:t>
            </a:r>
            <a:endParaRPr lang="en-US" sz="1050" dirty="0"/>
          </a:p>
        </p:txBody>
      </p:sp>
      <p:sp>
        <p:nvSpPr>
          <p:cNvPr id="19" name="Shape 17"/>
          <p:cNvSpPr/>
          <p:nvPr/>
        </p:nvSpPr>
        <p:spPr>
          <a:xfrm>
            <a:off x="502920" y="4206240"/>
            <a:ext cx="5440680" cy="749808"/>
          </a:xfrm>
          <a:prstGeom prst="roundRect">
            <a:avLst>
              <a:gd name="adj" fmla="val 9756"/>
            </a:avLst>
          </a:prstGeom>
          <a:solidFill>
            <a:srgbClr val="EEEFF3"/>
          </a:solidFill>
          <a:ln/>
          <a:effectLst>
            <a:outerShdw blurRad="76200" dist="25400" dir="5400000" algn="bl" rotWithShape="0">
              <a:srgbClr val="9AA0B0">
                <a:alpha val="25000"/>
              </a:srgbClr>
            </a:outerShdw>
          </a:effectLst>
        </p:spPr>
      </p:sp>
      <p:sp>
        <p:nvSpPr>
          <p:cNvPr id="20" name="Shape 18"/>
          <p:cNvSpPr/>
          <p:nvPr/>
        </p:nvSpPr>
        <p:spPr>
          <a:xfrm>
            <a:off x="658368" y="4352544"/>
            <a:ext cx="347472" cy="347472"/>
          </a:xfrm>
          <a:prstGeom prst="ellipse">
            <a:avLst/>
          </a:prstGeom>
          <a:solidFill>
            <a:srgbClr val="C9A24B"/>
          </a:solidFill>
          <a:ln/>
        </p:spPr>
      </p:sp>
      <p:sp>
        <p:nvSpPr>
          <p:cNvPr id="21" name="Text 19"/>
          <p:cNvSpPr txBox="1"/>
          <p:nvPr/>
        </p:nvSpPr>
        <p:spPr>
          <a:xfrm>
            <a:off x="658368" y="4352544"/>
            <a:ext cx="347472" cy="347472"/>
          </a:xfrm>
          <a:prstGeom prst="rect">
            <a:avLst/>
          </a:prstGeom>
          <a:noFill/>
          <a:ln/>
        </p:spPr>
        <p:txBody>
          <a:bodyPr wrap="square" lIns="0" tIns="0" rIns="0" bIns="0" rtlCol="0" anchor="ctr"/>
          <a:lstStyle/>
          <a:p>
            <a:pPr marL="0" indent="0" algn="ctr">
              <a:buNone/>
            </a:pPr>
            <a:r>
              <a:rPr lang="en-US" sz="1300" b="1" dirty="0">
                <a:solidFill>
                  <a:srgbClr val="121A33"/>
                </a:solidFill>
              </a:rPr>
              <a:t>4</a:t>
            </a:r>
            <a:endParaRPr lang="en-US" sz="1300" dirty="0"/>
          </a:p>
        </p:txBody>
      </p:sp>
      <p:sp>
        <p:nvSpPr>
          <p:cNvPr id="22" name="Text 20"/>
          <p:cNvSpPr txBox="1"/>
          <p:nvPr/>
        </p:nvSpPr>
        <p:spPr>
          <a:xfrm>
            <a:off x="1170432" y="4206240"/>
            <a:ext cx="4663440" cy="749808"/>
          </a:xfrm>
          <a:prstGeom prst="rect">
            <a:avLst/>
          </a:prstGeom>
          <a:noFill/>
          <a:ln/>
        </p:spPr>
        <p:txBody>
          <a:bodyPr wrap="square" lIns="0" tIns="0" rIns="0" bIns="0" rtlCol="0" anchor="ctr"/>
          <a:lstStyle/>
          <a:p>
            <a:pPr marL="0" indent="0">
              <a:lnSpc>
                <a:spcPct val="100000"/>
              </a:lnSpc>
              <a:buNone/>
            </a:pPr>
            <a:r>
              <a:rPr lang="en-US" sz="1050" dirty="0">
                <a:solidFill>
                  <a:srgbClr val="1A1D29"/>
                </a:solidFill>
                <a:latin typeface="Calibri" pitchFamily="34" charset="0"/>
                <a:ea typeface="Calibri" pitchFamily="34" charset="-122"/>
                <a:cs typeface="Calibri" pitchFamily="34" charset="-120"/>
              </a:rPr>
              <a:t>Continuously monitor models for accuracy, bias, security and drift</a:t>
            </a:r>
            <a:endParaRPr lang="en-US" sz="1050" dirty="0"/>
          </a:p>
        </p:txBody>
      </p:sp>
      <p:sp>
        <p:nvSpPr>
          <p:cNvPr id="23" name="Shape 21"/>
          <p:cNvSpPr/>
          <p:nvPr/>
        </p:nvSpPr>
        <p:spPr>
          <a:xfrm>
            <a:off x="502920" y="5074920"/>
            <a:ext cx="5440680" cy="749808"/>
          </a:xfrm>
          <a:prstGeom prst="roundRect">
            <a:avLst>
              <a:gd name="adj" fmla="val 9756"/>
            </a:avLst>
          </a:prstGeom>
          <a:solidFill>
            <a:srgbClr val="EEEFF3"/>
          </a:solidFill>
          <a:ln/>
          <a:effectLst>
            <a:outerShdw blurRad="76200" dist="25400" dir="5400000" algn="bl" rotWithShape="0">
              <a:srgbClr val="9AA0B0">
                <a:alpha val="25000"/>
              </a:srgbClr>
            </a:outerShdw>
          </a:effectLst>
        </p:spPr>
      </p:sp>
      <p:sp>
        <p:nvSpPr>
          <p:cNvPr id="24" name="Shape 22"/>
          <p:cNvSpPr/>
          <p:nvPr/>
        </p:nvSpPr>
        <p:spPr>
          <a:xfrm>
            <a:off x="658368" y="5221224"/>
            <a:ext cx="347472" cy="347472"/>
          </a:xfrm>
          <a:prstGeom prst="ellipse">
            <a:avLst/>
          </a:prstGeom>
          <a:solidFill>
            <a:srgbClr val="C9A24B"/>
          </a:solidFill>
          <a:ln/>
        </p:spPr>
      </p:sp>
      <p:sp>
        <p:nvSpPr>
          <p:cNvPr id="25" name="Text 23"/>
          <p:cNvSpPr txBox="1"/>
          <p:nvPr/>
        </p:nvSpPr>
        <p:spPr>
          <a:xfrm>
            <a:off x="658368" y="5221224"/>
            <a:ext cx="347472" cy="347472"/>
          </a:xfrm>
          <a:prstGeom prst="rect">
            <a:avLst/>
          </a:prstGeom>
          <a:noFill/>
          <a:ln/>
        </p:spPr>
        <p:txBody>
          <a:bodyPr wrap="square" lIns="0" tIns="0" rIns="0" bIns="0" rtlCol="0" anchor="ctr"/>
          <a:lstStyle/>
          <a:p>
            <a:pPr marL="0" indent="0" algn="ctr">
              <a:buNone/>
            </a:pPr>
            <a:r>
              <a:rPr lang="en-US" sz="1300" b="1" dirty="0">
                <a:solidFill>
                  <a:srgbClr val="121A33"/>
                </a:solidFill>
              </a:rPr>
              <a:t>5</a:t>
            </a:r>
            <a:endParaRPr lang="en-US" sz="1300" dirty="0"/>
          </a:p>
        </p:txBody>
      </p:sp>
      <p:sp>
        <p:nvSpPr>
          <p:cNvPr id="26" name="Text 24"/>
          <p:cNvSpPr txBox="1"/>
          <p:nvPr/>
        </p:nvSpPr>
        <p:spPr>
          <a:xfrm>
            <a:off x="1170432" y="5074920"/>
            <a:ext cx="4663440" cy="749808"/>
          </a:xfrm>
          <a:prstGeom prst="rect">
            <a:avLst/>
          </a:prstGeom>
          <a:noFill/>
          <a:ln/>
        </p:spPr>
        <p:txBody>
          <a:bodyPr wrap="square" lIns="0" tIns="0" rIns="0" bIns="0" rtlCol="0" anchor="ctr"/>
          <a:lstStyle/>
          <a:p>
            <a:pPr marL="0" indent="0">
              <a:lnSpc>
                <a:spcPct val="100000"/>
              </a:lnSpc>
              <a:buNone/>
            </a:pPr>
            <a:r>
              <a:rPr lang="en-US" sz="1050" dirty="0">
                <a:solidFill>
                  <a:srgbClr val="1A1D29"/>
                </a:solidFill>
                <a:latin typeface="Calibri" pitchFamily="34" charset="0"/>
                <a:ea typeface="Calibri" pitchFamily="34" charset="-122"/>
                <a:cs typeface="Calibri" pitchFamily="34" charset="-120"/>
              </a:rPr>
              <a:t>Provide explainable AI outputs so professionals can question model-generated insights</a:t>
            </a:r>
            <a:endParaRPr lang="en-US" sz="1050" dirty="0"/>
          </a:p>
        </p:txBody>
      </p:sp>
      <p:sp>
        <p:nvSpPr>
          <p:cNvPr id="27" name="Shape 25"/>
          <p:cNvSpPr/>
          <p:nvPr/>
        </p:nvSpPr>
        <p:spPr>
          <a:xfrm>
            <a:off x="6245352" y="1280160"/>
            <a:ext cx="5440680" cy="2834640"/>
          </a:xfrm>
          <a:prstGeom prst="roundRect">
            <a:avLst>
              <a:gd name="adj" fmla="val 2581"/>
            </a:avLst>
          </a:prstGeom>
          <a:solidFill>
            <a:srgbClr val="121A33"/>
          </a:solidFill>
          <a:ln/>
          <a:effectLst>
            <a:outerShdw blurRad="76200" dist="25400" dir="5400000" algn="bl" rotWithShape="0">
              <a:srgbClr val="9AA0B0">
                <a:alpha val="25000"/>
              </a:srgbClr>
            </a:outerShdw>
          </a:effectLst>
        </p:spPr>
      </p:sp>
      <p:sp>
        <p:nvSpPr>
          <p:cNvPr id="28" name="Text 26"/>
          <p:cNvSpPr txBox="1"/>
          <p:nvPr/>
        </p:nvSpPr>
        <p:spPr>
          <a:xfrm>
            <a:off x="6455664" y="1417320"/>
            <a:ext cx="5029200" cy="274320"/>
          </a:xfrm>
          <a:prstGeom prst="rect">
            <a:avLst/>
          </a:prstGeom>
          <a:noFill/>
          <a:ln/>
        </p:spPr>
        <p:txBody>
          <a:bodyPr wrap="square" lIns="0" tIns="0" rIns="0" bIns="0" rtlCol="0" anchor="ctr"/>
          <a:lstStyle/>
          <a:p>
            <a:pPr marL="0" indent="0">
              <a:buNone/>
            </a:pPr>
            <a:r>
              <a:rPr lang="en-US" sz="1400" b="1" dirty="0">
                <a:solidFill>
                  <a:srgbClr val="C9A24B"/>
                </a:solidFill>
                <a:latin typeface="Cambria" pitchFamily="34" charset="0"/>
                <a:ea typeface="Cambria" pitchFamily="34" charset="-122"/>
                <a:cs typeface="Cambria" pitchFamily="34" charset="-120"/>
              </a:rPr>
              <a:t>Conclusion</a:t>
            </a:r>
            <a:endParaRPr lang="en-US" sz="1400" dirty="0"/>
          </a:p>
        </p:txBody>
      </p:sp>
      <p:sp>
        <p:nvSpPr>
          <p:cNvPr id="29" name="Text 27"/>
          <p:cNvSpPr txBox="1"/>
          <p:nvPr/>
        </p:nvSpPr>
        <p:spPr>
          <a:xfrm>
            <a:off x="6455664" y="1755648"/>
            <a:ext cx="5029200" cy="1600200"/>
          </a:xfrm>
          <a:prstGeom prst="rect">
            <a:avLst/>
          </a:prstGeom>
          <a:noFill/>
          <a:ln/>
        </p:spPr>
        <p:txBody>
          <a:bodyPr wrap="square" lIns="0" tIns="0" rIns="0" bIns="0" rtlCol="0" anchor="ctr"/>
          <a:lstStyle/>
          <a:p>
            <a:pPr marL="0" indent="0">
              <a:lnSpc>
                <a:spcPct val="115000"/>
              </a:lnSpc>
              <a:buNone/>
            </a:pPr>
            <a:r>
              <a:rPr lang="en-US" sz="1100" dirty="0">
                <a:solidFill>
                  <a:srgbClr val="E5E8F2"/>
                </a:solidFill>
                <a:latin typeface="Calibri" pitchFamily="34" charset="0"/>
                <a:ea typeface="Calibri" pitchFamily="34" charset="-122"/>
                <a:cs typeface="Calibri" pitchFamily="34" charset="-120"/>
              </a:rPr>
              <a:t>BlackRock operates in a data-intensive investment-management environment where portfolio complexity makes timely risk analysis essential. Its Aladdin ecosystem provides a strong foundation for investment and risk analytics. A proposed AI/ML enhancement could add anomaly detection, risk prioritization, natural-language interaction and automated insight generation — while maintaining human oversight and responsible-AI controls.</a:t>
            </a:r>
            <a:endParaRPr lang="en-US" sz="1100" dirty="0"/>
          </a:p>
        </p:txBody>
      </p:sp>
      <p:sp>
        <p:nvSpPr>
          <p:cNvPr id="30" name="Shape 28"/>
          <p:cNvSpPr/>
          <p:nvPr/>
        </p:nvSpPr>
        <p:spPr>
          <a:xfrm>
            <a:off x="6245352" y="4343400"/>
            <a:ext cx="5440680" cy="1417320"/>
          </a:xfrm>
          <a:prstGeom prst="roundRect">
            <a:avLst>
              <a:gd name="adj" fmla="val 5161"/>
            </a:avLst>
          </a:prstGeom>
          <a:solidFill>
            <a:srgbClr val="FBF6E9"/>
          </a:solidFill>
          <a:ln/>
          <a:effectLst>
            <a:outerShdw blurRad="76200" dist="25400" dir="5400000" algn="bl" rotWithShape="0">
              <a:srgbClr val="9AA0B0">
                <a:alpha val="25000"/>
              </a:srgbClr>
            </a:outerShdw>
          </a:effectLst>
        </p:spPr>
      </p:sp>
      <p:sp>
        <p:nvSpPr>
          <p:cNvPr id="31" name="Text 29"/>
          <p:cNvSpPr txBox="1"/>
          <p:nvPr/>
        </p:nvSpPr>
        <p:spPr>
          <a:xfrm>
            <a:off x="6473952" y="4480560"/>
            <a:ext cx="5029200" cy="1143000"/>
          </a:xfrm>
          <a:prstGeom prst="rect">
            <a:avLst/>
          </a:prstGeom>
          <a:noFill/>
          <a:ln/>
        </p:spPr>
        <p:txBody>
          <a:bodyPr wrap="square" lIns="0" tIns="0" rIns="0" bIns="0" rtlCol="0" anchor="ctr"/>
          <a:lstStyle/>
          <a:p>
            <a:pPr marL="0" indent="0">
              <a:lnSpc>
                <a:spcPct val="110000"/>
              </a:lnSpc>
              <a:buNone/>
            </a:pPr>
            <a:r>
              <a:rPr lang="en-US" sz="1250" b="1" i="1" dirty="0">
                <a:solidFill>
                  <a:srgbClr val="6B5A22"/>
                </a:solidFill>
                <a:latin typeface="Cambria" pitchFamily="34" charset="0"/>
                <a:ea typeface="Cambria" pitchFamily="34" charset="-122"/>
                <a:cs typeface="Cambria" pitchFamily="34" charset="-120"/>
              </a:rPr>
              <a:t>“The goal is not to replace investment professionals with AI, but to help them analyze complex information faster, understand risk more clearly, and make better-informed decisions.”</a:t>
            </a:r>
            <a:endParaRPr lang="en-US" sz="1250" dirty="0"/>
          </a:p>
        </p:txBody>
      </p:sp>
      <p:sp>
        <p:nvSpPr>
          <p:cNvPr id="32" name="Text 30"/>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33" name="Text 31"/>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5B6072"/>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A3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marL="0" indent="0">
              <a:buNone/>
            </a:pPr>
            <a:r>
              <a:rPr lang="en-US" sz="1100" b="1" kern="0" spc="200" dirty="0">
                <a:solidFill>
                  <a:srgbClr val="C9A24B"/>
                </a:solidFill>
                <a:latin typeface="Calibri" pitchFamily="34" charset="0"/>
                <a:ea typeface="Calibri" pitchFamily="34" charset="-122"/>
                <a:cs typeface="Calibri" pitchFamily="34" charset="-120"/>
              </a:rPr>
              <a:t>CLOSING</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Learning Reflection, References &amp; GitHub</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marL="0" indent="0" algn="r">
              <a:buNone/>
            </a:pPr>
            <a:r>
              <a:rPr lang="en-US" sz="1050" dirty="0">
                <a:solidFill>
                  <a:srgbClr val="C9A24B"/>
                </a:solidFill>
                <a:latin typeface="Calibri" pitchFamily="34" charset="0"/>
                <a:ea typeface="Calibri" pitchFamily="34" charset="-122"/>
                <a:cs typeface="Calibri" pitchFamily="34" charset="-120"/>
              </a:rPr>
              <a:t>12 / 12</a:t>
            </a:r>
            <a:endParaRPr lang="en-US" sz="1050" dirty="0"/>
          </a:p>
        </p:txBody>
      </p:sp>
      <p:sp>
        <p:nvSpPr>
          <p:cNvPr id="6" name="Shape 4"/>
          <p:cNvSpPr/>
          <p:nvPr/>
        </p:nvSpPr>
        <p:spPr>
          <a:xfrm>
            <a:off x="457200" y="1280160"/>
            <a:ext cx="3703320" cy="5029200"/>
          </a:xfrm>
          <a:prstGeom prst="roundRect">
            <a:avLst>
              <a:gd name="adj" fmla="val 1975"/>
            </a:avLst>
          </a:prstGeom>
          <a:solidFill>
            <a:srgbClr val="1B2544"/>
          </a:solidFill>
          <a:ln/>
        </p:spPr>
      </p:sp>
      <p:sp>
        <p:nvSpPr>
          <p:cNvPr id="7" name="Text 5"/>
          <p:cNvSpPr txBox="1"/>
          <p:nvPr/>
        </p:nvSpPr>
        <p:spPr>
          <a:xfrm>
            <a:off x="640080" y="1417320"/>
            <a:ext cx="3383280" cy="256032"/>
          </a:xfrm>
          <a:prstGeom prst="rect">
            <a:avLst/>
          </a:prstGeom>
          <a:noFill/>
          <a:ln/>
        </p:spPr>
        <p:txBody>
          <a:bodyPr wrap="square" lIns="0" tIns="0" rIns="0" bIns="0" rtlCol="0" anchor="ctr"/>
          <a:lstStyle/>
          <a:p>
            <a:pPr marL="0" indent="0">
              <a:buNone/>
            </a:pPr>
            <a:r>
              <a:rPr lang="en-US" sz="1100" b="1" kern="0" spc="100" dirty="0">
                <a:solidFill>
                  <a:srgbClr val="C9A24B"/>
                </a:solidFill>
                <a:latin typeface="Calibri" pitchFamily="34" charset="0"/>
                <a:ea typeface="Calibri" pitchFamily="34" charset="-122"/>
                <a:cs typeface="Calibri" pitchFamily="34" charset="-120"/>
              </a:rPr>
              <a:t>1. LEARNING REFLECTION</a:t>
            </a:r>
            <a:endParaRPr lang="en-US" sz="1100" dirty="0"/>
          </a:p>
        </p:txBody>
      </p:sp>
      <p:sp>
        <p:nvSpPr>
          <p:cNvPr id="8" name="Text 6"/>
          <p:cNvSpPr txBox="1"/>
          <p:nvPr/>
        </p:nvSpPr>
        <p:spPr>
          <a:xfrm>
            <a:off x="640080" y="1737360"/>
            <a:ext cx="3383280" cy="155448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950" dirty="0">
                <a:solidFill>
                  <a:srgbClr val="E5E8F2"/>
                </a:solidFill>
                <a:latin typeface="Calibri" pitchFamily="34" charset="0"/>
                <a:ea typeface="Calibri" pitchFamily="34" charset="-122"/>
                <a:cs typeface="Calibri" pitchFamily="34" charset="-120"/>
              </a:rPr>
              <a:t>Learned how AI/ML connects to a real financial-services business problem</a:t>
            </a:r>
            <a:endParaRPr lang="en-US" sz="950" dirty="0"/>
          </a:p>
          <a:p>
            <a:pPr marL="177800" indent="-177800">
              <a:lnSpc>
                <a:spcPct val="105000"/>
              </a:lnSpc>
              <a:spcAft>
                <a:spcPts val="500"/>
              </a:spcAft>
              <a:buSzPct val="100000"/>
              <a:buChar char="▪"/>
            </a:pPr>
            <a:r>
              <a:rPr lang="en-US" sz="950" dirty="0">
                <a:solidFill>
                  <a:srgbClr val="E5E8F2"/>
                </a:solidFill>
                <a:latin typeface="Calibri" pitchFamily="34" charset="0"/>
                <a:ea typeface="Calibri" pitchFamily="34" charset="-122"/>
                <a:cs typeface="Calibri" pitchFamily="34" charset="-120"/>
              </a:rPr>
              <a:t>Learned that data quality, governance and human oversight are critical in financial AI applications</a:t>
            </a:r>
            <a:endParaRPr lang="en-US" sz="950" dirty="0"/>
          </a:p>
          <a:p>
            <a:pPr marL="177800" indent="-177800">
              <a:lnSpc>
                <a:spcPct val="105000"/>
              </a:lnSpc>
              <a:spcAft>
                <a:spcPts val="500"/>
              </a:spcAft>
              <a:buSzPct val="100000"/>
              <a:buChar char="▪"/>
            </a:pPr>
            <a:r>
              <a:rPr lang="en-US" sz="950" dirty="0">
                <a:solidFill>
                  <a:srgbClr val="E5E8F2"/>
                </a:solidFill>
                <a:latin typeface="Calibri" pitchFamily="34" charset="0"/>
                <a:ea typeface="Calibri" pitchFamily="34" charset="-122"/>
                <a:cs typeface="Calibri" pitchFamily="34" charset="-120"/>
              </a:rPr>
              <a:t>Learned that prompt engineering significantly improves the structure and relevance of AI-assisted research</a:t>
            </a:r>
            <a:endParaRPr lang="en-US" sz="950" dirty="0"/>
          </a:p>
        </p:txBody>
      </p:sp>
      <p:sp>
        <p:nvSpPr>
          <p:cNvPr id="9" name="Text 7"/>
          <p:cNvSpPr txBox="1"/>
          <p:nvPr/>
        </p:nvSpPr>
        <p:spPr>
          <a:xfrm>
            <a:off x="640080" y="3337560"/>
            <a:ext cx="3383280" cy="201168"/>
          </a:xfrm>
          <a:prstGeom prst="rect">
            <a:avLst/>
          </a:prstGeom>
          <a:noFill/>
          <a:ln/>
        </p:spPr>
        <p:txBody>
          <a:bodyPr wrap="square" lIns="0" tIns="0" rIns="0" bIns="0" rtlCol="0" anchor="ctr"/>
          <a:lstStyle/>
          <a:p>
            <a:pPr marL="0" indent="0">
              <a:buNone/>
            </a:pPr>
            <a:r>
              <a:rPr lang="en-US" sz="950" b="1" dirty="0">
                <a:solidFill>
                  <a:srgbClr val="C9A24B"/>
                </a:solidFill>
                <a:latin typeface="Calibri" pitchFamily="34" charset="0"/>
                <a:ea typeface="Calibri" pitchFamily="34" charset="-122"/>
                <a:cs typeface="Calibri" pitchFamily="34" charset="-120"/>
              </a:rPr>
              <a:t>AI/ML Learning:</a:t>
            </a:r>
            <a:endParaRPr lang="en-US" sz="950" dirty="0"/>
          </a:p>
        </p:txBody>
      </p:sp>
      <p:sp>
        <p:nvSpPr>
          <p:cNvPr id="10" name="Text 8"/>
          <p:cNvSpPr txBox="1"/>
          <p:nvPr/>
        </p:nvSpPr>
        <p:spPr>
          <a:xfrm>
            <a:off x="640080" y="3538728"/>
            <a:ext cx="3383280" cy="640080"/>
          </a:xfrm>
          <a:prstGeom prst="rect">
            <a:avLst/>
          </a:prstGeom>
          <a:noFill/>
          <a:ln/>
        </p:spPr>
        <p:txBody>
          <a:bodyPr wrap="square" lIns="0" tIns="0" rIns="0" bIns="0" rtlCol="0" anchor="ctr"/>
          <a:lstStyle/>
          <a:p>
            <a:pPr marL="0" indent="0">
              <a:lnSpc>
                <a:spcPct val="105000"/>
              </a:lnSpc>
              <a:buNone/>
            </a:pPr>
            <a:r>
              <a:rPr lang="en-US" sz="880" i="1" dirty="0">
                <a:solidFill>
                  <a:srgbClr val="C7CCE0"/>
                </a:solidFill>
                <a:latin typeface="Calibri" pitchFamily="34" charset="0"/>
                <a:ea typeface="Calibri" pitchFamily="34" charset="-122"/>
                <a:cs typeface="Calibri" pitchFamily="34" charset="-120"/>
              </a:rPr>
              <a:t>AI/ML can support complex financial analysis by identifying patterns and processing large datasets, but appropriate controls and human oversight remain essential.</a:t>
            </a:r>
            <a:endParaRPr lang="en-US" sz="880" dirty="0"/>
          </a:p>
        </p:txBody>
      </p:sp>
      <p:sp>
        <p:nvSpPr>
          <p:cNvPr id="11" name="Text 9"/>
          <p:cNvSpPr txBox="1"/>
          <p:nvPr/>
        </p:nvSpPr>
        <p:spPr>
          <a:xfrm>
            <a:off x="640080" y="4206240"/>
            <a:ext cx="3383280" cy="201168"/>
          </a:xfrm>
          <a:prstGeom prst="rect">
            <a:avLst/>
          </a:prstGeom>
          <a:noFill/>
          <a:ln/>
        </p:spPr>
        <p:txBody>
          <a:bodyPr wrap="square" lIns="0" tIns="0" rIns="0" bIns="0" rtlCol="0" anchor="ctr"/>
          <a:lstStyle/>
          <a:p>
            <a:pPr marL="0" indent="0">
              <a:buNone/>
            </a:pPr>
            <a:r>
              <a:rPr lang="en-US" sz="950" b="1" dirty="0">
                <a:solidFill>
                  <a:srgbClr val="C9A24B"/>
                </a:solidFill>
                <a:latin typeface="Calibri" pitchFamily="34" charset="0"/>
                <a:ea typeface="Calibri" pitchFamily="34" charset="-122"/>
                <a:cs typeface="Calibri" pitchFamily="34" charset="-120"/>
              </a:rPr>
              <a:t>Prompt Engineering Learning:</a:t>
            </a:r>
            <a:endParaRPr lang="en-US" sz="950" dirty="0"/>
          </a:p>
        </p:txBody>
      </p:sp>
      <p:sp>
        <p:nvSpPr>
          <p:cNvPr id="12" name="Text 10"/>
          <p:cNvSpPr txBox="1"/>
          <p:nvPr/>
        </p:nvSpPr>
        <p:spPr>
          <a:xfrm>
            <a:off x="640080" y="4407408"/>
            <a:ext cx="3383280" cy="548640"/>
          </a:xfrm>
          <a:prstGeom prst="rect">
            <a:avLst/>
          </a:prstGeom>
          <a:noFill/>
          <a:ln/>
        </p:spPr>
        <p:txBody>
          <a:bodyPr wrap="square" lIns="0" tIns="0" rIns="0" bIns="0" rtlCol="0" anchor="ctr"/>
          <a:lstStyle/>
          <a:p>
            <a:pPr marL="0" indent="0">
              <a:lnSpc>
                <a:spcPct val="105000"/>
              </a:lnSpc>
              <a:buNone/>
            </a:pPr>
            <a:r>
              <a:rPr lang="en-US" sz="880" i="1" dirty="0">
                <a:solidFill>
                  <a:srgbClr val="C7CCE0"/>
                </a:solidFill>
                <a:latin typeface="Calibri" pitchFamily="34" charset="0"/>
                <a:ea typeface="Calibri" pitchFamily="34" charset="-122"/>
                <a:cs typeface="Calibri" pitchFamily="34" charset="-120"/>
              </a:rPr>
              <a:t>Adding role, context, constraints, source requirements and output structure produces more focused AI responses.</a:t>
            </a:r>
            <a:endParaRPr lang="en-US" sz="880" dirty="0"/>
          </a:p>
        </p:txBody>
      </p:sp>
      <p:sp>
        <p:nvSpPr>
          <p:cNvPr id="13" name="Text 11"/>
          <p:cNvSpPr txBox="1"/>
          <p:nvPr/>
        </p:nvSpPr>
        <p:spPr>
          <a:xfrm>
            <a:off x="640080" y="4956048"/>
            <a:ext cx="3383280" cy="201168"/>
          </a:xfrm>
          <a:prstGeom prst="rect">
            <a:avLst/>
          </a:prstGeom>
          <a:noFill/>
          <a:ln/>
        </p:spPr>
        <p:txBody>
          <a:bodyPr wrap="square" lIns="0" tIns="0" rIns="0" bIns="0" rtlCol="0" anchor="ctr"/>
          <a:lstStyle/>
          <a:p>
            <a:pPr marL="0" indent="0">
              <a:buNone/>
            </a:pPr>
            <a:r>
              <a:rPr lang="en-US" sz="950" b="1" dirty="0">
                <a:solidFill>
                  <a:srgbClr val="C9A24B"/>
                </a:solidFill>
                <a:latin typeface="Calibri" pitchFamily="34" charset="0"/>
                <a:ea typeface="Calibri" pitchFamily="34" charset="-122"/>
                <a:cs typeface="Calibri" pitchFamily="34" charset="-120"/>
              </a:rPr>
              <a:t>Verification Example:</a:t>
            </a:r>
            <a:endParaRPr lang="en-US" sz="950" dirty="0"/>
          </a:p>
        </p:txBody>
      </p:sp>
      <p:sp>
        <p:nvSpPr>
          <p:cNvPr id="14" name="Text 12"/>
          <p:cNvSpPr txBox="1"/>
          <p:nvPr/>
        </p:nvSpPr>
        <p:spPr>
          <a:xfrm>
            <a:off x="640080" y="5157216"/>
            <a:ext cx="3383280" cy="685800"/>
          </a:xfrm>
          <a:prstGeom prst="rect">
            <a:avLst/>
          </a:prstGeom>
          <a:noFill/>
          <a:ln/>
        </p:spPr>
        <p:txBody>
          <a:bodyPr wrap="square" lIns="0" tIns="0" rIns="0" bIns="0" rtlCol="0" anchor="ctr"/>
          <a:lstStyle/>
          <a:p>
            <a:pPr marL="0" indent="0">
              <a:lnSpc>
                <a:spcPct val="105000"/>
              </a:lnSpc>
              <a:buNone/>
            </a:pPr>
            <a:r>
              <a:rPr lang="en-US" sz="880" i="1" dirty="0">
                <a:solidFill>
                  <a:srgbClr val="9AA3C0"/>
                </a:solidFill>
                <a:latin typeface="Calibri" pitchFamily="34" charset="0"/>
                <a:ea typeface="Calibri" pitchFamily="34" charset="-122"/>
                <a:cs typeface="Calibri" pitchFamily="34" charset="-120"/>
              </a:rPr>
              <a:t>[ Add one real example: an AI-generated claim the team checked against an official source, and how it was confirmed or corrected. ]</a:t>
            </a:r>
            <a:endParaRPr lang="en-US" sz="880" dirty="0"/>
          </a:p>
        </p:txBody>
      </p:sp>
      <p:sp>
        <p:nvSpPr>
          <p:cNvPr id="15" name="Text 13"/>
          <p:cNvSpPr txBox="1"/>
          <p:nvPr/>
        </p:nvSpPr>
        <p:spPr>
          <a:xfrm>
            <a:off x="640080" y="5925312"/>
            <a:ext cx="3383280" cy="320040"/>
          </a:xfrm>
          <a:prstGeom prst="rect">
            <a:avLst/>
          </a:prstGeom>
          <a:noFill/>
          <a:ln/>
        </p:spPr>
        <p:txBody>
          <a:bodyPr wrap="square" lIns="0" tIns="0" rIns="0" bIns="0" rtlCol="0" anchor="ctr"/>
          <a:lstStyle/>
          <a:p>
            <a:pPr marL="0" indent="0">
              <a:buNone/>
            </a:pPr>
            <a:r>
              <a:rPr lang="en-US" sz="800" i="1" dirty="0">
                <a:solidFill>
                  <a:srgbClr val="7A8199"/>
                </a:solidFill>
                <a:latin typeface="Calibri" pitchFamily="34" charset="0"/>
                <a:ea typeface="Calibri" pitchFamily="34" charset="-122"/>
                <a:cs typeface="Calibri" pitchFamily="34" charset="-120"/>
              </a:rPr>
              <a:t>Do not invent this example — replace with your team's actual research check.</a:t>
            </a:r>
            <a:endParaRPr lang="en-US" sz="800" dirty="0"/>
          </a:p>
        </p:txBody>
      </p:sp>
      <p:sp>
        <p:nvSpPr>
          <p:cNvPr id="16" name="Shape 14"/>
          <p:cNvSpPr/>
          <p:nvPr/>
        </p:nvSpPr>
        <p:spPr>
          <a:xfrm>
            <a:off x="4261104" y="1280160"/>
            <a:ext cx="2880360" cy="5029200"/>
          </a:xfrm>
          <a:prstGeom prst="roundRect">
            <a:avLst>
              <a:gd name="adj" fmla="val 2540"/>
            </a:avLst>
          </a:prstGeom>
          <a:solidFill>
            <a:srgbClr val="1B2544"/>
          </a:solidFill>
          <a:ln/>
        </p:spPr>
      </p:sp>
      <p:sp>
        <p:nvSpPr>
          <p:cNvPr id="17" name="Text 15"/>
          <p:cNvSpPr txBox="1"/>
          <p:nvPr/>
        </p:nvSpPr>
        <p:spPr>
          <a:xfrm>
            <a:off x="4443984" y="1417320"/>
            <a:ext cx="2560320" cy="256032"/>
          </a:xfrm>
          <a:prstGeom prst="rect">
            <a:avLst/>
          </a:prstGeom>
          <a:noFill/>
          <a:ln/>
        </p:spPr>
        <p:txBody>
          <a:bodyPr wrap="square" lIns="0" tIns="0" rIns="0" bIns="0" rtlCol="0" anchor="ctr"/>
          <a:lstStyle/>
          <a:p>
            <a:pPr marL="0" indent="0">
              <a:buNone/>
            </a:pPr>
            <a:r>
              <a:rPr lang="en-US" sz="1100" b="1" kern="0" spc="100" dirty="0">
                <a:solidFill>
                  <a:srgbClr val="C9A24B"/>
                </a:solidFill>
                <a:latin typeface="Calibri" pitchFamily="34" charset="0"/>
                <a:ea typeface="Calibri" pitchFamily="34" charset="-122"/>
                <a:cs typeface="Calibri" pitchFamily="34" charset="-120"/>
              </a:rPr>
              <a:t>2. REFERENCES</a:t>
            </a:r>
            <a:endParaRPr lang="en-US" sz="1100" dirty="0"/>
          </a:p>
        </p:txBody>
      </p:sp>
      <p:sp>
        <p:nvSpPr>
          <p:cNvPr id="18" name="Text 16"/>
          <p:cNvSpPr txBox="1"/>
          <p:nvPr/>
        </p:nvSpPr>
        <p:spPr>
          <a:xfrm>
            <a:off x="4443984" y="1737360"/>
            <a:ext cx="2560320" cy="27432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 official corporate website</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Aladdin — platform overview</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Aladdin Risk</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Aladdin Copilot</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annual report / investor relations</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Relevant academic &amp; industry sources on AI in asset management</a:t>
            </a:r>
            <a:endParaRPr lang="en-US" sz="950" dirty="0"/>
          </a:p>
        </p:txBody>
      </p:sp>
      <p:sp>
        <p:nvSpPr>
          <p:cNvPr id="19" name="Text 17"/>
          <p:cNvSpPr txBox="1"/>
          <p:nvPr/>
        </p:nvSpPr>
        <p:spPr>
          <a:xfrm>
            <a:off x="4443984" y="4663440"/>
            <a:ext cx="2560320" cy="548640"/>
          </a:xfrm>
          <a:prstGeom prst="rect">
            <a:avLst/>
          </a:prstGeom>
          <a:noFill/>
          <a:ln/>
        </p:spPr>
        <p:txBody>
          <a:bodyPr wrap="square" lIns="0" tIns="0" rIns="0" bIns="0" rtlCol="0" anchor="ctr"/>
          <a:lstStyle/>
          <a:p>
            <a:pPr marL="0" indent="0">
              <a:lnSpc>
                <a:spcPct val="105000"/>
              </a:lnSpc>
              <a:buNone/>
            </a:pPr>
            <a:r>
              <a:rPr lang="en-US" sz="850" i="1" dirty="0">
                <a:solidFill>
                  <a:srgbClr val="9AA3C0"/>
                </a:solidFill>
                <a:latin typeface="Calibri" pitchFamily="34" charset="0"/>
                <a:ea typeface="Calibri" pitchFamily="34" charset="-122"/>
                <a:cs typeface="Calibri" pitchFamily="34" charset="-120"/>
              </a:rPr>
              <a:t>Full reference list with links available on request / via QR code.</a:t>
            </a:r>
            <a:endParaRPr lang="en-US" sz="850" dirty="0"/>
          </a:p>
        </p:txBody>
      </p:sp>
      <p:sp>
        <p:nvSpPr>
          <p:cNvPr id="20" name="Shape 18"/>
          <p:cNvSpPr/>
          <p:nvPr/>
        </p:nvSpPr>
        <p:spPr>
          <a:xfrm>
            <a:off x="5175504" y="5349240"/>
            <a:ext cx="914400" cy="914400"/>
          </a:xfrm>
          <a:prstGeom prst="roundRect">
            <a:avLst>
              <a:gd name="adj" fmla="val 6000"/>
            </a:avLst>
          </a:prstGeom>
          <a:solidFill>
            <a:srgbClr val="FFFFFF"/>
          </a:solidFill>
          <a:ln w="12700">
            <a:solidFill>
              <a:srgbClr val="C9A24B"/>
            </a:solidFill>
            <a:prstDash val="solid"/>
          </a:ln>
        </p:spPr>
      </p:sp>
      <p:sp>
        <p:nvSpPr>
          <p:cNvPr id="21" name="Text 19"/>
          <p:cNvSpPr txBox="1"/>
          <p:nvPr/>
        </p:nvSpPr>
        <p:spPr>
          <a:xfrm>
            <a:off x="5175504" y="5349240"/>
            <a:ext cx="914400" cy="914400"/>
          </a:xfrm>
          <a:prstGeom prst="rect">
            <a:avLst/>
          </a:prstGeom>
          <a:noFill/>
          <a:ln/>
        </p:spPr>
        <p:txBody>
          <a:bodyPr wrap="square" lIns="0" tIns="0" rIns="0" bIns="0" rtlCol="0" anchor="ctr"/>
          <a:lstStyle/>
          <a:p>
            <a:pPr marL="0" indent="0" algn="ctr">
              <a:buNone/>
            </a:pPr>
            <a:r>
              <a:rPr lang="en-US" sz="1000" b="1" dirty="0">
                <a:solidFill>
                  <a:srgbClr val="121A33"/>
                </a:solidFill>
                <a:latin typeface="Calibri" pitchFamily="34" charset="0"/>
                <a:ea typeface="Calibri" pitchFamily="34" charset="-122"/>
                <a:cs typeface="Calibri" pitchFamily="34" charset="-120"/>
              </a:rPr>
              <a:t>QR</a:t>
            </a:r>
            <a:endParaRPr lang="en-US" sz="1000" dirty="0"/>
          </a:p>
        </p:txBody>
      </p:sp>
      <p:sp>
        <p:nvSpPr>
          <p:cNvPr id="22" name="Shape 20"/>
          <p:cNvSpPr/>
          <p:nvPr/>
        </p:nvSpPr>
        <p:spPr>
          <a:xfrm>
            <a:off x="7324344" y="1280160"/>
            <a:ext cx="4407408" cy="5029200"/>
          </a:xfrm>
          <a:prstGeom prst="roundRect">
            <a:avLst>
              <a:gd name="adj" fmla="val 1660"/>
            </a:avLst>
          </a:prstGeom>
          <a:solidFill>
            <a:srgbClr val="1B2544"/>
          </a:solidFill>
          <a:ln/>
        </p:spPr>
      </p:sp>
      <p:sp>
        <p:nvSpPr>
          <p:cNvPr id="23" name="Text 21"/>
          <p:cNvSpPr txBox="1"/>
          <p:nvPr/>
        </p:nvSpPr>
        <p:spPr>
          <a:xfrm>
            <a:off x="7507224" y="1417320"/>
            <a:ext cx="4023360" cy="256032"/>
          </a:xfrm>
          <a:prstGeom prst="rect">
            <a:avLst/>
          </a:prstGeom>
          <a:noFill/>
          <a:ln/>
        </p:spPr>
        <p:txBody>
          <a:bodyPr wrap="square" lIns="0" tIns="0" rIns="0" bIns="0" rtlCol="0" anchor="ctr"/>
          <a:lstStyle/>
          <a:p>
            <a:pPr marL="0" indent="0">
              <a:buNone/>
            </a:pPr>
            <a:r>
              <a:rPr lang="en-US" sz="1100" b="1" kern="0" spc="100" dirty="0">
                <a:solidFill>
                  <a:srgbClr val="C9A24B"/>
                </a:solidFill>
                <a:latin typeface="Calibri" pitchFamily="34" charset="0"/>
                <a:ea typeface="Calibri" pitchFamily="34" charset="-122"/>
                <a:cs typeface="Calibri" pitchFamily="34" charset="-120"/>
              </a:rPr>
              <a:t>3. GITHUB REPOSITORIES</a:t>
            </a:r>
            <a:endParaRPr lang="en-US" sz="1100" dirty="0"/>
          </a:p>
        </p:txBody>
      </p:sp>
      <p:sp>
        <p:nvSpPr>
          <p:cNvPr id="24" name="Shape 22"/>
          <p:cNvSpPr/>
          <p:nvPr/>
        </p:nvSpPr>
        <p:spPr>
          <a:xfrm>
            <a:off x="7507224" y="1709928"/>
            <a:ext cx="4041648" cy="306324"/>
          </a:xfrm>
          <a:prstGeom prst="rect">
            <a:avLst/>
          </a:prstGeom>
          <a:solidFill>
            <a:srgbClr val="222B4D"/>
          </a:solidFill>
          <a:ln/>
        </p:spPr>
      </p:sp>
      <p:sp>
        <p:nvSpPr>
          <p:cNvPr id="25" name="Text 23"/>
          <p:cNvSpPr txBox="1"/>
          <p:nvPr/>
        </p:nvSpPr>
        <p:spPr>
          <a:xfrm>
            <a:off x="7507224" y="1709928"/>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Chanpreet</a:t>
            </a:r>
            <a:endParaRPr lang="en-US" sz="870" dirty="0"/>
          </a:p>
        </p:txBody>
      </p:sp>
      <p:sp>
        <p:nvSpPr>
          <p:cNvPr id="26" name="Text 24">
            <a:hlinkClick r:id="rId3"/>
          </p:cNvPr>
          <p:cNvSpPr txBox="1"/>
          <p:nvPr/>
        </p:nvSpPr>
        <p:spPr>
          <a:xfrm>
            <a:off x="9290304" y="1709928"/>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github.com/chanpreetsingh097</a:t>
            </a:r>
            <a:endParaRPr lang="en-US" sz="830" dirty="0"/>
          </a:p>
        </p:txBody>
      </p:sp>
      <p:sp>
        <p:nvSpPr>
          <p:cNvPr id="27" name="Text 25"/>
          <p:cNvSpPr txBox="1"/>
          <p:nvPr/>
        </p:nvSpPr>
        <p:spPr>
          <a:xfrm>
            <a:off x="7507224" y="2016252"/>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Akshit</a:t>
            </a:r>
            <a:endParaRPr lang="en-US" sz="870" dirty="0"/>
          </a:p>
        </p:txBody>
      </p:sp>
      <p:sp>
        <p:nvSpPr>
          <p:cNvPr id="28" name="Text 26">
            <a:hlinkClick r:id="rId4"/>
          </p:cNvPr>
          <p:cNvSpPr txBox="1"/>
          <p:nvPr/>
        </p:nvSpPr>
        <p:spPr>
          <a:xfrm>
            <a:off x="9290304" y="2016252"/>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github.com/akshit2522bbafai25-stack</a:t>
            </a:r>
            <a:endParaRPr lang="en-US" sz="830" dirty="0"/>
          </a:p>
        </p:txBody>
      </p:sp>
      <p:sp>
        <p:nvSpPr>
          <p:cNvPr id="29" name="Shape 27"/>
          <p:cNvSpPr/>
          <p:nvPr/>
        </p:nvSpPr>
        <p:spPr>
          <a:xfrm>
            <a:off x="7507224" y="2322576"/>
            <a:ext cx="4041648" cy="306324"/>
          </a:xfrm>
          <a:prstGeom prst="rect">
            <a:avLst/>
          </a:prstGeom>
          <a:solidFill>
            <a:srgbClr val="222B4D"/>
          </a:solidFill>
          <a:ln/>
        </p:spPr>
      </p:sp>
      <p:sp>
        <p:nvSpPr>
          <p:cNvPr id="30" name="Text 28"/>
          <p:cNvSpPr txBox="1"/>
          <p:nvPr/>
        </p:nvSpPr>
        <p:spPr>
          <a:xfrm>
            <a:off x="7507224" y="2322576"/>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Devansh</a:t>
            </a:r>
            <a:endParaRPr lang="en-US" sz="870" dirty="0"/>
          </a:p>
        </p:txBody>
      </p:sp>
      <p:sp>
        <p:nvSpPr>
          <p:cNvPr id="31" name="Text 29">
            <a:hlinkClick r:id="rId5"/>
          </p:cNvPr>
          <p:cNvSpPr txBox="1"/>
          <p:nvPr/>
        </p:nvSpPr>
        <p:spPr>
          <a:xfrm>
            <a:off x="9290304" y="2322576"/>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github.com/Devansh5203</a:t>
            </a:r>
            <a:endParaRPr lang="en-US" sz="830" dirty="0"/>
          </a:p>
        </p:txBody>
      </p:sp>
      <p:sp>
        <p:nvSpPr>
          <p:cNvPr id="32" name="Text 30"/>
          <p:cNvSpPr txBox="1"/>
          <p:nvPr/>
        </p:nvSpPr>
        <p:spPr>
          <a:xfrm>
            <a:off x="7507224" y="2628900"/>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Gursehaj</a:t>
            </a:r>
            <a:endParaRPr lang="en-US" sz="870" dirty="0"/>
          </a:p>
        </p:txBody>
      </p:sp>
      <p:sp>
        <p:nvSpPr>
          <p:cNvPr id="33" name="Text 31">
            <a:hlinkClick r:id="rId6"/>
          </p:cNvPr>
          <p:cNvSpPr txBox="1"/>
          <p:nvPr/>
        </p:nvSpPr>
        <p:spPr>
          <a:xfrm>
            <a:off x="9290304" y="2628900"/>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github.com/gursehajalag-cmyk</a:t>
            </a:r>
            <a:endParaRPr lang="en-US" sz="830" dirty="0"/>
          </a:p>
        </p:txBody>
      </p:sp>
      <p:sp>
        <p:nvSpPr>
          <p:cNvPr id="34" name="Shape 32"/>
          <p:cNvSpPr/>
          <p:nvPr/>
        </p:nvSpPr>
        <p:spPr>
          <a:xfrm>
            <a:off x="7507224" y="2935224"/>
            <a:ext cx="4041648" cy="306324"/>
          </a:xfrm>
          <a:prstGeom prst="rect">
            <a:avLst/>
          </a:prstGeom>
          <a:solidFill>
            <a:srgbClr val="222B4D"/>
          </a:solidFill>
          <a:ln/>
        </p:spPr>
      </p:sp>
      <p:sp>
        <p:nvSpPr>
          <p:cNvPr id="35" name="Text 33"/>
          <p:cNvSpPr txBox="1"/>
          <p:nvPr/>
        </p:nvSpPr>
        <p:spPr>
          <a:xfrm>
            <a:off x="7507224" y="2935224"/>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Abhay Sharma</a:t>
            </a:r>
            <a:endParaRPr lang="en-US" sz="870" dirty="0"/>
          </a:p>
        </p:txBody>
      </p:sp>
      <p:sp>
        <p:nvSpPr>
          <p:cNvPr id="36" name="Text 34">
            <a:hlinkClick r:id="rId7"/>
          </p:cNvPr>
          <p:cNvSpPr txBox="1"/>
          <p:nvPr/>
        </p:nvSpPr>
        <p:spPr>
          <a:xfrm>
            <a:off x="9290304" y="2935224"/>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github.com/abhay2505bbafai25-cpu</a:t>
            </a:r>
            <a:endParaRPr lang="en-US" sz="830" dirty="0"/>
          </a:p>
        </p:txBody>
      </p:sp>
      <p:sp>
        <p:nvSpPr>
          <p:cNvPr id="37" name="Text 35"/>
          <p:cNvSpPr txBox="1"/>
          <p:nvPr/>
        </p:nvSpPr>
        <p:spPr>
          <a:xfrm>
            <a:off x="7507224" y="3241548"/>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Athrav Chauhan</a:t>
            </a:r>
            <a:endParaRPr lang="en-US" sz="870" dirty="0"/>
          </a:p>
        </p:txBody>
      </p:sp>
      <p:sp>
        <p:nvSpPr>
          <p:cNvPr id="38" name="Text 36">
            <a:hlinkClick r:id="rId8"/>
          </p:cNvPr>
          <p:cNvSpPr txBox="1"/>
          <p:nvPr/>
        </p:nvSpPr>
        <p:spPr>
          <a:xfrm>
            <a:off x="9290304" y="3241548"/>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github.com/athravchauhan33-blip</a:t>
            </a:r>
            <a:endParaRPr lang="en-US" sz="830" dirty="0"/>
          </a:p>
        </p:txBody>
      </p:sp>
      <p:sp>
        <p:nvSpPr>
          <p:cNvPr id="39" name="Shape 37"/>
          <p:cNvSpPr/>
          <p:nvPr/>
        </p:nvSpPr>
        <p:spPr>
          <a:xfrm>
            <a:off x="7507224" y="3547872"/>
            <a:ext cx="4041648" cy="306324"/>
          </a:xfrm>
          <a:prstGeom prst="rect">
            <a:avLst/>
          </a:prstGeom>
          <a:solidFill>
            <a:srgbClr val="222B4D"/>
          </a:solidFill>
          <a:ln/>
        </p:spPr>
      </p:sp>
      <p:sp>
        <p:nvSpPr>
          <p:cNvPr id="40" name="Text 38"/>
          <p:cNvSpPr txBox="1"/>
          <p:nvPr/>
        </p:nvSpPr>
        <p:spPr>
          <a:xfrm>
            <a:off x="7507224" y="3547872"/>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Dushant Wadhwa</a:t>
            </a:r>
            <a:endParaRPr lang="en-US" sz="870" dirty="0"/>
          </a:p>
        </p:txBody>
      </p:sp>
      <p:sp>
        <p:nvSpPr>
          <p:cNvPr id="41" name="Text 39">
            <a:hlinkClick r:id="rId9"/>
          </p:cNvPr>
          <p:cNvSpPr txBox="1"/>
          <p:nvPr/>
        </p:nvSpPr>
        <p:spPr>
          <a:xfrm>
            <a:off x="9290304" y="3547872"/>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github.com/dushantwadhwa084-beep</a:t>
            </a:r>
            <a:endParaRPr lang="en-US" sz="830" dirty="0"/>
          </a:p>
        </p:txBody>
      </p:sp>
      <p:sp>
        <p:nvSpPr>
          <p:cNvPr id="42" name="Text 40"/>
          <p:cNvSpPr txBox="1"/>
          <p:nvPr/>
        </p:nvSpPr>
        <p:spPr>
          <a:xfrm>
            <a:off x="7507224" y="3854196"/>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Emon Sethi</a:t>
            </a:r>
            <a:endParaRPr lang="en-US" sz="870" dirty="0"/>
          </a:p>
        </p:txBody>
      </p:sp>
      <p:sp>
        <p:nvSpPr>
          <p:cNvPr id="43" name="Text 41">
            <a:hlinkClick r:id="rId10"/>
          </p:cNvPr>
          <p:cNvSpPr txBox="1"/>
          <p:nvPr/>
        </p:nvSpPr>
        <p:spPr>
          <a:xfrm>
            <a:off x="9290304" y="3854196"/>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val="tx"/>
                    </a:ext>
                  </a:extLst>
                </a:hlinkClick>
              </a:rPr>
              <a:t>github.com/sudo2233-hub</a:t>
            </a:r>
            <a:endParaRPr lang="en-US" sz="830" dirty="0"/>
          </a:p>
        </p:txBody>
      </p:sp>
      <p:sp>
        <p:nvSpPr>
          <p:cNvPr id="44" name="Shape 42"/>
          <p:cNvSpPr/>
          <p:nvPr/>
        </p:nvSpPr>
        <p:spPr>
          <a:xfrm>
            <a:off x="7507224" y="4160520"/>
            <a:ext cx="4041648" cy="306324"/>
          </a:xfrm>
          <a:prstGeom prst="rect">
            <a:avLst/>
          </a:prstGeom>
          <a:solidFill>
            <a:srgbClr val="222B4D"/>
          </a:solidFill>
          <a:ln/>
        </p:spPr>
      </p:sp>
      <p:sp>
        <p:nvSpPr>
          <p:cNvPr id="45" name="Text 43"/>
          <p:cNvSpPr txBox="1"/>
          <p:nvPr/>
        </p:nvSpPr>
        <p:spPr>
          <a:xfrm>
            <a:off x="7507224" y="4160520"/>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Harshit Saini</a:t>
            </a:r>
            <a:endParaRPr lang="en-US" sz="870" dirty="0"/>
          </a:p>
        </p:txBody>
      </p:sp>
      <p:sp>
        <p:nvSpPr>
          <p:cNvPr id="46" name="Text 44">
            <a:hlinkClick r:id="rId11"/>
          </p:cNvPr>
          <p:cNvSpPr txBox="1"/>
          <p:nvPr/>
        </p:nvSpPr>
        <p:spPr>
          <a:xfrm>
            <a:off x="9290304" y="4160520"/>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github.com/harshits7118-dot</a:t>
            </a:r>
            <a:endParaRPr lang="en-US" sz="830" dirty="0"/>
          </a:p>
        </p:txBody>
      </p:sp>
      <p:sp>
        <p:nvSpPr>
          <p:cNvPr id="47" name="Text 45"/>
          <p:cNvSpPr txBox="1"/>
          <p:nvPr/>
        </p:nvSpPr>
        <p:spPr>
          <a:xfrm>
            <a:off x="7507224" y="4466844"/>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Husanbir Singh Ahluwalia</a:t>
            </a:r>
            <a:endParaRPr lang="en-US" sz="870" dirty="0"/>
          </a:p>
        </p:txBody>
      </p:sp>
      <p:sp>
        <p:nvSpPr>
          <p:cNvPr id="48" name="Text 46">
            <a:hlinkClick r:id="rId12"/>
          </p:cNvPr>
          <p:cNvSpPr txBox="1"/>
          <p:nvPr/>
        </p:nvSpPr>
        <p:spPr>
          <a:xfrm>
            <a:off x="9290304" y="4466844"/>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12">
                  <a:extLst>
                    <a:ext uri="{A12FA001-AC4F-418D-AE19-62706E023703}">
                      <ahyp:hlinkClr xmlns:ahyp="http://schemas.microsoft.com/office/drawing/2018/hyperlinkcolor" val="tx"/>
                    </a:ext>
                  </a:extLst>
                </a:hlinkClick>
              </a:rPr>
              <a:t>github.com/Husanbir13</a:t>
            </a:r>
            <a:endParaRPr lang="en-US" sz="830" dirty="0"/>
          </a:p>
        </p:txBody>
      </p:sp>
      <p:sp>
        <p:nvSpPr>
          <p:cNvPr id="49" name="Shape 47"/>
          <p:cNvSpPr/>
          <p:nvPr/>
        </p:nvSpPr>
        <p:spPr>
          <a:xfrm>
            <a:off x="7507224" y="4773168"/>
            <a:ext cx="4041648" cy="306324"/>
          </a:xfrm>
          <a:prstGeom prst="rect">
            <a:avLst/>
          </a:prstGeom>
          <a:solidFill>
            <a:srgbClr val="222B4D"/>
          </a:solidFill>
          <a:ln/>
        </p:spPr>
      </p:sp>
      <p:sp>
        <p:nvSpPr>
          <p:cNvPr id="50" name="Text 48"/>
          <p:cNvSpPr txBox="1"/>
          <p:nvPr/>
        </p:nvSpPr>
        <p:spPr>
          <a:xfrm>
            <a:off x="7507224" y="4773168"/>
            <a:ext cx="1783080" cy="306324"/>
          </a:xfrm>
          <a:prstGeom prst="rect">
            <a:avLst/>
          </a:prstGeom>
          <a:noFill/>
          <a:ln/>
        </p:spPr>
        <p:txBody>
          <a:bodyPr wrap="square" lIns="0" tIns="0" rIns="0" bIns="0" rtlCol="0" anchor="ctr"/>
          <a:lstStyle/>
          <a:p>
            <a:pPr marL="0" indent="0">
              <a:buNone/>
            </a:pPr>
            <a:r>
              <a:rPr lang="en-US" sz="870" b="1" dirty="0">
                <a:solidFill>
                  <a:srgbClr val="E5E8F2"/>
                </a:solidFill>
                <a:latin typeface="Calibri" pitchFamily="34" charset="0"/>
                <a:ea typeface="Calibri" pitchFamily="34" charset="-122"/>
                <a:cs typeface="Calibri" pitchFamily="34" charset="-120"/>
              </a:rPr>
              <a:t>Akshay</a:t>
            </a:r>
            <a:endParaRPr lang="en-US" sz="870" dirty="0"/>
          </a:p>
        </p:txBody>
      </p:sp>
      <p:sp>
        <p:nvSpPr>
          <p:cNvPr id="51" name="Text 49">
            <a:hlinkClick r:id="rId13"/>
          </p:cNvPr>
          <p:cNvSpPr txBox="1"/>
          <p:nvPr/>
        </p:nvSpPr>
        <p:spPr>
          <a:xfrm>
            <a:off x="9290304" y="4773168"/>
            <a:ext cx="2395728" cy="306324"/>
          </a:xfrm>
          <a:prstGeom prst="rect">
            <a:avLst/>
          </a:prstGeom>
          <a:noFill/>
          <a:ln/>
        </p:spPr>
        <p:txBody>
          <a:bodyPr wrap="square" lIns="0" tIns="0" rIns="0" bIns="0" rtlCol="0" anchor="ctr"/>
          <a:lstStyle/>
          <a:p>
            <a:pPr marL="0" indent="0">
              <a:buNone/>
            </a:pPr>
            <a:r>
              <a:rPr lang="en-US" sz="830" u="sng" dirty="0">
                <a:solidFill>
                  <a:srgbClr val="8FD3FF"/>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github.com/aroraakshay190-del</a:t>
            </a:r>
            <a:endParaRPr lang="en-US" sz="830" dirty="0"/>
          </a:p>
        </p:txBody>
      </p:sp>
      <p:sp>
        <p:nvSpPr>
          <p:cNvPr id="52" name="Text 50"/>
          <p:cNvSpPr txBox="1"/>
          <p:nvPr/>
        </p:nvSpPr>
        <p:spPr>
          <a:xfrm>
            <a:off x="7507224" y="5189220"/>
            <a:ext cx="4041648" cy="685800"/>
          </a:xfrm>
          <a:prstGeom prst="rect">
            <a:avLst/>
          </a:prstGeom>
          <a:noFill/>
          <a:ln/>
        </p:spPr>
        <p:txBody>
          <a:bodyPr wrap="square" lIns="0" tIns="0" rIns="0" bIns="0" rtlCol="0" anchor="ctr"/>
          <a:lstStyle/>
          <a:p>
            <a:pPr marL="0" indent="0">
              <a:lnSpc>
                <a:spcPct val="105000"/>
              </a:lnSpc>
              <a:buNone/>
            </a:pPr>
            <a:r>
              <a:rPr lang="en-US" sz="780" i="1" dirty="0">
                <a:solidFill>
                  <a:srgbClr val="9AA3C0"/>
                </a:solidFill>
                <a:latin typeface="Calibri" pitchFamily="34" charset="0"/>
                <a:ea typeface="Calibri" pitchFamily="34" charset="-122"/>
                <a:cs typeface="Calibri" pitchFamily="34" charset="-120"/>
              </a:rPr>
              <a:t>Note: 11 repository links supplied for a stated 10-member group, and the source data flagged an extra/ambiguous URL near Devansh / Gursehaj. All entries are preserved as given — confirm roster &amp; mapping before final submission.</a:t>
            </a:r>
            <a:endParaRPr lang="en-US" sz="780" dirty="0"/>
          </a:p>
        </p:txBody>
      </p:sp>
      <p:sp>
        <p:nvSpPr>
          <p:cNvPr id="53" name="Text 51"/>
          <p:cNvSpPr txBox="1"/>
          <p:nvPr/>
        </p:nvSpPr>
        <p:spPr>
          <a:xfrm>
            <a:off x="502920" y="6547104"/>
            <a:ext cx="8229600" cy="256032"/>
          </a:xfrm>
          <a:prstGeom prst="rect">
            <a:avLst/>
          </a:prstGeom>
          <a:noFill/>
          <a:ln/>
        </p:spPr>
        <p:txBody>
          <a:bodyPr wrap="square" lIns="0" tIns="0" rIns="0" bIns="0" rtlCol="0" anchor="ctr"/>
          <a:lstStyle/>
          <a:p>
            <a:pPr marL="0" indent="0">
              <a:buNone/>
            </a:pPr>
            <a:r>
              <a:rPr lang="en-US" sz="850" dirty="0">
                <a:solidFill>
                  <a:srgbClr val="8A93B0"/>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54" name="Text 52"/>
          <p:cNvSpPr txBox="1"/>
          <p:nvPr/>
        </p:nvSpPr>
        <p:spPr>
          <a:xfrm>
            <a:off x="11475720" y="6547104"/>
            <a:ext cx="457200" cy="256032"/>
          </a:xfrm>
          <a:prstGeom prst="rect">
            <a:avLst/>
          </a:prstGeom>
          <a:noFill/>
          <a:ln/>
        </p:spPr>
        <p:txBody>
          <a:bodyPr wrap="square" lIns="0" tIns="0" rIns="0" bIns="0" rtlCol="0" anchor="ctr"/>
          <a:lstStyle/>
          <a:p>
            <a:pPr marL="0" indent="0" algn="r">
              <a:buNone/>
            </a:pPr>
            <a:r>
              <a:rPr lang="en-US" sz="850" dirty="0">
                <a:solidFill>
                  <a:srgbClr val="8A93B0"/>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3164</Words>
  <Application>Microsoft Office PowerPoint</Application>
  <PresentationFormat>Widescreen</PresentationFormat>
  <Paragraphs>386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gursehajalag@gmail.com</cp:lastModifiedBy>
  <cp:revision>1</cp:revision>
  <dcterms:created xsi:type="dcterms:W3CDTF">2026-09-16T04:51:46Z</dcterms:created>
  <dcterms:modified xsi:type="dcterms:W3CDTF">2026-09-17T05:29:56Z</dcterms:modified>
</cp:coreProperties>
</file>